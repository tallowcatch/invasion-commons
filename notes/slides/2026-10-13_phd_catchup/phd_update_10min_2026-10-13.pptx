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project asks one question: when do random spot-checks stop AI agents from over-using something they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are starting to share resources like compute, energy and budgets, and whoever oversees them can only check a sample of what they do. I built a simulated shared resource: six agents draw on it over many rounds, a reviewer sets how much each may take, and a few agents are checked at random each round. I tested what should happen to an agent that gets caught taking too much, and whether the fine that stops it can be worked out in advance. Short answer: checks only help when a catch has a consequence, and the stopping fine can be predicted from how much an agent gains by cheating. That held for programmed agents and for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round: every agent asks for a share; the reviewer predicts the effect and scales everyone's request by the same factor if needed; each agent then takes its allowance, or more if it cheats; the resource regrows; and a few agents are checked. Harm means the resource falling below half its capacity, the level where it regrows fastest. I run this in three settings where harm spreads differently, one shared pool, neighbour damage on a ring, and pollution that is harmful in combination, so results don't rest on one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run games with no fine, measure how much an agent gains from one round of over-taking, predict the fine that should stop it, write that prediction down, then test it on new games. The one formula is Becker's rule from 1968: the expected fine is the chance of a check times the fine, and over-taking should stop once that beats the gain. With a 1 in 6 chance and a 30 tonne fine the expected fine is 5 tonnes, just above the roughly 4.5 tonnes the models gained.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finding, with programmed agents that under-report. If the reviewer only corrects the round in which it catches a lie, only 10 to 46 percent of the harm goes away. If it remembers each caught lie and adjusts that agent's later allowances, harm drops in all 12 settings, in Fishery from up to 99 percent of rounds below half capacity to under 3 percent. A catch needs a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with language models: four open models controlled four of the six fishers, 520 games. Two of them, gpt-oss and Nemotron, over-took on purpose. From their no-fine behaviour I predicted both would stop at 30 tonnes, before running those fines. Nemotron stopped exactly at 30 and gpt-oss one step early at 24. One surprise: a small fine made gpt-oss cheat more, as if the fine were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more results, briefly; the backup slides have each in full. The stopping fine for programmed agents was predicted in 5 of 5 new settings. Two shortcuts backfire: always checking the biggest request misses most liars, and cutting everyone's allowance rewards the cheaters. Memory works for language models too, cutting gpt-oss's over-taking from 55 to 20 percent without any fine. And what predicts where models stop is the gain of one round, not what cheating earns over the whole game; they also stopped earlier than a perfect optimiser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running now, so the boxes are empty. The main one tests whether models respond to the expected fine or to the fine's size, by keeping the expected fine fixed and changing the mix of check chance and fine. The others check the prediction on new games and reworded rules, what happens with no checks at all, and whether cheating spreads to neighbours in Forest. Next: a workshop paper and arXiv in November, then a main conference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love your views on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the problem concrete. Each agent gets an allowance, the amount it's allowed to take this round. Taking more than that helps the agent and leaves less for everyone else.
Checking every action costs too much, so the overseer spot-checks a few, the way tax inspectors or fisheries inspectors do. The open question is when a sampled check actually stops over-use, and how big the penalty has to be.
I ask this in three settings, on the right. They aren't three toy problems; I picked them because harm travels differently in each:
- in Fishery, everyone draws from one shared stock;
- in Forest, each agent has its own plot, but over-cutting damages your two neighbours;
- in River, two kinds of pollution are mostly harmless alone and harmful together.
If a result holds in all three, it isn't an artefact of one particular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These programmed agents choose how much to over-take so as to earn the most. Using only games without any checks, I predicted the expected fine at which they'd stop. In five out of five new settings, the stopping point landed within one step of the prediction.
To be fair about it: these agents are built to maximise their payoff, so this is mostly a check that my measurement method works before I try it on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finding: two shortcuts that look sensible and backfire.
On the left, the overseer knows there are cheaters and lowers everyone's allowance to make up for them. Cheaters actually gained more than with no checks at all, 142 against 113, and honest agents paid for it.
On the right, the overseer always checks whoever asks for the most. Over a game that caught only 25 percent of the liars, against 100 percent with random checks, because the biggest requester is often honest, so the same honest agent keeps getting checked.
The lesson is that shortcuts which save checks can open blind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finding: which gain predicts the stop. It was how much the model took above its allowance in a single round, about 4.5 to 4.7 tonnes.
It was not what over-taking earned over the whole game. Over the whole game their cheating gained little or even lost fish, because it depleted the lake, and yet they kept going.
They also stopped earlier than a perfect payoff-maximiser would. That agent would hold out until 36 tonnes; both models stopped before that, and gradually.
I want to be careful here: this tells us what predicts where they stop, not why they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memory works for language models too. With checks and memory, but no fine at all, gpt-oss over-took in 20 percent of rounds instead of 55. Rounds below half capacity fell from 92 to 20 percent, and no lake collapsed, against 5 out of 10 without memory.
So memory reduced over-taking but didn't stop it. A big enough fine did stop it, and cost nothing in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 The programmed-agent work and the first language-model studies are done.
- The follow-ups finish in the next day or so.
- I'm aiming for an AAAI workshop on 20 November, plus arXiv.
- Then a main conference in January, IJCAI or ICML. Those dates are estimates, because the calls aren't out yet.
Every study had its plan written down before the code, and I report the predictions that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4F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60120" y="2011680"/>
            <a:ext cx="10058400" cy="1188720"/>
          </a:xfrm>
          <a:prstGeom prst="rect">
            <a:avLst/>
          </a:prstGeom>
          <a:noFill/>
          <a:ln/>
        </p:spPr>
        <p:txBody>
          <a:bodyPr wrap="square" lIns="0" tIns="0" rIns="0" bIns="0" rtlCol="0" anchor="b"/>
          <a:lstStyle/>
          <a:p>
            <a:pPr indent="0" marL="0">
              <a:buNone/>
            </a:pPr>
            <a:r>
              <a:rPr lang="en-US" sz="5400" dirty="0">
                <a:solidFill>
                  <a:srgbClr val="2B2F33"/>
                </a:solidFill>
                <a:latin typeface="Calibri Light" pitchFamily="34" charset="0"/>
                <a:ea typeface="Calibri Light" pitchFamily="34" charset="-122"/>
                <a:cs typeface="Calibri Light" pitchFamily="34" charset="-120"/>
              </a:rPr>
              <a:t>Penalties Sized to the Gain</a:t>
            </a:r>
            <a:endParaRPr lang="en-US" sz="5400" dirty="0"/>
          </a:p>
        </p:txBody>
      </p:sp>
      <p:sp>
        <p:nvSpPr>
          <p:cNvPr id="3" name="Text 1"/>
          <p:cNvSpPr txBox="1"/>
          <p:nvPr/>
        </p:nvSpPr>
        <p:spPr>
          <a:xfrm>
            <a:off x="960120" y="3291840"/>
            <a:ext cx="7863840" cy="777240"/>
          </a:xfrm>
          <a:prstGeom prst="rect">
            <a:avLst/>
          </a:prstGeom>
          <a:noFill/>
          <a:ln/>
        </p:spPr>
        <p:txBody>
          <a:bodyPr wrap="square" lIns="0" tIns="0" rIns="0" bIns="0" rtlCol="0" anchor="t"/>
          <a:lstStyle/>
          <a:p>
            <a:pPr indent="0" marL="0">
              <a:buNone/>
            </a:pPr>
            <a:r>
              <a:rPr lang="en-US" sz="1900" i="1" dirty="0">
                <a:solidFill>
                  <a:srgbClr val="2B2F33"/>
                </a:solidFill>
                <a:latin typeface="Calibri" pitchFamily="34" charset="0"/>
                <a:ea typeface="Calibri" pitchFamily="34" charset="-122"/>
                <a:cs typeface="Calibri" pitchFamily="34" charset="-120"/>
              </a:rPr>
              <a:t>When do random audits stop AI agents from over-using a shared resource?</a:t>
            </a:r>
            <a:endParaRPr lang="en-US" sz="1900" dirty="0"/>
          </a:p>
        </p:txBody>
      </p:sp>
      <p:sp>
        <p:nvSpPr>
          <p:cNvPr id="4" name="Shape 2"/>
          <p:cNvSpPr/>
          <p:nvPr/>
        </p:nvSpPr>
        <p:spPr>
          <a:xfrm>
            <a:off x="960120" y="4206240"/>
            <a:ext cx="3383280" cy="109728"/>
          </a:xfrm>
          <a:prstGeom prst="rect">
            <a:avLst/>
          </a:prstGeom>
          <a:solidFill>
            <a:srgbClr val="131B28"/>
          </a:solidFill>
          <a:ln w="12700">
            <a:solidFill>
              <a:srgbClr val="131B28"/>
            </a:solidFill>
            <a:prstDash val="solid"/>
          </a:ln>
        </p:spPr>
      </p:sp>
      <p:sp>
        <p:nvSpPr>
          <p:cNvPr id="5" name="Text 3"/>
          <p:cNvSpPr txBox="1"/>
          <p:nvPr/>
        </p:nvSpPr>
        <p:spPr>
          <a:xfrm>
            <a:off x="6522415" y="5440680"/>
            <a:ext cx="4937760" cy="822960"/>
          </a:xfrm>
          <a:prstGeom prst="rect">
            <a:avLst/>
          </a:prstGeom>
          <a:noFill/>
          <a:ln/>
        </p:spPr>
        <p:txBody>
          <a:bodyPr wrap="square" lIns="0" tIns="0" rIns="0" bIns="0" rtlCol="0" anchor="b"/>
          <a:lstStyle/>
          <a:p>
            <a:pPr algn="r" indent="0" marL="0">
              <a:buNone/>
            </a:pPr>
            <a:r>
              <a:rPr lang="en-US" sz="1100" dirty="0">
                <a:solidFill>
                  <a:srgbClr val="1C191A"/>
                </a:solidFill>
                <a:latin typeface="Calibri" pitchFamily="34" charset="0"/>
                <a:ea typeface="Calibri" pitchFamily="34" charset="-122"/>
                <a:cs typeface="Calibri" pitchFamily="34" charset="-120"/>
              </a:rPr>
              <a:t>Ameer Alhashemi</a:t>
            </a:r>
            <a:endParaRPr lang="en-US" sz="1100" dirty="0"/>
          </a:p>
          <a:p>
            <a:pPr algn="r" indent="0" marL="0">
              <a:buNone/>
            </a:pPr>
            <a:r>
              <a:rPr lang="en-US" sz="1100" dirty="0">
                <a:solidFill>
                  <a:srgbClr val="1C191A"/>
                </a:solidFill>
                <a:latin typeface="Calibri" pitchFamily="34" charset="0"/>
                <a:ea typeface="Calibri" pitchFamily="34" charset="-122"/>
                <a:cs typeface="Calibri" pitchFamily="34" charset="-120"/>
              </a:rPr>
              <a:t>PhD catch-up</a:t>
            </a:r>
            <a:endParaRPr lang="en-US" sz="1100" dirty="0"/>
          </a:p>
          <a:p>
            <a:pPr algn="r" indent="0" marL="0">
              <a:buNone/>
            </a:pPr>
            <a:r>
              <a:rPr lang="en-US" sz="1100" dirty="0">
                <a:solidFill>
                  <a:srgbClr val="1C191A"/>
                </a:solidFill>
                <a:latin typeface="Calibri" pitchFamily="34" charset="0"/>
                <a:ea typeface="Calibri" pitchFamily="34" charset="-122"/>
                <a:cs typeface="Calibri" pitchFamily="34" charset="-120"/>
              </a:rPr>
              <a:t>King's College London, 13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The Project in One Slide</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Shape 2"/>
          <p:cNvSpPr/>
          <p:nvPr/>
        </p:nvSpPr>
        <p:spPr>
          <a:xfrm>
            <a:off x="548640"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777240"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01   WHY</a:t>
            </a:r>
            <a:endParaRPr lang="en-US" sz="1300" dirty="0"/>
          </a:p>
        </p:txBody>
      </p:sp>
      <p:sp>
        <p:nvSpPr>
          <p:cNvPr id="6" name="Text 4"/>
          <p:cNvSpPr txBox="1"/>
          <p:nvPr/>
        </p:nvSpPr>
        <p:spPr>
          <a:xfrm>
            <a:off x="777240" y="2276856"/>
            <a:ext cx="2110664" cy="969264"/>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Oversight of AI agents is sampled</a:t>
            </a:r>
            <a:endParaRPr lang="en-US" sz="1700" dirty="0"/>
          </a:p>
        </p:txBody>
      </p:sp>
      <p:sp>
        <p:nvSpPr>
          <p:cNvPr id="7" name="Text 5"/>
          <p:cNvSpPr txBox="1"/>
          <p:nvPr/>
        </p:nvSpPr>
        <p:spPr>
          <a:xfrm>
            <a:off x="777240" y="3291840"/>
            <a:ext cx="2110664" cy="1920240"/>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AI agents are starting to act on resources they share with others, such as compute, energy and budgets. Whoever oversees them can usually check only a few of their actions.</a:t>
            </a:r>
            <a:endParaRPr lang="en-US" sz="1350" dirty="0"/>
          </a:p>
        </p:txBody>
      </p:sp>
      <p:sp>
        <p:nvSpPr>
          <p:cNvPr id="8" name="Shape 6"/>
          <p:cNvSpPr/>
          <p:nvPr/>
        </p:nvSpPr>
        <p:spPr>
          <a:xfrm>
            <a:off x="3390824"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9" name="Text 7"/>
          <p:cNvSpPr txBox="1"/>
          <p:nvPr/>
        </p:nvSpPr>
        <p:spPr>
          <a:xfrm>
            <a:off x="3619424"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02   WHAT I BUILT</a:t>
            </a:r>
            <a:endParaRPr lang="en-US" sz="1300" dirty="0"/>
          </a:p>
        </p:txBody>
      </p:sp>
      <p:sp>
        <p:nvSpPr>
          <p:cNvPr id="10" name="Text 8"/>
          <p:cNvSpPr txBox="1"/>
          <p:nvPr/>
        </p:nvSpPr>
        <p:spPr>
          <a:xfrm>
            <a:off x="3619424" y="2276856"/>
            <a:ext cx="2110664" cy="676656"/>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A shared resource with checks</a:t>
            </a:r>
            <a:endParaRPr lang="en-US" sz="1700" dirty="0"/>
          </a:p>
        </p:txBody>
      </p:sp>
      <p:sp>
        <p:nvSpPr>
          <p:cNvPr id="11" name="Text 9"/>
          <p:cNvSpPr txBox="1"/>
          <p:nvPr/>
        </p:nvSpPr>
        <p:spPr>
          <a:xfrm>
            <a:off x="3619424" y="2999232"/>
            <a:ext cx="2110664" cy="2212848"/>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Six agents draw on one renewable resource over many rounds. A reviewer sets how much each may take, and a few agents are checked at random each round.</a:t>
            </a:r>
            <a:endParaRPr lang="en-US" sz="1350" dirty="0"/>
          </a:p>
        </p:txBody>
      </p:sp>
      <p:sp>
        <p:nvSpPr>
          <p:cNvPr id="12" name="Shape 10"/>
          <p:cNvSpPr/>
          <p:nvPr/>
        </p:nvSpPr>
        <p:spPr>
          <a:xfrm>
            <a:off x="6233008"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6461608"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03   WHAT I TESTED</a:t>
            </a:r>
            <a:endParaRPr lang="en-US" sz="1300" dirty="0"/>
          </a:p>
        </p:txBody>
      </p:sp>
      <p:sp>
        <p:nvSpPr>
          <p:cNvPr id="14" name="Text 12"/>
          <p:cNvSpPr txBox="1"/>
          <p:nvPr/>
        </p:nvSpPr>
        <p:spPr>
          <a:xfrm>
            <a:off x="6461608" y="2276856"/>
            <a:ext cx="2110664" cy="676656"/>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Consequences and penalty size</a:t>
            </a:r>
            <a:endParaRPr lang="en-US" sz="1700" dirty="0"/>
          </a:p>
        </p:txBody>
      </p:sp>
      <p:sp>
        <p:nvSpPr>
          <p:cNvPr id="15" name="Text 13"/>
          <p:cNvSpPr txBox="1"/>
          <p:nvPr/>
        </p:nvSpPr>
        <p:spPr>
          <a:xfrm>
            <a:off x="6461608" y="2999232"/>
            <a:ext cx="2110664" cy="2212848"/>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What a caught agent should face (a fine, a memory of the offence, or both), and whether the fine that stops an agent can be predicted before it is tried.</a:t>
            </a:r>
            <a:endParaRPr lang="en-US" sz="1350" dirty="0"/>
          </a:p>
        </p:txBody>
      </p:sp>
      <p:sp>
        <p:nvSpPr>
          <p:cNvPr id="16" name="Shape 14"/>
          <p:cNvSpPr/>
          <p:nvPr/>
        </p:nvSpPr>
        <p:spPr>
          <a:xfrm>
            <a:off x="9075191"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9303791"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04   WHAT I FOUND</a:t>
            </a:r>
            <a:endParaRPr lang="en-US" sz="1300" dirty="0"/>
          </a:p>
        </p:txBody>
      </p:sp>
      <p:sp>
        <p:nvSpPr>
          <p:cNvPr id="18" name="Text 16"/>
          <p:cNvSpPr txBox="1"/>
          <p:nvPr/>
        </p:nvSpPr>
        <p:spPr>
          <a:xfrm>
            <a:off x="9303791" y="2276856"/>
            <a:ext cx="2110664" cy="969264"/>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Checks work through consequences</a:t>
            </a:r>
            <a:endParaRPr lang="en-US" sz="1700" dirty="0"/>
          </a:p>
        </p:txBody>
      </p:sp>
      <p:sp>
        <p:nvSpPr>
          <p:cNvPr id="19" name="Text 17"/>
          <p:cNvSpPr txBox="1"/>
          <p:nvPr/>
        </p:nvSpPr>
        <p:spPr>
          <a:xfrm>
            <a:off x="9303791" y="3291840"/>
            <a:ext cx="2110664" cy="1920240"/>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Checks reduced harm only when a catch had a consequence. The stopping fine could be predicted from how much an agent gains by over-taking, for programmed agents and for language models.</a:t>
            </a:r>
            <a:endParaRPr lang="en-US" sz="1350" dirty="0"/>
          </a:p>
        </p:txBody>
      </p:sp>
      <p:sp>
        <p:nvSpPr>
          <p:cNvPr id="20" name="Text 18"/>
          <p:cNvSpPr txBox="1"/>
          <p:nvPr/>
        </p:nvSpPr>
        <p:spPr>
          <a:xfrm>
            <a:off x="548640" y="5852160"/>
            <a:ext cx="11094415" cy="411480"/>
          </a:xfrm>
          <a:prstGeom prst="rect">
            <a:avLst/>
          </a:prstGeom>
          <a:noFill/>
          <a:ln/>
        </p:spPr>
        <p:txBody>
          <a:bodyPr wrap="square" lIns="0" tIns="0" rIns="0" bIns="0" rtlCol="0" anchor="ctr"/>
          <a:lstStyle/>
          <a:p>
            <a:pPr algn="ctr" indent="0" marL="0">
              <a:buNone/>
            </a:pPr>
            <a:r>
              <a:rPr lang="en-US" sz="1500" i="1" dirty="0">
                <a:solidFill>
                  <a:srgbClr val="55524E"/>
                </a:solidFill>
                <a:latin typeface="Calibri" pitchFamily="34" charset="0"/>
                <a:ea typeface="Calibri" pitchFamily="34" charset="-122"/>
                <a:cs typeface="Calibri" pitchFamily="34" charset="-120"/>
              </a:rPr>
              <a:t>The next slides go through the setting, the method and the main findings, then what is still running</a:t>
            </a:r>
            <a:endParaRPr lang="en-US" sz="1500" dirty="0"/>
          </a:p>
        </p:txBody>
      </p:sp>
      <p:sp>
        <p:nvSpPr>
          <p:cNvPr id="21" name="Text 1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lIns="0" tIns="0" rIns="0" bIns="0" rtlCol="0" anchor="b"/>
          <a:lstStyle/>
          <a:p>
            <a:pPr algn="ctr" indent="0" marL="0">
              <a:lnSpc>
                <a:spcPct val="95000"/>
              </a:lnSpc>
              <a:buNone/>
            </a:pPr>
            <a:r>
              <a:rPr lang="en-US" sz="3200" b="1" dirty="0">
                <a:solidFill>
                  <a:srgbClr val="062746"/>
                </a:solidFill>
                <a:latin typeface="Georgia" pitchFamily="34" charset="0"/>
                <a:ea typeface="Georgia" pitchFamily="34" charset="-122"/>
                <a:cs typeface="Georgia" pitchFamily="34" charset="-120"/>
              </a:rPr>
              <a:t>How One Round Works</a:t>
            </a:r>
            <a:endParaRPr lang="en-US" sz="3200" dirty="0"/>
          </a:p>
        </p:txBody>
      </p:sp>
      <p:pic>
        <p:nvPicPr>
          <p:cNvPr id="3" name="Image 0" descr="fig1_game_step.png">    </p:cNvPr>
          <p:cNvPicPr>
            <a:picLocks noChangeAspect="1"/>
          </p:cNvPicPr>
          <p:nvPr/>
        </p:nvPicPr>
        <p:blipFill>
          <a:blip r:embed="rId1"/>
          <a:stretch>
            <a:fillRect/>
          </a:stretch>
        </p:blipFill>
        <p:spPr>
          <a:xfrm>
            <a:off x="1659818" y="1234440"/>
            <a:ext cx="8872059" cy="3977640"/>
          </a:xfrm>
          <a:prstGeom prst="rect">
            <a:avLst/>
          </a:prstGeom>
        </p:spPr>
      </p:pic>
      <p:sp>
        <p:nvSpPr>
          <p:cNvPr id="4" name="Text 1"/>
          <p:cNvSpPr txBox="1"/>
          <p:nvPr/>
        </p:nvSpPr>
        <p:spPr>
          <a:xfrm>
            <a:off x="1463040" y="5303520"/>
            <a:ext cx="926561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Each round: agents ask for a share, the reviewer scales all requests by one factor, agents take their allowance or more, the resource regrows, and a few agents are checked. The same round runs in three settings where harm spreads differently: Fishery, Forest and River.</a:t>
            </a:r>
            <a:endParaRPr lang="en-US" sz="1100" dirty="0"/>
          </a:p>
        </p:txBody>
      </p:sp>
      <p:sp>
        <p:nvSpPr>
          <p:cNvPr id="5" name="Text 2"/>
          <p:cNvSpPr txBox="1"/>
          <p:nvPr/>
        </p:nvSpPr>
        <p:spPr>
          <a:xfrm>
            <a:off x="1005840" y="5897880"/>
            <a:ext cx="10180015" cy="411480"/>
          </a:xfrm>
          <a:prstGeom prst="rect">
            <a:avLst/>
          </a:prstGeom>
          <a:noFill/>
          <a:ln/>
        </p:spPr>
        <p:txBody>
          <a:bodyPr wrap="square" lIns="0" tIns="0" rIns="0" bIns="0" rtlCol="0" anchor="ctr"/>
          <a:lstStyle/>
          <a:p>
            <a:pPr algn="ctr" indent="0" marL="0">
              <a:buNone/>
            </a:pPr>
            <a:r>
              <a:rPr lang="en-US" sz="1700" b="1" dirty="0">
                <a:solidFill>
                  <a:srgbClr val="062746"/>
                </a:solidFill>
                <a:latin typeface="Georgia" pitchFamily="34" charset="0"/>
                <a:ea typeface="Georgia" pitchFamily="34" charset="-122"/>
                <a:cs typeface="Georgia" pitchFamily="34" charset="-120"/>
              </a:rPr>
              <a:t>Harm = the resource falling below half its capacity, the level at which it regrows fastest</a:t>
            </a:r>
            <a:endParaRPr lang="en-US" sz="1700" dirty="0"/>
          </a:p>
        </p:txBody>
      </p:sp>
      <p:sp>
        <p:nvSpPr>
          <p:cNvPr id="6" name="Text 3"/>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5852160"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How I Test It</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1499616"/>
            <a:ext cx="640080" cy="411480"/>
          </a:xfrm>
          <a:prstGeom prst="rect">
            <a:avLst/>
          </a:prstGeom>
          <a:noFill/>
          <a:ln/>
        </p:spPr>
        <p:txBody>
          <a:bodyPr wrap="square" lIns="0" tIns="0" rIns="0" bIns="0" rtlCol="0" anchor="t"/>
          <a:lstStyle/>
          <a:p>
            <a:pPr indent="0" marL="0">
              <a:buNone/>
            </a:pPr>
            <a:r>
              <a:rPr lang="en-US" sz="2200" dirty="0">
                <a:solidFill>
                  <a:srgbClr val="8F8F8F"/>
                </a:solidFill>
                <a:latin typeface="Calibri Light" pitchFamily="34" charset="0"/>
                <a:ea typeface="Calibri Light" pitchFamily="34" charset="-122"/>
                <a:cs typeface="Calibri Light" pitchFamily="34" charset="-120"/>
              </a:rPr>
              <a:t>01</a:t>
            </a:r>
            <a:endParaRPr lang="en-US" sz="2200" dirty="0"/>
          </a:p>
        </p:txBody>
      </p:sp>
      <p:sp>
        <p:nvSpPr>
          <p:cNvPr id="5" name="Text 3"/>
          <p:cNvSpPr txBox="1"/>
          <p:nvPr/>
        </p:nvSpPr>
        <p:spPr>
          <a:xfrm>
            <a:off x="1280160" y="1517904"/>
            <a:ext cx="512064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Run the setting</a:t>
            </a:r>
            <a:endParaRPr lang="en-US" sz="1600" dirty="0"/>
          </a:p>
        </p:txBody>
      </p:sp>
      <p:sp>
        <p:nvSpPr>
          <p:cNvPr id="6" name="Text 4"/>
          <p:cNvSpPr txBox="1"/>
          <p:nvPr/>
        </p:nvSpPr>
        <p:spPr>
          <a:xfrm>
            <a:off x="1280160" y="1865376"/>
            <a:ext cx="5120640" cy="685800"/>
          </a:xfrm>
          <a:prstGeom prst="rect">
            <a:avLst/>
          </a:prstGeom>
          <a:noFill/>
          <a:ln/>
        </p:spPr>
        <p:txBody>
          <a:bodyPr wrap="square" lIns="0" tIns="0" rIns="0" bIns="0" rtlCol="0" anchor="t"/>
          <a:lstStyle/>
          <a:p>
            <a:pPr indent="0" marL="0">
              <a:buNone/>
            </a:pPr>
            <a:r>
              <a:rPr lang="en-US" sz="1300" dirty="0">
                <a:solidFill>
                  <a:srgbClr val="1C191A"/>
                </a:solidFill>
                <a:latin typeface="Calibri" pitchFamily="34" charset="0"/>
                <a:ea typeface="Calibri" pitchFamily="34" charset="-122"/>
                <a:cs typeface="Calibri" pitchFamily="34" charset="-120"/>
              </a:rPr>
              <a:t>Six agents share the resource for many rounds; the reviewer sets allowances; a few agents are checked at random each round.</a:t>
            </a:r>
            <a:endParaRPr lang="en-US" sz="1300" dirty="0"/>
          </a:p>
        </p:txBody>
      </p:sp>
      <p:sp>
        <p:nvSpPr>
          <p:cNvPr id="7" name="Text 5"/>
          <p:cNvSpPr txBox="1"/>
          <p:nvPr/>
        </p:nvSpPr>
        <p:spPr>
          <a:xfrm>
            <a:off x="548640" y="2596896"/>
            <a:ext cx="640080" cy="411480"/>
          </a:xfrm>
          <a:prstGeom prst="rect">
            <a:avLst/>
          </a:prstGeom>
          <a:noFill/>
          <a:ln/>
        </p:spPr>
        <p:txBody>
          <a:bodyPr wrap="square" lIns="0" tIns="0" rIns="0" bIns="0" rtlCol="0" anchor="t"/>
          <a:lstStyle/>
          <a:p>
            <a:pPr indent="0" marL="0">
              <a:buNone/>
            </a:pPr>
            <a:r>
              <a:rPr lang="en-US" sz="2200" dirty="0">
                <a:solidFill>
                  <a:srgbClr val="8F8F8F"/>
                </a:solidFill>
                <a:latin typeface="Calibri Light" pitchFamily="34" charset="0"/>
                <a:ea typeface="Calibri Light" pitchFamily="34" charset="-122"/>
                <a:cs typeface="Calibri Light" pitchFamily="34" charset="-120"/>
              </a:rPr>
              <a:t>02</a:t>
            </a:r>
            <a:endParaRPr lang="en-US" sz="2200" dirty="0"/>
          </a:p>
        </p:txBody>
      </p:sp>
      <p:sp>
        <p:nvSpPr>
          <p:cNvPr id="8" name="Text 6"/>
          <p:cNvSpPr txBox="1"/>
          <p:nvPr/>
        </p:nvSpPr>
        <p:spPr>
          <a:xfrm>
            <a:off x="1280160" y="2615184"/>
            <a:ext cx="512064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Measure the gain</a:t>
            </a:r>
            <a:endParaRPr lang="en-US" sz="1600" dirty="0"/>
          </a:p>
        </p:txBody>
      </p:sp>
      <p:sp>
        <p:nvSpPr>
          <p:cNvPr id="9" name="Text 7"/>
          <p:cNvSpPr txBox="1"/>
          <p:nvPr/>
        </p:nvSpPr>
        <p:spPr>
          <a:xfrm>
            <a:off x="1280160" y="2962656"/>
            <a:ext cx="5120640" cy="685800"/>
          </a:xfrm>
          <a:prstGeom prst="rect">
            <a:avLst/>
          </a:prstGeom>
          <a:noFill/>
          <a:ln/>
        </p:spPr>
        <p:txBody>
          <a:bodyPr wrap="square" lIns="0" tIns="0" rIns="0" bIns="0" rtlCol="0" anchor="t"/>
          <a:lstStyle/>
          <a:p>
            <a:pPr indent="0" marL="0">
              <a:buNone/>
            </a:pPr>
            <a:r>
              <a:rPr lang="en-US" sz="1300" dirty="0">
                <a:solidFill>
                  <a:srgbClr val="1C191A"/>
                </a:solidFill>
                <a:latin typeface="Calibri" pitchFamily="34" charset="0"/>
                <a:ea typeface="Calibri" pitchFamily="34" charset="-122"/>
                <a:cs typeface="Calibri" pitchFamily="34" charset="-120"/>
              </a:rPr>
              <a:t>Run games without any fine and record how much an agent gains from one round of taking more than its allowance.</a:t>
            </a:r>
            <a:endParaRPr lang="en-US" sz="1300" dirty="0"/>
          </a:p>
        </p:txBody>
      </p:sp>
      <p:sp>
        <p:nvSpPr>
          <p:cNvPr id="10" name="Text 8"/>
          <p:cNvSpPr txBox="1"/>
          <p:nvPr/>
        </p:nvSpPr>
        <p:spPr>
          <a:xfrm>
            <a:off x="548640" y="3694176"/>
            <a:ext cx="640080" cy="411480"/>
          </a:xfrm>
          <a:prstGeom prst="rect">
            <a:avLst/>
          </a:prstGeom>
          <a:noFill/>
          <a:ln/>
        </p:spPr>
        <p:txBody>
          <a:bodyPr wrap="square" lIns="0" tIns="0" rIns="0" bIns="0" rtlCol="0" anchor="t"/>
          <a:lstStyle/>
          <a:p>
            <a:pPr indent="0" marL="0">
              <a:buNone/>
            </a:pPr>
            <a:r>
              <a:rPr lang="en-US" sz="2200" dirty="0">
                <a:solidFill>
                  <a:srgbClr val="8F8F8F"/>
                </a:solidFill>
                <a:latin typeface="Calibri Light" pitchFamily="34" charset="0"/>
                <a:ea typeface="Calibri Light" pitchFamily="34" charset="-122"/>
                <a:cs typeface="Calibri Light" pitchFamily="34" charset="-120"/>
              </a:rPr>
              <a:t>03</a:t>
            </a:r>
            <a:endParaRPr lang="en-US" sz="2200" dirty="0"/>
          </a:p>
        </p:txBody>
      </p:sp>
      <p:sp>
        <p:nvSpPr>
          <p:cNvPr id="11" name="Text 9"/>
          <p:cNvSpPr txBox="1"/>
          <p:nvPr/>
        </p:nvSpPr>
        <p:spPr>
          <a:xfrm>
            <a:off x="1280160" y="3712464"/>
            <a:ext cx="512064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Predict, then freeze</a:t>
            </a:r>
            <a:endParaRPr lang="en-US" sz="1600" dirty="0"/>
          </a:p>
        </p:txBody>
      </p:sp>
      <p:sp>
        <p:nvSpPr>
          <p:cNvPr id="12" name="Text 10"/>
          <p:cNvSpPr txBox="1"/>
          <p:nvPr/>
        </p:nvSpPr>
        <p:spPr>
          <a:xfrm>
            <a:off x="1280160" y="4059936"/>
            <a:ext cx="5120640" cy="685800"/>
          </a:xfrm>
          <a:prstGeom prst="rect">
            <a:avLst/>
          </a:prstGeom>
          <a:noFill/>
          <a:ln/>
        </p:spPr>
        <p:txBody>
          <a:bodyPr wrap="square" lIns="0" tIns="0" rIns="0" bIns="0" rtlCol="0" anchor="t"/>
          <a:lstStyle/>
          <a:p>
            <a:pPr indent="0" marL="0">
              <a:buNone/>
            </a:pPr>
            <a:r>
              <a:rPr lang="en-US" sz="1300" dirty="0">
                <a:solidFill>
                  <a:srgbClr val="1C191A"/>
                </a:solidFill>
                <a:latin typeface="Calibri" pitchFamily="34" charset="0"/>
                <a:ea typeface="Calibri" pitchFamily="34" charset="-122"/>
                <a:cs typeface="Calibri" pitchFamily="34" charset="-120"/>
              </a:rPr>
              <a:t>Work out the fine that should stop over-taking and record the prediction before any game with that fine is run.</a:t>
            </a:r>
            <a:endParaRPr lang="en-US" sz="1300" dirty="0"/>
          </a:p>
        </p:txBody>
      </p:sp>
      <p:sp>
        <p:nvSpPr>
          <p:cNvPr id="13" name="Text 11"/>
          <p:cNvSpPr txBox="1"/>
          <p:nvPr/>
        </p:nvSpPr>
        <p:spPr>
          <a:xfrm>
            <a:off x="548640" y="4791456"/>
            <a:ext cx="640080" cy="411480"/>
          </a:xfrm>
          <a:prstGeom prst="rect">
            <a:avLst/>
          </a:prstGeom>
          <a:noFill/>
          <a:ln/>
        </p:spPr>
        <p:txBody>
          <a:bodyPr wrap="square" lIns="0" tIns="0" rIns="0" bIns="0" rtlCol="0" anchor="t"/>
          <a:lstStyle/>
          <a:p>
            <a:pPr indent="0" marL="0">
              <a:buNone/>
            </a:pPr>
            <a:r>
              <a:rPr lang="en-US" sz="2200" dirty="0">
                <a:solidFill>
                  <a:srgbClr val="8F8F8F"/>
                </a:solidFill>
                <a:latin typeface="Calibri Light" pitchFamily="34" charset="0"/>
                <a:ea typeface="Calibri Light" pitchFamily="34" charset="-122"/>
                <a:cs typeface="Calibri Light" pitchFamily="34" charset="-120"/>
              </a:rPr>
              <a:t>04</a:t>
            </a:r>
            <a:endParaRPr lang="en-US" sz="2200" dirty="0"/>
          </a:p>
        </p:txBody>
      </p:sp>
      <p:sp>
        <p:nvSpPr>
          <p:cNvPr id="14" name="Text 12"/>
          <p:cNvSpPr txBox="1"/>
          <p:nvPr/>
        </p:nvSpPr>
        <p:spPr>
          <a:xfrm>
            <a:off x="1280160" y="4809744"/>
            <a:ext cx="512064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Test on games the prediction never saw</a:t>
            </a:r>
            <a:endParaRPr lang="en-US" sz="1600" dirty="0"/>
          </a:p>
        </p:txBody>
      </p:sp>
      <p:sp>
        <p:nvSpPr>
          <p:cNvPr id="15" name="Text 13"/>
          <p:cNvSpPr txBox="1"/>
          <p:nvPr/>
        </p:nvSpPr>
        <p:spPr>
          <a:xfrm>
            <a:off x="1280160" y="5157216"/>
            <a:ext cx="5120640" cy="685800"/>
          </a:xfrm>
          <a:prstGeom prst="rect">
            <a:avLst/>
          </a:prstGeom>
          <a:noFill/>
          <a:ln/>
        </p:spPr>
        <p:txBody>
          <a:bodyPr wrap="square" lIns="0" tIns="0" rIns="0" bIns="0" rtlCol="0" anchor="t"/>
          <a:lstStyle/>
          <a:p>
            <a:pPr indent="0" marL="0">
              <a:buNone/>
            </a:pPr>
            <a:r>
              <a:rPr lang="en-US" sz="1300" dirty="0">
                <a:solidFill>
                  <a:srgbClr val="1C191A"/>
                </a:solidFill>
                <a:latin typeface="Calibri" pitchFamily="34" charset="0"/>
                <a:ea typeface="Calibri" pitchFamily="34" charset="-122"/>
                <a:cs typeface="Calibri" pitchFamily="34" charset="-120"/>
              </a:rPr>
              <a:t>Run the predicted fine and the fines around it on new games, and report the result whether or not it matches.</a:t>
            </a:r>
            <a:endParaRPr lang="en-US" sz="1300" dirty="0"/>
          </a:p>
        </p:txBody>
      </p:sp>
      <p:sp>
        <p:nvSpPr>
          <p:cNvPr id="16" name="Shape 14"/>
          <p:cNvSpPr/>
          <p:nvPr/>
        </p:nvSpPr>
        <p:spPr>
          <a:xfrm>
            <a:off x="6858000" y="1120140"/>
            <a:ext cx="4785055" cy="4617720"/>
          </a:xfrm>
          <a:prstGeom prst="roundRect">
            <a:avLst>
              <a:gd name="adj" fmla="val 1584"/>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7132320" y="1348740"/>
            <a:ext cx="4236415" cy="365760"/>
          </a:xfrm>
          <a:prstGeom prst="rect">
            <a:avLst/>
          </a:prstGeom>
          <a:noFill/>
          <a:ln/>
        </p:spPr>
        <p:txBody>
          <a:bodyPr wrap="square" lIns="0" tIns="0" rIns="0" bIns="0" rtlCol="0" anchor="ctr"/>
          <a:lstStyle/>
          <a:p>
            <a:pPr indent="0" marL="0">
              <a:buNone/>
            </a:pPr>
            <a:r>
              <a:rPr lang="en-US" sz="1600" b="1" dirty="0">
                <a:solidFill>
                  <a:srgbClr val="062746"/>
                </a:solidFill>
                <a:latin typeface="Georgia" pitchFamily="34" charset="0"/>
                <a:ea typeface="Georgia" pitchFamily="34" charset="-122"/>
                <a:cs typeface="Georgia" pitchFamily="34" charset="-120"/>
              </a:rPr>
              <a:t>Key quantities</a:t>
            </a:r>
            <a:endParaRPr lang="en-US" sz="1600" dirty="0"/>
          </a:p>
        </p:txBody>
      </p:sp>
      <p:sp>
        <p:nvSpPr>
          <p:cNvPr id="18" name="Text 16"/>
          <p:cNvSpPr txBox="1"/>
          <p:nvPr/>
        </p:nvSpPr>
        <p:spPr>
          <a:xfrm>
            <a:off x="7132320" y="1897380"/>
            <a:ext cx="1417320" cy="548640"/>
          </a:xfrm>
          <a:prstGeom prst="rect">
            <a:avLst/>
          </a:prstGeom>
          <a:noFill/>
          <a:ln/>
        </p:spPr>
        <p:txBody>
          <a:bodyPr wrap="square" lIns="0" tIns="0" rIns="0" bIns="0" rtlCol="0" anchor="t"/>
          <a:lstStyle/>
          <a:p>
            <a:pPr indent="0" marL="0">
              <a:buNone/>
            </a:pPr>
            <a:r>
              <a:rPr lang="en-US" sz="1700" i="1" dirty="0">
                <a:solidFill>
                  <a:srgbClr val="1C191A"/>
                </a:solidFill>
                <a:latin typeface="Georgia" pitchFamily="34" charset="0"/>
                <a:ea typeface="Georgia" pitchFamily="34" charset="-122"/>
                <a:cs typeface="Georgia" pitchFamily="34" charset="-120"/>
              </a:rPr>
              <a:t>q</a:t>
            </a:r>
            <a:endParaRPr lang="en-US" sz="1700" dirty="0"/>
          </a:p>
        </p:txBody>
      </p:sp>
      <p:sp>
        <p:nvSpPr>
          <p:cNvPr id="19" name="Text 17"/>
          <p:cNvSpPr txBox="1"/>
          <p:nvPr/>
        </p:nvSpPr>
        <p:spPr>
          <a:xfrm>
            <a:off x="8641080" y="1915668"/>
            <a:ext cx="2727655" cy="658368"/>
          </a:xfrm>
          <a:prstGeom prst="rect">
            <a:avLst/>
          </a:prstGeom>
          <a:noFill/>
          <a:ln/>
        </p:spPr>
        <p:txBody>
          <a:bodyPr wrap="square" lIns="0" tIns="0" rIns="0" bIns="0" rtlCol="0" anchor="t"/>
          <a:lstStyle/>
          <a:p>
            <a:pPr indent="0" marL="0">
              <a:buNone/>
            </a:pPr>
            <a:r>
              <a:rPr lang="en-US" sz="1250" dirty="0">
                <a:solidFill>
                  <a:srgbClr val="1C191A"/>
                </a:solidFill>
                <a:latin typeface="Calibri" pitchFamily="34" charset="0"/>
                <a:ea typeface="Calibri" pitchFamily="34" charset="-122"/>
                <a:cs typeface="Calibri" pitchFamily="34" charset="-120"/>
              </a:rPr>
              <a:t>chance that an agent is checked in a round (1 in 6 for the language models)</a:t>
            </a:r>
            <a:endParaRPr lang="en-US" sz="1250" dirty="0"/>
          </a:p>
        </p:txBody>
      </p:sp>
      <p:sp>
        <p:nvSpPr>
          <p:cNvPr id="20" name="Text 18"/>
          <p:cNvSpPr txBox="1"/>
          <p:nvPr/>
        </p:nvSpPr>
        <p:spPr>
          <a:xfrm>
            <a:off x="7132320" y="2647188"/>
            <a:ext cx="1417320" cy="548640"/>
          </a:xfrm>
          <a:prstGeom prst="rect">
            <a:avLst/>
          </a:prstGeom>
          <a:noFill/>
          <a:ln/>
        </p:spPr>
        <p:txBody>
          <a:bodyPr wrap="square" lIns="0" tIns="0" rIns="0" bIns="0" rtlCol="0" anchor="t"/>
          <a:lstStyle/>
          <a:p>
            <a:pPr indent="0" marL="0">
              <a:buNone/>
            </a:pPr>
            <a:r>
              <a:rPr lang="en-US" sz="1700" i="1" dirty="0">
                <a:solidFill>
                  <a:srgbClr val="1C191A"/>
                </a:solidFill>
                <a:latin typeface="Georgia" pitchFamily="34" charset="0"/>
                <a:ea typeface="Georgia" pitchFamily="34" charset="-122"/>
                <a:cs typeface="Georgia" pitchFamily="34" charset="-120"/>
              </a:rPr>
              <a:t>F</a:t>
            </a:r>
            <a:endParaRPr lang="en-US" sz="1700" dirty="0"/>
          </a:p>
        </p:txBody>
      </p:sp>
      <p:sp>
        <p:nvSpPr>
          <p:cNvPr id="21" name="Text 19"/>
          <p:cNvSpPr txBox="1"/>
          <p:nvPr/>
        </p:nvSpPr>
        <p:spPr>
          <a:xfrm>
            <a:off x="8641080" y="2665476"/>
            <a:ext cx="2727655" cy="658368"/>
          </a:xfrm>
          <a:prstGeom prst="rect">
            <a:avLst/>
          </a:prstGeom>
          <a:noFill/>
          <a:ln/>
        </p:spPr>
        <p:txBody>
          <a:bodyPr wrap="square" lIns="0" tIns="0" rIns="0" bIns="0" rtlCol="0" anchor="t"/>
          <a:lstStyle/>
          <a:p>
            <a:pPr indent="0" marL="0">
              <a:buNone/>
            </a:pPr>
            <a:r>
              <a:rPr lang="en-US" sz="1250" dirty="0">
                <a:solidFill>
                  <a:srgbClr val="1C191A"/>
                </a:solidFill>
                <a:latin typeface="Calibri" pitchFamily="34" charset="0"/>
                <a:ea typeface="Calibri" pitchFamily="34" charset="-122"/>
                <a:cs typeface="Calibri" pitchFamily="34" charset="-120"/>
              </a:rPr>
              <a:t>fine paid when a check finds an agent over its allowance</a:t>
            </a:r>
            <a:endParaRPr lang="en-US" sz="1250" dirty="0"/>
          </a:p>
        </p:txBody>
      </p:sp>
      <p:sp>
        <p:nvSpPr>
          <p:cNvPr id="22" name="Text 20"/>
          <p:cNvSpPr txBox="1"/>
          <p:nvPr/>
        </p:nvSpPr>
        <p:spPr>
          <a:xfrm>
            <a:off x="7132320" y="3396996"/>
            <a:ext cx="1417320" cy="548640"/>
          </a:xfrm>
          <a:prstGeom prst="rect">
            <a:avLst/>
          </a:prstGeom>
          <a:noFill/>
          <a:ln/>
        </p:spPr>
        <p:txBody>
          <a:bodyPr wrap="square" lIns="0" tIns="0" rIns="0" bIns="0" rtlCol="0" anchor="t"/>
          <a:lstStyle/>
          <a:p>
            <a:pPr indent="0" marL="0">
              <a:buNone/>
            </a:pPr>
            <a:r>
              <a:rPr lang="en-US" sz="1700" dirty="0">
                <a:solidFill>
                  <a:srgbClr val="1C191A"/>
                </a:solidFill>
                <a:latin typeface="Georgia" pitchFamily="34" charset="0"/>
                <a:ea typeface="Georgia" pitchFamily="34" charset="-122"/>
                <a:cs typeface="Georgia" pitchFamily="34" charset="-120"/>
              </a:rPr>
              <a:t>e = q × F</a:t>
            </a:r>
            <a:endParaRPr lang="en-US" sz="1700" dirty="0"/>
          </a:p>
        </p:txBody>
      </p:sp>
      <p:sp>
        <p:nvSpPr>
          <p:cNvPr id="23" name="Text 21"/>
          <p:cNvSpPr txBox="1"/>
          <p:nvPr/>
        </p:nvSpPr>
        <p:spPr>
          <a:xfrm>
            <a:off x="8641080" y="3415284"/>
            <a:ext cx="2727655" cy="658368"/>
          </a:xfrm>
          <a:prstGeom prst="rect">
            <a:avLst/>
          </a:prstGeom>
          <a:noFill/>
          <a:ln/>
        </p:spPr>
        <p:txBody>
          <a:bodyPr wrap="square" lIns="0" tIns="0" rIns="0" bIns="0" rtlCol="0" anchor="t"/>
          <a:lstStyle/>
          <a:p>
            <a:pPr indent="0" marL="0">
              <a:buNone/>
            </a:pPr>
            <a:r>
              <a:rPr lang="en-US" sz="1250" dirty="0">
                <a:solidFill>
                  <a:srgbClr val="1C191A"/>
                </a:solidFill>
                <a:latin typeface="Calibri" pitchFamily="34" charset="0"/>
                <a:ea typeface="Calibri" pitchFamily="34" charset="-122"/>
                <a:cs typeface="Calibri" pitchFamily="34" charset="-120"/>
              </a:rPr>
              <a:t>expected fine for one round of over-taking</a:t>
            </a:r>
            <a:endParaRPr lang="en-US" sz="1250" dirty="0"/>
          </a:p>
        </p:txBody>
      </p:sp>
      <p:sp>
        <p:nvSpPr>
          <p:cNvPr id="24" name="Text 22"/>
          <p:cNvSpPr txBox="1"/>
          <p:nvPr/>
        </p:nvSpPr>
        <p:spPr>
          <a:xfrm>
            <a:off x="7132320" y="4146804"/>
            <a:ext cx="1417320" cy="548640"/>
          </a:xfrm>
          <a:prstGeom prst="rect">
            <a:avLst/>
          </a:prstGeom>
          <a:noFill/>
          <a:ln/>
        </p:spPr>
        <p:txBody>
          <a:bodyPr wrap="square" lIns="0" tIns="0" rIns="0" bIns="0" rtlCol="0" anchor="t"/>
          <a:lstStyle/>
          <a:p>
            <a:pPr indent="0" marL="0">
              <a:buNone/>
            </a:pPr>
            <a:r>
              <a:rPr lang="en-US" sz="1700" i="1" dirty="0">
                <a:solidFill>
                  <a:srgbClr val="1C191A"/>
                </a:solidFill>
                <a:latin typeface="Georgia" pitchFamily="34" charset="0"/>
                <a:ea typeface="Georgia" pitchFamily="34" charset="-122"/>
                <a:cs typeface="Georgia" pitchFamily="34" charset="-120"/>
              </a:rPr>
              <a:t>g</a:t>
            </a:r>
            <a:endParaRPr lang="en-US" sz="1700" dirty="0"/>
          </a:p>
        </p:txBody>
      </p:sp>
      <p:sp>
        <p:nvSpPr>
          <p:cNvPr id="25" name="Text 23"/>
          <p:cNvSpPr txBox="1"/>
          <p:nvPr/>
        </p:nvSpPr>
        <p:spPr>
          <a:xfrm>
            <a:off x="8641080" y="4165092"/>
            <a:ext cx="2727655" cy="658368"/>
          </a:xfrm>
          <a:prstGeom prst="rect">
            <a:avLst/>
          </a:prstGeom>
          <a:noFill/>
          <a:ln/>
        </p:spPr>
        <p:txBody>
          <a:bodyPr wrap="square" lIns="0" tIns="0" rIns="0" bIns="0" rtlCol="0" anchor="t"/>
          <a:lstStyle/>
          <a:p>
            <a:pPr indent="0" marL="0">
              <a:buNone/>
            </a:pPr>
            <a:r>
              <a:rPr lang="en-US" sz="1250" dirty="0">
                <a:solidFill>
                  <a:srgbClr val="1C191A"/>
                </a:solidFill>
                <a:latin typeface="Calibri" pitchFamily="34" charset="0"/>
                <a:ea typeface="Calibri" pitchFamily="34" charset="-122"/>
                <a:cs typeface="Calibri" pitchFamily="34" charset="-120"/>
              </a:rPr>
              <a:t>what an agent gains from one round of over-taking</a:t>
            </a:r>
            <a:endParaRPr lang="en-US" sz="1250" dirty="0"/>
          </a:p>
        </p:txBody>
      </p:sp>
      <p:sp>
        <p:nvSpPr>
          <p:cNvPr id="26" name="Text 24"/>
          <p:cNvSpPr txBox="1"/>
          <p:nvPr/>
        </p:nvSpPr>
        <p:spPr>
          <a:xfrm>
            <a:off x="7132320" y="4896612"/>
            <a:ext cx="1417320" cy="548640"/>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e &gt; g</a:t>
            </a:r>
            <a:endParaRPr lang="en-US" sz="1700" dirty="0"/>
          </a:p>
        </p:txBody>
      </p:sp>
      <p:sp>
        <p:nvSpPr>
          <p:cNvPr id="27" name="Text 25"/>
          <p:cNvSpPr txBox="1"/>
          <p:nvPr/>
        </p:nvSpPr>
        <p:spPr>
          <a:xfrm>
            <a:off x="8641080" y="4914900"/>
            <a:ext cx="2727655" cy="658368"/>
          </a:xfrm>
          <a:prstGeom prst="rect">
            <a:avLst/>
          </a:prstGeom>
          <a:noFill/>
          <a:ln/>
        </p:spPr>
        <p:txBody>
          <a:bodyPr wrap="square" lIns="0" tIns="0" rIns="0" bIns="0" rtlCol="0" anchor="t"/>
          <a:lstStyle/>
          <a:p>
            <a:pPr indent="0" marL="0">
              <a:buNone/>
            </a:pPr>
            <a:r>
              <a:rPr lang="en-US" sz="1250" dirty="0">
                <a:solidFill>
                  <a:srgbClr val="1C191A"/>
                </a:solidFill>
                <a:latin typeface="Calibri" pitchFamily="34" charset="0"/>
                <a:ea typeface="Calibri" pitchFamily="34" charset="-122"/>
                <a:cs typeface="Calibri" pitchFamily="34" charset="-120"/>
              </a:rPr>
              <a:t>the prediction: over-taking stops once the expected fine is larger than the gain (Becker 1968)</a:t>
            </a:r>
            <a:endParaRPr lang="en-US" sz="1250" dirty="0"/>
          </a:p>
        </p:txBody>
      </p:sp>
      <p:sp>
        <p:nvSpPr>
          <p:cNvPr id="28" name="Text 26"/>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Finding 1: A Catch Needs a Consequence</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1545336"/>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The setting</a:t>
            </a:r>
            <a:endParaRPr lang="en-US" sz="1700" dirty="0"/>
          </a:p>
        </p:txBody>
      </p:sp>
      <p:sp>
        <p:nvSpPr>
          <p:cNvPr id="5" name="Text 3"/>
          <p:cNvSpPr txBox="1"/>
          <p:nvPr/>
        </p:nvSpPr>
        <p:spPr>
          <a:xfrm>
            <a:off x="548640" y="1929384"/>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Some agents report less than they intend to take, so the reviewer underestimates their use unless a check catches them.</a:t>
            </a:r>
            <a:endParaRPr lang="en-US" sz="1400" dirty="0"/>
          </a:p>
        </p:txBody>
      </p:sp>
      <p:sp>
        <p:nvSpPr>
          <p:cNvPr id="6" name="Text 4"/>
          <p:cNvSpPr txBox="1"/>
          <p:nvPr/>
        </p:nvSpPr>
        <p:spPr>
          <a:xfrm>
            <a:off x="548640" y="2839212"/>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Checks without memory</a:t>
            </a:r>
            <a:endParaRPr lang="en-US" sz="1700" dirty="0"/>
          </a:p>
        </p:txBody>
      </p:sp>
      <p:sp>
        <p:nvSpPr>
          <p:cNvPr id="7" name="Text 5"/>
          <p:cNvSpPr txBox="1"/>
          <p:nvPr/>
        </p:nvSpPr>
        <p:spPr>
          <a:xfrm>
            <a:off x="548640" y="3223260"/>
            <a:ext cx="4572000" cy="521208"/>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Correcting only the round in which a lie was caught removed 10–46% of the harm.</a:t>
            </a:r>
            <a:endParaRPr lang="en-US" sz="1400" dirty="0"/>
          </a:p>
        </p:txBody>
      </p:sp>
      <p:sp>
        <p:nvSpPr>
          <p:cNvPr id="8" name="Text 6"/>
          <p:cNvSpPr txBox="1"/>
          <p:nvPr/>
        </p:nvSpPr>
        <p:spPr>
          <a:xfrm>
            <a:off x="548640" y="3909060"/>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Checks with memory</a:t>
            </a:r>
            <a:endParaRPr lang="en-US" sz="1700" dirty="0"/>
          </a:p>
        </p:txBody>
      </p:sp>
      <p:sp>
        <p:nvSpPr>
          <p:cNvPr id="9" name="Text 7"/>
          <p:cNvSpPr txBox="1"/>
          <p:nvPr/>
        </p:nvSpPr>
        <p:spPr>
          <a:xfrm>
            <a:off x="548640" y="4293108"/>
            <a:ext cx="4572000" cy="969264"/>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Remembering each caught lie and adjusting that agent's later allowances reduced harm in all 12 settings tested. In Fishery, rounds below half capacity fell from 43–99% to 0.3–3%.</a:t>
            </a:r>
            <a:endParaRPr lang="en-US" sz="1400" dirty="0"/>
          </a:p>
        </p:txBody>
      </p:sp>
      <p:pic>
        <p:nvPicPr>
          <p:cNvPr id="10" name="Image 0" descr="fig3_audits_memory.png">    </p:cNvPr>
          <p:cNvPicPr>
            <a:picLocks noChangeAspect="1"/>
          </p:cNvPicPr>
          <p:nvPr/>
        </p:nvPicPr>
        <p:blipFill>
          <a:blip r:embed="rId1"/>
          <a:stretch>
            <a:fillRect/>
          </a:stretch>
        </p:blipFill>
        <p:spPr>
          <a:xfrm>
            <a:off x="5532120" y="2086674"/>
            <a:ext cx="6110935" cy="2766948"/>
          </a:xfrm>
          <a:prstGeom prst="rect">
            <a:avLst/>
          </a:prstGeom>
        </p:spPr>
      </p:pic>
      <p:sp>
        <p:nvSpPr>
          <p:cNvPr id="11" name="Text 8"/>
          <p:cNvSpPr txBox="1"/>
          <p:nvPr/>
        </p:nvSpPr>
        <p:spPr>
          <a:xfrm>
            <a:off x="5532120" y="4963350"/>
            <a:ext cx="611093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Share of rounds below half capacity when some agents under-report. Dark: no checks. Light: checks without memory. Green: checks with memory. Each group has four settings: 2 or 4 misbehaving agents (2g, 4g) and two regrowth rates (1.0 and 0.85 of normal).</a:t>
            </a:r>
            <a:endParaRPr lang="en-US" sz="1100" dirty="0"/>
          </a:p>
        </p:txBody>
      </p:sp>
      <p:sp>
        <p:nvSpPr>
          <p:cNvPr id="12" name="Text 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lIns="0" tIns="0" rIns="0" bIns="0" rtlCol="0" anchor="b"/>
          <a:lstStyle/>
          <a:p>
            <a:pPr algn="ctr" indent="0" marL="0">
              <a:lnSpc>
                <a:spcPct val="95000"/>
              </a:lnSpc>
              <a:buNone/>
            </a:pPr>
            <a:r>
              <a:rPr lang="en-US" sz="3200" b="1" dirty="0">
                <a:solidFill>
                  <a:srgbClr val="062746"/>
                </a:solidFill>
                <a:latin typeface="Georgia" pitchFamily="34" charset="0"/>
                <a:ea typeface="Georgia" pitchFamily="34" charset="-122"/>
                <a:cs typeface="Georgia" pitchFamily="34" charset="-120"/>
              </a:rPr>
              <a:t>Finding 2: Language Models Stop Where Predicted</a:t>
            </a:r>
            <a:endParaRPr lang="en-US" sz="3200" dirty="0"/>
          </a:p>
        </p:txBody>
      </p:sp>
      <p:pic>
        <p:nvPicPr>
          <p:cNvPr id="3" name="Image 0" descr="fig4_llm_main.png">    </p:cNvPr>
          <p:cNvPicPr>
            <a:picLocks noChangeAspect="1"/>
          </p:cNvPicPr>
          <p:nvPr/>
        </p:nvPicPr>
        <p:blipFill>
          <a:blip r:embed="rId1"/>
          <a:stretch>
            <a:fillRect/>
          </a:stretch>
        </p:blipFill>
        <p:spPr>
          <a:xfrm>
            <a:off x="1757583" y="1234440"/>
            <a:ext cx="8676530" cy="3977640"/>
          </a:xfrm>
          <a:prstGeom prst="rect">
            <a:avLst/>
          </a:prstGeom>
        </p:spPr>
      </p:pic>
      <p:sp>
        <p:nvSpPr>
          <p:cNvPr id="4" name="Text 1"/>
          <p:cNvSpPr txBox="1"/>
          <p:nvPr/>
        </p:nvSpPr>
        <p:spPr>
          <a:xfrm>
            <a:off x="1463040" y="5303520"/>
            <a:ext cx="926561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Four open language models each controlled four of the six fishers (520 games). Left: share of rounds in which a model took more than its allowance, at each fine, with a 1 in 6 chance of a check. Triangles: stopping fine predicted before testing (open) and observed (filled). Right: catch left for the two rule-following fishers.</a:t>
            </a:r>
            <a:endParaRPr lang="en-US" sz="1100" dirty="0"/>
          </a:p>
        </p:txBody>
      </p:sp>
      <p:sp>
        <p:nvSpPr>
          <p:cNvPr id="5" name="Text 2"/>
          <p:cNvSpPr txBox="1"/>
          <p:nvPr/>
        </p:nvSpPr>
        <p:spPr>
          <a:xfrm>
            <a:off x="1005840" y="5897880"/>
            <a:ext cx="10180015" cy="411480"/>
          </a:xfrm>
          <a:prstGeom prst="rect">
            <a:avLst/>
          </a:prstGeom>
          <a:noFill/>
          <a:ln/>
        </p:spPr>
        <p:txBody>
          <a:bodyPr wrap="square" lIns="0" tIns="0" rIns="0" bIns="0" rtlCol="0" anchor="ctr"/>
          <a:lstStyle/>
          <a:p>
            <a:pPr algn="ctr" indent="0" marL="0">
              <a:buNone/>
            </a:pPr>
            <a:r>
              <a:rPr lang="en-US" sz="1700" b="1" dirty="0">
                <a:solidFill>
                  <a:srgbClr val="062746"/>
                </a:solidFill>
                <a:latin typeface="Georgia" pitchFamily="34" charset="0"/>
                <a:ea typeface="Georgia" pitchFamily="34" charset="-122"/>
                <a:cs typeface="Georgia" pitchFamily="34" charset="-120"/>
              </a:rPr>
              <a:t>Predicted before testing: 30 t. Observed: 30 t (Nemotron 3 Super), 24 t (gpt-oss-120b)</a:t>
            </a:r>
            <a:endParaRPr lang="en-US" sz="1700" dirty="0"/>
          </a:p>
        </p:txBody>
      </p:sp>
      <p:sp>
        <p:nvSpPr>
          <p:cNvPr id="6" name="Text 3"/>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More Findings, in Brief</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Shape 2"/>
          <p:cNvSpPr/>
          <p:nvPr/>
        </p:nvSpPr>
        <p:spPr>
          <a:xfrm>
            <a:off x="548640"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777240"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01   PROGRAMMED</a:t>
            </a:r>
            <a:endParaRPr lang="en-US" sz="1300" dirty="0"/>
          </a:p>
        </p:txBody>
      </p:sp>
      <p:sp>
        <p:nvSpPr>
          <p:cNvPr id="6" name="Text 4"/>
          <p:cNvSpPr txBox="1"/>
          <p:nvPr/>
        </p:nvSpPr>
        <p:spPr>
          <a:xfrm>
            <a:off x="777240" y="2276856"/>
            <a:ext cx="2110664" cy="969264"/>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The stopping fine is predictable</a:t>
            </a:r>
            <a:endParaRPr lang="en-US" sz="1700" dirty="0"/>
          </a:p>
        </p:txBody>
      </p:sp>
      <p:sp>
        <p:nvSpPr>
          <p:cNvPr id="7" name="Text 5"/>
          <p:cNvSpPr txBox="1"/>
          <p:nvPr/>
        </p:nvSpPr>
        <p:spPr>
          <a:xfrm>
            <a:off x="777240" y="3291840"/>
            <a:ext cx="2110664" cy="1920240"/>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Predicted in advance from games without checks: in 5 of 5 new settings, the observed stopping point was within one step of the prediction.</a:t>
            </a:r>
            <a:endParaRPr lang="en-US" sz="1350" dirty="0"/>
          </a:p>
        </p:txBody>
      </p:sp>
      <p:sp>
        <p:nvSpPr>
          <p:cNvPr id="8" name="Shape 6"/>
          <p:cNvSpPr/>
          <p:nvPr/>
        </p:nvSpPr>
        <p:spPr>
          <a:xfrm>
            <a:off x="3390824"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9" name="Text 7"/>
          <p:cNvSpPr txBox="1"/>
          <p:nvPr/>
        </p:nvSpPr>
        <p:spPr>
          <a:xfrm>
            <a:off x="3619424"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02   AUDIT DESIGN</a:t>
            </a:r>
            <a:endParaRPr lang="en-US" sz="1300" dirty="0"/>
          </a:p>
        </p:txBody>
      </p:sp>
      <p:sp>
        <p:nvSpPr>
          <p:cNvPr id="10" name="Text 8"/>
          <p:cNvSpPr txBox="1"/>
          <p:nvPr/>
        </p:nvSpPr>
        <p:spPr>
          <a:xfrm>
            <a:off x="3619424" y="2276856"/>
            <a:ext cx="2110664" cy="676656"/>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Two shortcuts backfire</a:t>
            </a:r>
            <a:endParaRPr lang="en-US" sz="1700" dirty="0"/>
          </a:p>
        </p:txBody>
      </p:sp>
      <p:sp>
        <p:nvSpPr>
          <p:cNvPr id="11" name="Text 9"/>
          <p:cNvSpPr txBox="1"/>
          <p:nvPr/>
        </p:nvSpPr>
        <p:spPr>
          <a:xfrm>
            <a:off x="3619424" y="2999232"/>
            <a:ext cx="2110664" cy="2212848"/>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Always checking the largest request caught 25% of liars, against 100% with random checks. Lowering everyone's allowance let cheaters gain more than with no checks (142 vs 113).</a:t>
            </a:r>
            <a:endParaRPr lang="en-US" sz="1350" dirty="0"/>
          </a:p>
        </p:txBody>
      </p:sp>
      <p:sp>
        <p:nvSpPr>
          <p:cNvPr id="12" name="Shape 10"/>
          <p:cNvSpPr/>
          <p:nvPr/>
        </p:nvSpPr>
        <p:spPr>
          <a:xfrm>
            <a:off x="6233008"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13" name="Text 11"/>
          <p:cNvSpPr txBox="1"/>
          <p:nvPr/>
        </p:nvSpPr>
        <p:spPr>
          <a:xfrm>
            <a:off x="6461608"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03   LANGUAGE MODELS</a:t>
            </a:r>
            <a:endParaRPr lang="en-US" sz="1300" dirty="0"/>
          </a:p>
        </p:txBody>
      </p:sp>
      <p:sp>
        <p:nvSpPr>
          <p:cNvPr id="14" name="Text 12"/>
          <p:cNvSpPr txBox="1"/>
          <p:nvPr/>
        </p:nvSpPr>
        <p:spPr>
          <a:xfrm>
            <a:off x="6461608" y="2276856"/>
            <a:ext cx="2110664" cy="676656"/>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Memory works without a fine</a:t>
            </a:r>
            <a:endParaRPr lang="en-US" sz="1700" dirty="0"/>
          </a:p>
        </p:txBody>
      </p:sp>
      <p:sp>
        <p:nvSpPr>
          <p:cNvPr id="15" name="Text 13"/>
          <p:cNvSpPr txBox="1"/>
          <p:nvPr/>
        </p:nvSpPr>
        <p:spPr>
          <a:xfrm>
            <a:off x="6461608" y="2999232"/>
            <a:ext cx="2110664" cy="2212848"/>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With checks and memory but no fine, gpt-oss took more than its allowance in 20% of rounds instead of 55%, and no lake collapsed (5 of 10 without memory).</a:t>
            </a:r>
            <a:endParaRPr lang="en-US" sz="1350" dirty="0"/>
          </a:p>
        </p:txBody>
      </p:sp>
      <p:sp>
        <p:nvSpPr>
          <p:cNvPr id="16" name="Shape 14"/>
          <p:cNvSpPr/>
          <p:nvPr/>
        </p:nvSpPr>
        <p:spPr>
          <a:xfrm>
            <a:off x="9075191" y="1682496"/>
            <a:ext cx="2567864" cy="3758184"/>
          </a:xfrm>
          <a:prstGeom prst="roundRect">
            <a:avLst>
              <a:gd name="adj" fmla="val 2849"/>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17" name="Text 15"/>
          <p:cNvSpPr txBox="1"/>
          <p:nvPr/>
        </p:nvSpPr>
        <p:spPr>
          <a:xfrm>
            <a:off x="9303791" y="1883664"/>
            <a:ext cx="2110664" cy="320040"/>
          </a:xfrm>
          <a:prstGeom prst="rect">
            <a:avLst/>
          </a:prstGeom>
          <a:noFill/>
          <a:ln/>
        </p:spPr>
        <p:txBody>
          <a:bodyPr wrap="square" lIns="0" tIns="0" rIns="0" bIns="0" rtlCol="0" anchor="ctr"/>
          <a:lstStyle/>
          <a:p>
            <a:pPr indent="0" marL="0">
              <a:buNone/>
            </a:pPr>
            <a:r>
              <a:rPr lang="en-US" sz="1300" spc="100" kern="0" dirty="0">
                <a:solidFill>
                  <a:srgbClr val="8F8F8F"/>
                </a:solidFill>
                <a:latin typeface="Calibri Light" pitchFamily="34" charset="0"/>
                <a:ea typeface="Calibri Light" pitchFamily="34" charset="-122"/>
                <a:cs typeface="Calibri Light" pitchFamily="34" charset="-120"/>
              </a:rPr>
              <a:t>04   LANGUAGE MODELS</a:t>
            </a:r>
            <a:endParaRPr lang="en-US" sz="1300" dirty="0"/>
          </a:p>
        </p:txBody>
      </p:sp>
      <p:sp>
        <p:nvSpPr>
          <p:cNvPr id="18" name="Text 16"/>
          <p:cNvSpPr txBox="1"/>
          <p:nvPr/>
        </p:nvSpPr>
        <p:spPr>
          <a:xfrm>
            <a:off x="9303791" y="2276856"/>
            <a:ext cx="2110664" cy="969264"/>
          </a:xfrm>
          <a:prstGeom prst="rect">
            <a:avLst/>
          </a:prstGeom>
          <a:noFill/>
          <a:ln/>
        </p:spPr>
        <p:txBody>
          <a:bodyPr wrap="square" lIns="0" tIns="0" rIns="0" bIns="0" rtlCol="0" anchor="t"/>
          <a:lstStyle/>
          <a:p>
            <a:pPr indent="0" marL="0">
              <a:buNone/>
            </a:pPr>
            <a:r>
              <a:rPr lang="en-US" sz="1700" b="1" dirty="0">
                <a:solidFill>
                  <a:srgbClr val="062746"/>
                </a:solidFill>
                <a:latin typeface="Georgia" pitchFamily="34" charset="0"/>
                <a:ea typeface="Georgia" pitchFamily="34" charset="-122"/>
                <a:cs typeface="Georgia" pitchFamily="34" charset="-120"/>
              </a:rPr>
              <a:t>One round's gain predicts the stop</a:t>
            </a:r>
            <a:endParaRPr lang="en-US" sz="1700" dirty="0"/>
          </a:p>
        </p:txBody>
      </p:sp>
      <p:sp>
        <p:nvSpPr>
          <p:cNvPr id="19" name="Text 17"/>
          <p:cNvSpPr txBox="1"/>
          <p:nvPr/>
        </p:nvSpPr>
        <p:spPr>
          <a:xfrm>
            <a:off x="9303791" y="3291840"/>
            <a:ext cx="2110664" cy="1920240"/>
          </a:xfrm>
          <a:prstGeom prst="rect">
            <a:avLst/>
          </a:prstGeom>
          <a:noFill/>
          <a:ln/>
        </p:spPr>
        <p:txBody>
          <a:bodyPr wrap="square" lIns="0" tIns="0" rIns="0" bIns="0" rtlCol="0" anchor="t"/>
          <a:lstStyle/>
          <a:p>
            <a:pPr indent="0" marL="0">
              <a:buNone/>
            </a:pPr>
            <a:r>
              <a:rPr lang="en-US" sz="1350" dirty="0">
                <a:solidFill>
                  <a:srgbClr val="1C191A"/>
                </a:solidFill>
                <a:latin typeface="Calibri" pitchFamily="34" charset="0"/>
                <a:ea typeface="Calibri" pitchFamily="34" charset="-122"/>
                <a:cs typeface="Calibri" pitchFamily="34" charset="-120"/>
              </a:rPr>
              <a:t>Not what over-taking earned over the whole game. Both models also stopped earlier, and more gradually, than a perfect payoff-maximiser would.</a:t>
            </a:r>
            <a:endParaRPr lang="en-US" sz="1350" dirty="0"/>
          </a:p>
        </p:txBody>
      </p:sp>
      <p:sp>
        <p:nvSpPr>
          <p:cNvPr id="20" name="Text 18"/>
          <p:cNvSpPr txBox="1"/>
          <p:nvPr/>
        </p:nvSpPr>
        <p:spPr>
          <a:xfrm>
            <a:off x="548640" y="5852160"/>
            <a:ext cx="11094415" cy="411480"/>
          </a:xfrm>
          <a:prstGeom prst="rect">
            <a:avLst/>
          </a:prstGeom>
          <a:noFill/>
          <a:ln/>
        </p:spPr>
        <p:txBody>
          <a:bodyPr wrap="square" lIns="0" tIns="0" rIns="0" bIns="0" rtlCol="0" anchor="ctr"/>
          <a:lstStyle/>
          <a:p>
            <a:pPr algn="ctr" indent="0" marL="0">
              <a:buNone/>
            </a:pPr>
            <a:r>
              <a:rPr lang="en-US" sz="1500" i="1" dirty="0">
                <a:solidFill>
                  <a:srgbClr val="55524E"/>
                </a:solidFill>
                <a:latin typeface="Calibri" pitchFamily="34" charset="0"/>
                <a:ea typeface="Calibri" pitchFamily="34" charset="-122"/>
                <a:cs typeface="Calibri" pitchFamily="34" charset="-120"/>
              </a:rPr>
              <a:t>Each of these is shown in full in the backup slides</a:t>
            </a:r>
            <a:endParaRPr lang="en-US" sz="1500" dirty="0"/>
          </a:p>
        </p:txBody>
      </p:sp>
      <p:sp>
        <p:nvSpPr>
          <p:cNvPr id="21" name="Text 1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Running Now (Results Soon)</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5897880"/>
            <a:ext cx="11094415" cy="411480"/>
          </a:xfrm>
          <a:prstGeom prst="rect">
            <a:avLst/>
          </a:prstGeom>
          <a:noFill/>
          <a:ln/>
        </p:spPr>
        <p:txBody>
          <a:bodyPr wrap="square" lIns="0" tIns="0" rIns="0" bIns="0" rtlCol="0" anchor="ctr"/>
          <a:lstStyle/>
          <a:p>
            <a:pPr algn="ctr" indent="0" marL="0">
              <a:buNone/>
            </a:pPr>
            <a:r>
              <a:rPr lang="en-US" sz="1400" i="1" dirty="0">
                <a:solidFill>
                  <a:srgbClr val="55524E"/>
                </a:solidFill>
                <a:latin typeface="Calibri" pitchFamily="34" charset="0"/>
                <a:ea typeface="Calibri" pitchFamily="34" charset="-122"/>
                <a:cs typeface="Calibri" pitchFamily="34" charset="-120"/>
              </a:rPr>
              <a:t>Next: AAAI-27 workshop and arXiv (20 Nov), then a main conference in January (IJCAI or ICML; dates estimated)</a:t>
            </a:r>
            <a:endParaRPr lang="en-US" sz="1400" dirty="0"/>
          </a:p>
        </p:txBody>
      </p:sp>
      <p:sp>
        <p:nvSpPr>
          <p:cNvPr id="5" name="Text 3"/>
          <p:cNvSpPr txBox="1"/>
          <p:nvPr/>
        </p:nvSpPr>
        <p:spPr>
          <a:xfrm>
            <a:off x="548640" y="1545336"/>
            <a:ext cx="521208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Expected fine, or the size of the fine?</a:t>
            </a:r>
            <a:endParaRPr lang="en-US" sz="1600" dirty="0"/>
          </a:p>
        </p:txBody>
      </p:sp>
      <p:sp>
        <p:nvSpPr>
          <p:cNvPr id="6" name="Text 4"/>
          <p:cNvSpPr txBox="1"/>
          <p:nvPr/>
        </p:nvSpPr>
        <p:spPr>
          <a:xfrm>
            <a:off x="548640" y="1874520"/>
            <a:ext cx="5212080" cy="619506"/>
          </a:xfrm>
          <a:prstGeom prst="rect">
            <a:avLst/>
          </a:prstGeom>
          <a:noFill/>
          <a:ln/>
        </p:spPr>
        <p:txBody>
          <a:bodyPr wrap="square" lIns="0" tIns="0" rIns="0" bIns="0" rtlCol="0" anchor="t"/>
          <a:lstStyle/>
          <a:p>
            <a:pPr indent="0" marL="0">
              <a:buNone/>
            </a:pPr>
            <a:r>
              <a:rPr lang="en-US" sz="1250" dirty="0">
                <a:solidFill>
                  <a:srgbClr val="55524E"/>
                </a:solidFill>
                <a:latin typeface="Calibri" pitchFamily="34" charset="0"/>
                <a:ea typeface="Calibri" pitchFamily="34" charset="-122"/>
                <a:cs typeface="Calibri" pitchFamily="34" charset="-120"/>
              </a:rPr>
              <a:t>Same expected fine (2 t or 3 t), made up differently: 1 in 3 checked with a small fine, 1 in 6, or 1 in 12 with a large fine. gpt-oss-120b, 20 new games per condition.</a:t>
            </a:r>
            <a:endParaRPr lang="en-US" sz="1250" dirty="0"/>
          </a:p>
        </p:txBody>
      </p:sp>
      <p:sp>
        <p:nvSpPr>
          <p:cNvPr id="7" name="Shape 5"/>
          <p:cNvSpPr/>
          <p:nvPr/>
        </p:nvSpPr>
        <p:spPr>
          <a:xfrm>
            <a:off x="6080760" y="1545336"/>
            <a:ext cx="5562295" cy="912114"/>
          </a:xfrm>
          <a:prstGeom prst="roundRect">
            <a:avLst>
              <a:gd name="adj" fmla="val 6015"/>
            </a:avLst>
          </a:prstGeom>
          <a:solidFill>
            <a:srgbClr val="FFFFFF"/>
          </a:solidFill>
          <a:ln w="12700">
            <a:solidFill>
              <a:srgbClr val="C9C6C1"/>
            </a:solidFill>
            <a:prstDash val="dash"/>
          </a:ln>
        </p:spPr>
      </p:sp>
      <p:sp>
        <p:nvSpPr>
          <p:cNvPr id="8" name="Text 6"/>
          <p:cNvSpPr txBox="1"/>
          <p:nvPr/>
        </p:nvSpPr>
        <p:spPr>
          <a:xfrm>
            <a:off x="6217920" y="1618488"/>
            <a:ext cx="5287975" cy="274320"/>
          </a:xfrm>
          <a:prstGeom prst="rect">
            <a:avLst/>
          </a:prstGeom>
          <a:noFill/>
          <a:ln/>
        </p:spPr>
        <p:txBody>
          <a:bodyPr wrap="square" lIns="0" tIns="0" rIns="0" bIns="0" rtlCol="0" anchor="t"/>
          <a:lstStyle/>
          <a:p>
            <a:pPr indent="0" marL="0">
              <a:buNone/>
            </a:pPr>
            <a:r>
              <a:rPr lang="en-US" sz="1100" i="1" dirty="0">
                <a:solidFill>
                  <a:srgbClr val="8F8F8F"/>
                </a:solidFill>
                <a:latin typeface="Calibri" pitchFamily="34" charset="0"/>
                <a:ea typeface="Calibri" pitchFamily="34" charset="-122"/>
                <a:cs typeface="Calibri" pitchFamily="34" charset="-120"/>
              </a:rPr>
              <a:t>Result (to fill in):</a:t>
            </a:r>
            <a:endParaRPr lang="en-US" sz="1100" dirty="0"/>
          </a:p>
        </p:txBody>
      </p:sp>
      <p:sp>
        <p:nvSpPr>
          <p:cNvPr id="9" name="Text 7"/>
          <p:cNvSpPr txBox="1"/>
          <p:nvPr/>
        </p:nvSpPr>
        <p:spPr>
          <a:xfrm>
            <a:off x="548640" y="2622042"/>
            <a:ext cx="521208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Does the prediction hold on new games?</a:t>
            </a:r>
            <a:endParaRPr lang="en-US" sz="1600" dirty="0"/>
          </a:p>
        </p:txBody>
      </p:sp>
      <p:sp>
        <p:nvSpPr>
          <p:cNvPr id="10" name="Text 8"/>
          <p:cNvSpPr txBox="1"/>
          <p:nvPr/>
        </p:nvSpPr>
        <p:spPr>
          <a:xfrm>
            <a:off x="548640" y="2951226"/>
            <a:ext cx="5212080" cy="619506"/>
          </a:xfrm>
          <a:prstGeom prst="rect">
            <a:avLst/>
          </a:prstGeom>
          <a:noFill/>
          <a:ln/>
        </p:spPr>
        <p:txBody>
          <a:bodyPr wrap="square" lIns="0" tIns="0" rIns="0" bIns="0" rtlCol="0" anchor="t"/>
          <a:lstStyle/>
          <a:p>
            <a:pPr indent="0" marL="0">
              <a:buNone/>
            </a:pPr>
            <a:r>
              <a:rPr lang="en-US" sz="1250" dirty="0">
                <a:solidFill>
                  <a:srgbClr val="55524E"/>
                </a:solidFill>
                <a:latin typeface="Calibri" pitchFamily="34" charset="0"/>
                <a:ea typeface="Calibri" pitchFamily="34" charset="-122"/>
                <a:cs typeface="Calibri" pitchFamily="34" charset="-120"/>
              </a:rPr>
              <a:t>Stopping fine recorded in advance (30 t for both models), tested on 10 new games and with the rules reworded.</a:t>
            </a:r>
            <a:endParaRPr lang="en-US" sz="1250" dirty="0"/>
          </a:p>
        </p:txBody>
      </p:sp>
      <p:sp>
        <p:nvSpPr>
          <p:cNvPr id="11" name="Shape 9"/>
          <p:cNvSpPr/>
          <p:nvPr/>
        </p:nvSpPr>
        <p:spPr>
          <a:xfrm>
            <a:off x="6080760" y="2622042"/>
            <a:ext cx="5562295" cy="912114"/>
          </a:xfrm>
          <a:prstGeom prst="roundRect">
            <a:avLst>
              <a:gd name="adj" fmla="val 6015"/>
            </a:avLst>
          </a:prstGeom>
          <a:solidFill>
            <a:srgbClr val="FFFFFF"/>
          </a:solidFill>
          <a:ln w="12700">
            <a:solidFill>
              <a:srgbClr val="C9C6C1"/>
            </a:solidFill>
            <a:prstDash val="dash"/>
          </a:ln>
        </p:spPr>
      </p:sp>
      <p:sp>
        <p:nvSpPr>
          <p:cNvPr id="12" name="Text 10"/>
          <p:cNvSpPr txBox="1"/>
          <p:nvPr/>
        </p:nvSpPr>
        <p:spPr>
          <a:xfrm>
            <a:off x="6217920" y="2695194"/>
            <a:ext cx="5287975" cy="274320"/>
          </a:xfrm>
          <a:prstGeom prst="rect">
            <a:avLst/>
          </a:prstGeom>
          <a:noFill/>
          <a:ln/>
        </p:spPr>
        <p:txBody>
          <a:bodyPr wrap="square" lIns="0" tIns="0" rIns="0" bIns="0" rtlCol="0" anchor="t"/>
          <a:lstStyle/>
          <a:p>
            <a:pPr indent="0" marL="0">
              <a:buNone/>
            </a:pPr>
            <a:r>
              <a:rPr lang="en-US" sz="1100" i="1" dirty="0">
                <a:solidFill>
                  <a:srgbClr val="8F8F8F"/>
                </a:solidFill>
                <a:latin typeface="Calibri" pitchFamily="34" charset="0"/>
                <a:ea typeface="Calibri" pitchFamily="34" charset="-122"/>
                <a:cs typeface="Calibri" pitchFamily="34" charset="-120"/>
              </a:rPr>
              <a:t>Result (to fill in):</a:t>
            </a:r>
            <a:endParaRPr lang="en-US" sz="1100" dirty="0"/>
          </a:p>
        </p:txBody>
      </p:sp>
      <p:sp>
        <p:nvSpPr>
          <p:cNvPr id="13" name="Text 11"/>
          <p:cNvSpPr txBox="1"/>
          <p:nvPr/>
        </p:nvSpPr>
        <p:spPr>
          <a:xfrm>
            <a:off x="548640" y="3698748"/>
            <a:ext cx="521208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What if nothing is ever checked?</a:t>
            </a:r>
            <a:endParaRPr lang="en-US" sz="1600" dirty="0"/>
          </a:p>
        </p:txBody>
      </p:sp>
      <p:sp>
        <p:nvSpPr>
          <p:cNvPr id="14" name="Text 12"/>
          <p:cNvSpPr txBox="1"/>
          <p:nvPr/>
        </p:nvSpPr>
        <p:spPr>
          <a:xfrm>
            <a:off x="548640" y="4027932"/>
            <a:ext cx="5212080" cy="619506"/>
          </a:xfrm>
          <a:prstGeom prst="rect">
            <a:avLst/>
          </a:prstGeom>
          <a:noFill/>
          <a:ln/>
        </p:spPr>
        <p:txBody>
          <a:bodyPr wrap="square" lIns="0" tIns="0" rIns="0" bIns="0" rtlCol="0" anchor="t"/>
          <a:lstStyle/>
          <a:p>
            <a:pPr indent="0" marL="0">
              <a:buNone/>
            </a:pPr>
            <a:r>
              <a:rPr lang="en-US" sz="1250" dirty="0">
                <a:solidFill>
                  <a:srgbClr val="55524E"/>
                </a:solidFill>
                <a:latin typeface="Calibri" pitchFamily="34" charset="0"/>
                <a:ea typeface="Calibri" pitchFamily="34" charset="-122"/>
                <a:cs typeface="Calibri" pitchFamily="34" charset="-120"/>
              </a:rPr>
              <a:t>Rules that never mention checks, compared with checks that carry no fine.</a:t>
            </a:r>
            <a:endParaRPr lang="en-US" sz="1250" dirty="0"/>
          </a:p>
        </p:txBody>
      </p:sp>
      <p:sp>
        <p:nvSpPr>
          <p:cNvPr id="15" name="Shape 13"/>
          <p:cNvSpPr/>
          <p:nvPr/>
        </p:nvSpPr>
        <p:spPr>
          <a:xfrm>
            <a:off x="6080760" y="3698748"/>
            <a:ext cx="5562295" cy="912114"/>
          </a:xfrm>
          <a:prstGeom prst="roundRect">
            <a:avLst>
              <a:gd name="adj" fmla="val 6015"/>
            </a:avLst>
          </a:prstGeom>
          <a:solidFill>
            <a:srgbClr val="FFFFFF"/>
          </a:solidFill>
          <a:ln w="12700">
            <a:solidFill>
              <a:srgbClr val="C9C6C1"/>
            </a:solidFill>
            <a:prstDash val="dash"/>
          </a:ln>
        </p:spPr>
      </p:sp>
      <p:sp>
        <p:nvSpPr>
          <p:cNvPr id="16" name="Text 14"/>
          <p:cNvSpPr txBox="1"/>
          <p:nvPr/>
        </p:nvSpPr>
        <p:spPr>
          <a:xfrm>
            <a:off x="6217920" y="3771900"/>
            <a:ext cx="5287975" cy="274320"/>
          </a:xfrm>
          <a:prstGeom prst="rect">
            <a:avLst/>
          </a:prstGeom>
          <a:noFill/>
          <a:ln/>
        </p:spPr>
        <p:txBody>
          <a:bodyPr wrap="square" lIns="0" tIns="0" rIns="0" bIns="0" rtlCol="0" anchor="t"/>
          <a:lstStyle/>
          <a:p>
            <a:pPr indent="0" marL="0">
              <a:buNone/>
            </a:pPr>
            <a:r>
              <a:rPr lang="en-US" sz="1100" i="1" dirty="0">
                <a:solidFill>
                  <a:srgbClr val="8F8F8F"/>
                </a:solidFill>
                <a:latin typeface="Calibri" pitchFamily="34" charset="0"/>
                <a:ea typeface="Calibri" pitchFamily="34" charset="-122"/>
                <a:cs typeface="Calibri" pitchFamily="34" charset="-120"/>
              </a:rPr>
              <a:t>Result (to fill in):</a:t>
            </a:r>
            <a:endParaRPr lang="en-US" sz="1100" dirty="0"/>
          </a:p>
        </p:txBody>
      </p:sp>
      <p:sp>
        <p:nvSpPr>
          <p:cNvPr id="17" name="Text 15"/>
          <p:cNvSpPr txBox="1"/>
          <p:nvPr/>
        </p:nvSpPr>
        <p:spPr>
          <a:xfrm>
            <a:off x="548640" y="4775454"/>
            <a:ext cx="5212080" cy="347472"/>
          </a:xfrm>
          <a:prstGeom prst="rect">
            <a:avLst/>
          </a:prstGeom>
          <a:noFill/>
          <a:ln/>
        </p:spPr>
        <p:txBody>
          <a:bodyPr wrap="square" lIns="0" tIns="0" rIns="0" bIns="0" rtlCol="0" anchor="t"/>
          <a:lstStyle/>
          <a:p>
            <a:pPr indent="0" marL="0">
              <a:buNone/>
            </a:pPr>
            <a:r>
              <a:rPr lang="en-US" sz="1600" b="1" dirty="0">
                <a:solidFill>
                  <a:srgbClr val="1C191A"/>
                </a:solidFill>
                <a:latin typeface="Georgia" pitchFamily="34" charset="0"/>
                <a:ea typeface="Georgia" pitchFamily="34" charset="-122"/>
                <a:cs typeface="Georgia" pitchFamily="34" charset="-120"/>
              </a:rPr>
              <a:t>Does over-taking spread to neighbours?</a:t>
            </a:r>
            <a:endParaRPr lang="en-US" sz="1600" dirty="0"/>
          </a:p>
        </p:txBody>
      </p:sp>
      <p:sp>
        <p:nvSpPr>
          <p:cNvPr id="18" name="Text 16"/>
          <p:cNvSpPr txBox="1"/>
          <p:nvPr/>
        </p:nvSpPr>
        <p:spPr>
          <a:xfrm>
            <a:off x="548640" y="5104638"/>
            <a:ext cx="5212080" cy="619506"/>
          </a:xfrm>
          <a:prstGeom prst="rect">
            <a:avLst/>
          </a:prstGeom>
          <a:noFill/>
          <a:ln/>
        </p:spPr>
        <p:txBody>
          <a:bodyPr wrap="square" lIns="0" tIns="0" rIns="0" bIns="0" rtlCol="0" anchor="t"/>
          <a:lstStyle/>
          <a:p>
            <a:pPr indent="0" marL="0">
              <a:buNone/>
            </a:pPr>
            <a:r>
              <a:rPr lang="en-US" sz="1250" dirty="0">
                <a:solidFill>
                  <a:srgbClr val="55524E"/>
                </a:solidFill>
                <a:latin typeface="Calibri" pitchFamily="34" charset="0"/>
                <a:ea typeface="Calibri" pitchFamily="34" charset="-122"/>
                <a:cs typeface="Calibri" pitchFamily="34" charset="-120"/>
              </a:rPr>
              <a:t>Forest: one programmed over-taker among five language-model agents; neighbours' cuts either hidden or visible.</a:t>
            </a:r>
            <a:endParaRPr lang="en-US" sz="1250" dirty="0"/>
          </a:p>
        </p:txBody>
      </p:sp>
      <p:sp>
        <p:nvSpPr>
          <p:cNvPr id="19" name="Shape 17"/>
          <p:cNvSpPr/>
          <p:nvPr/>
        </p:nvSpPr>
        <p:spPr>
          <a:xfrm>
            <a:off x="6080760" y="4775454"/>
            <a:ext cx="5562295" cy="912114"/>
          </a:xfrm>
          <a:prstGeom prst="roundRect">
            <a:avLst>
              <a:gd name="adj" fmla="val 6015"/>
            </a:avLst>
          </a:prstGeom>
          <a:solidFill>
            <a:srgbClr val="FFFFFF"/>
          </a:solidFill>
          <a:ln w="12700">
            <a:solidFill>
              <a:srgbClr val="C9C6C1"/>
            </a:solidFill>
            <a:prstDash val="dash"/>
          </a:ln>
        </p:spPr>
      </p:sp>
      <p:sp>
        <p:nvSpPr>
          <p:cNvPr id="20" name="Text 18"/>
          <p:cNvSpPr txBox="1"/>
          <p:nvPr/>
        </p:nvSpPr>
        <p:spPr>
          <a:xfrm>
            <a:off x="6217920" y="4848606"/>
            <a:ext cx="5287975" cy="274320"/>
          </a:xfrm>
          <a:prstGeom prst="rect">
            <a:avLst/>
          </a:prstGeom>
          <a:noFill/>
          <a:ln/>
        </p:spPr>
        <p:txBody>
          <a:bodyPr wrap="square" lIns="0" tIns="0" rIns="0" bIns="0" rtlCol="0" anchor="t"/>
          <a:lstStyle/>
          <a:p>
            <a:pPr indent="0" marL="0">
              <a:buNone/>
            </a:pPr>
            <a:r>
              <a:rPr lang="en-US" sz="1100" i="1" dirty="0">
                <a:solidFill>
                  <a:srgbClr val="8F8F8F"/>
                </a:solidFill>
                <a:latin typeface="Calibri" pitchFamily="34" charset="0"/>
                <a:ea typeface="Calibri" pitchFamily="34" charset="-122"/>
                <a:cs typeface="Calibri" pitchFamily="34" charset="-120"/>
              </a:rPr>
              <a:t>Result (to fill in):</a:t>
            </a:r>
            <a:endParaRPr lang="en-US" sz="1100" dirty="0"/>
          </a:p>
        </p:txBody>
      </p:sp>
      <p:sp>
        <p:nvSpPr>
          <p:cNvPr id="21" name="Text 1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613855" y="365760"/>
            <a:ext cx="5029200" cy="1188720"/>
          </a:xfrm>
          <a:prstGeom prst="rect">
            <a:avLst/>
          </a:prstGeom>
          <a:noFill/>
          <a:ln/>
        </p:spPr>
        <p:txBody>
          <a:bodyPr wrap="square" lIns="0" tIns="0" rIns="0" bIns="0" rtlCol="0" anchor="b"/>
          <a:lstStyle/>
          <a:p>
            <a:pPr algn="r" indent="0" marL="0">
              <a:lnSpc>
                <a:spcPct val="95000"/>
              </a:lnSpc>
              <a:buNone/>
            </a:pPr>
            <a:r>
              <a:rPr lang="en-US" sz="3600" b="1" dirty="0">
                <a:solidFill>
                  <a:srgbClr val="062746"/>
                </a:solidFill>
                <a:latin typeface="Georgia" pitchFamily="34" charset="0"/>
                <a:ea typeface="Georgia" pitchFamily="34" charset="-122"/>
                <a:cs typeface="Georgia" pitchFamily="34" charset="-120"/>
              </a:rPr>
              <a:t>Questions for You</a:t>
            </a:r>
            <a:endParaRPr lang="en-US" sz="3600" dirty="0"/>
          </a:p>
        </p:txBody>
      </p:sp>
      <p:sp>
        <p:nvSpPr>
          <p:cNvPr id="3" name="Shape 1"/>
          <p:cNvSpPr/>
          <p:nvPr/>
        </p:nvSpPr>
        <p:spPr>
          <a:xfrm>
            <a:off x="8351215" y="168249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2148840"/>
            <a:ext cx="731520" cy="457200"/>
          </a:xfrm>
          <a:prstGeom prst="rect">
            <a:avLst/>
          </a:prstGeom>
          <a:noFill/>
          <a:ln/>
        </p:spPr>
        <p:txBody>
          <a:bodyPr wrap="square" lIns="0" tIns="0" rIns="0" bIns="0" rtlCol="0" anchor="t"/>
          <a:lstStyle/>
          <a:p>
            <a:pPr indent="0" marL="0">
              <a:buNone/>
            </a:pPr>
            <a:r>
              <a:rPr lang="en-US" sz="2600" dirty="0">
                <a:solidFill>
                  <a:srgbClr val="8F8F8F"/>
                </a:solidFill>
                <a:latin typeface="Calibri Light" pitchFamily="34" charset="0"/>
                <a:ea typeface="Calibri Light" pitchFamily="34" charset="-122"/>
                <a:cs typeface="Calibri Light" pitchFamily="34" charset="-120"/>
              </a:rPr>
              <a:t>01</a:t>
            </a:r>
            <a:endParaRPr lang="en-US" sz="2600" dirty="0"/>
          </a:p>
        </p:txBody>
      </p:sp>
      <p:sp>
        <p:nvSpPr>
          <p:cNvPr id="5" name="Text 3"/>
          <p:cNvSpPr txBox="1"/>
          <p:nvPr/>
        </p:nvSpPr>
        <p:spPr>
          <a:xfrm>
            <a:off x="1417320" y="2167128"/>
            <a:ext cx="10180015" cy="960120"/>
          </a:xfrm>
          <a:prstGeom prst="rect">
            <a:avLst/>
          </a:prstGeom>
          <a:noFill/>
          <a:ln/>
        </p:spPr>
        <p:txBody>
          <a:bodyPr wrap="square" lIns="0" tIns="0" rIns="0" bIns="0" rtlCol="0" anchor="t"/>
          <a:lstStyle/>
          <a:p>
            <a:pPr indent="0" marL="0">
              <a:buNone/>
            </a:pPr>
            <a:r>
              <a:rPr lang="en-US" sz="1800" dirty="0">
                <a:solidFill>
                  <a:srgbClr val="1C191A"/>
                </a:solidFill>
                <a:latin typeface="Georgia" pitchFamily="34" charset="0"/>
                <a:ea typeface="Georgia" pitchFamily="34" charset="-122"/>
                <a:cs typeface="Georgia" pitchFamily="34" charset="-120"/>
              </a:rPr>
              <a:t>Is "taking more than your allowance" a fair stand-in for an AI agent misbehaving?</a:t>
            </a:r>
            <a:endParaRPr lang="en-US" sz="1800" dirty="0"/>
          </a:p>
        </p:txBody>
      </p:sp>
      <p:sp>
        <p:nvSpPr>
          <p:cNvPr id="6" name="Text 4"/>
          <p:cNvSpPr txBox="1"/>
          <p:nvPr/>
        </p:nvSpPr>
        <p:spPr>
          <a:xfrm>
            <a:off x="548640" y="3246120"/>
            <a:ext cx="731520" cy="457200"/>
          </a:xfrm>
          <a:prstGeom prst="rect">
            <a:avLst/>
          </a:prstGeom>
          <a:noFill/>
          <a:ln/>
        </p:spPr>
        <p:txBody>
          <a:bodyPr wrap="square" lIns="0" tIns="0" rIns="0" bIns="0" rtlCol="0" anchor="t"/>
          <a:lstStyle/>
          <a:p>
            <a:pPr indent="0" marL="0">
              <a:buNone/>
            </a:pPr>
            <a:r>
              <a:rPr lang="en-US" sz="2600" dirty="0">
                <a:solidFill>
                  <a:srgbClr val="8F8F8F"/>
                </a:solidFill>
                <a:latin typeface="Calibri Light" pitchFamily="34" charset="0"/>
                <a:ea typeface="Calibri Light" pitchFamily="34" charset="-122"/>
                <a:cs typeface="Calibri Light" pitchFamily="34" charset="-120"/>
              </a:rPr>
              <a:t>02</a:t>
            </a:r>
            <a:endParaRPr lang="en-US" sz="2600" dirty="0"/>
          </a:p>
        </p:txBody>
      </p:sp>
      <p:sp>
        <p:nvSpPr>
          <p:cNvPr id="7" name="Text 5"/>
          <p:cNvSpPr txBox="1"/>
          <p:nvPr/>
        </p:nvSpPr>
        <p:spPr>
          <a:xfrm>
            <a:off x="1417320" y="3264408"/>
            <a:ext cx="10180015" cy="960120"/>
          </a:xfrm>
          <a:prstGeom prst="rect">
            <a:avLst/>
          </a:prstGeom>
          <a:noFill/>
          <a:ln/>
        </p:spPr>
        <p:txBody>
          <a:bodyPr wrap="square" lIns="0" tIns="0" rIns="0" bIns="0" rtlCol="0" anchor="t"/>
          <a:lstStyle/>
          <a:p>
            <a:pPr indent="0" marL="0">
              <a:buNone/>
            </a:pPr>
            <a:r>
              <a:rPr lang="en-US" sz="1800" dirty="0">
                <a:solidFill>
                  <a:srgbClr val="1C191A"/>
                </a:solidFill>
                <a:latin typeface="Georgia" pitchFamily="34" charset="0"/>
                <a:ea typeface="Georgia" pitchFamily="34" charset="-122"/>
                <a:cs typeface="Georgia" pitchFamily="34" charset="-120"/>
              </a:rPr>
              <a:t>If a fine works under one wording of the rules, how far would you trust it under another?</a:t>
            </a:r>
            <a:endParaRPr lang="en-US" sz="1800" dirty="0"/>
          </a:p>
        </p:txBody>
      </p:sp>
      <p:sp>
        <p:nvSpPr>
          <p:cNvPr id="8" name="Text 6"/>
          <p:cNvSpPr txBox="1"/>
          <p:nvPr/>
        </p:nvSpPr>
        <p:spPr>
          <a:xfrm>
            <a:off x="548640" y="4343400"/>
            <a:ext cx="731520" cy="457200"/>
          </a:xfrm>
          <a:prstGeom prst="rect">
            <a:avLst/>
          </a:prstGeom>
          <a:noFill/>
          <a:ln/>
        </p:spPr>
        <p:txBody>
          <a:bodyPr wrap="square" lIns="0" tIns="0" rIns="0" bIns="0" rtlCol="0" anchor="t"/>
          <a:lstStyle/>
          <a:p>
            <a:pPr indent="0" marL="0">
              <a:buNone/>
            </a:pPr>
            <a:r>
              <a:rPr lang="en-US" sz="2600" dirty="0">
                <a:solidFill>
                  <a:srgbClr val="8F8F8F"/>
                </a:solidFill>
                <a:latin typeface="Calibri Light" pitchFamily="34" charset="0"/>
                <a:ea typeface="Calibri Light" pitchFamily="34" charset="-122"/>
                <a:cs typeface="Calibri Light" pitchFamily="34" charset="-120"/>
              </a:rPr>
              <a:t>03</a:t>
            </a:r>
            <a:endParaRPr lang="en-US" sz="2600" dirty="0"/>
          </a:p>
        </p:txBody>
      </p:sp>
      <p:sp>
        <p:nvSpPr>
          <p:cNvPr id="9" name="Text 7"/>
          <p:cNvSpPr txBox="1"/>
          <p:nvPr/>
        </p:nvSpPr>
        <p:spPr>
          <a:xfrm>
            <a:off x="1417320" y="4361688"/>
            <a:ext cx="10180015" cy="960120"/>
          </a:xfrm>
          <a:prstGeom prst="rect">
            <a:avLst/>
          </a:prstGeom>
          <a:noFill/>
          <a:ln/>
        </p:spPr>
        <p:txBody>
          <a:bodyPr wrap="square" lIns="0" tIns="0" rIns="0" bIns="0" rtlCol="0" anchor="t"/>
          <a:lstStyle/>
          <a:p>
            <a:pPr indent="0" marL="0">
              <a:buNone/>
            </a:pPr>
            <a:r>
              <a:rPr lang="en-US" sz="1800" dirty="0">
                <a:solidFill>
                  <a:srgbClr val="1C191A"/>
                </a:solidFill>
                <a:latin typeface="Georgia" pitchFamily="34" charset="0"/>
                <a:ea typeface="Georgia" pitchFamily="34" charset="-122"/>
                <a:cs typeface="Georgia" pitchFamily="34" charset="-120"/>
              </a:rPr>
              <a:t>Where in your own work does someone check only a sample, and what happens after a catch?</a:t>
            </a:r>
            <a:endParaRPr lang="en-US" sz="1800" dirty="0"/>
          </a:p>
        </p:txBody>
      </p:sp>
      <p:sp>
        <p:nvSpPr>
          <p:cNvPr id="10" name="Text 8"/>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9343A"/>
        </a:solidFill>
      </p:bgPr>
    </p:bg>
    <p:spTree>
      <p:nvGrpSpPr>
        <p:cNvPr id="1" name=""/>
        <p:cNvGrpSpPr/>
        <p:nvPr/>
      </p:nvGrpSpPr>
      <p:grpSpPr>
        <a:xfrm>
          <a:off x="0" y="0"/>
          <a:ext cx="0" cy="0"/>
          <a:chOff x="0" y="0"/>
          <a:chExt cx="0" cy="0"/>
        </a:xfrm>
      </p:grpSpPr>
      <p:sp>
        <p:nvSpPr>
          <p:cNvPr id="2" name="Text 0"/>
          <p:cNvSpPr txBox="1"/>
          <p:nvPr/>
        </p:nvSpPr>
        <p:spPr>
          <a:xfrm>
            <a:off x="1828800" y="1828800"/>
            <a:ext cx="8534095" cy="2194560"/>
          </a:xfrm>
          <a:prstGeom prst="rect">
            <a:avLst/>
          </a:prstGeom>
          <a:noFill/>
          <a:ln/>
        </p:spPr>
        <p:txBody>
          <a:bodyPr wrap="square" lIns="0" tIns="0" rIns="0" bIns="0" rtlCol="0" anchor="b"/>
          <a:lstStyle/>
          <a:p>
            <a:pPr algn="ctr" indent="0" marL="0">
              <a:lnSpc>
                <a:spcPct val="90000"/>
              </a:lnSpc>
              <a:buNone/>
            </a:pPr>
            <a:r>
              <a:rPr lang="en-US" sz="7200" dirty="0">
                <a:solidFill>
                  <a:srgbClr val="F0F0F0"/>
                </a:solidFill>
                <a:latin typeface="Calibri" pitchFamily="34" charset="0"/>
                <a:ea typeface="Calibri" pitchFamily="34" charset="-122"/>
                <a:cs typeface="Calibri" pitchFamily="34" charset="-120"/>
              </a:rPr>
              <a:t>Thank You</a:t>
            </a:r>
            <a:endParaRPr lang="en-US" sz="7200" dirty="0"/>
          </a:p>
        </p:txBody>
      </p:sp>
      <p:sp>
        <p:nvSpPr>
          <p:cNvPr id="3" name="Shape 1"/>
          <p:cNvSpPr/>
          <p:nvPr/>
        </p:nvSpPr>
        <p:spPr>
          <a:xfrm>
            <a:off x="4312768" y="4297680"/>
            <a:ext cx="3566160" cy="118872"/>
          </a:xfrm>
          <a:prstGeom prst="rect">
            <a:avLst/>
          </a:prstGeom>
          <a:solidFill>
            <a:srgbClr val="B09E88"/>
          </a:solidFill>
          <a:ln w="12700">
            <a:solidFill>
              <a:srgbClr val="B09E88"/>
            </a:solidFill>
            <a:prstDash val="solid"/>
          </a:ln>
        </p:spPr>
      </p:sp>
      <p:sp>
        <p:nvSpPr>
          <p:cNvPr id="4" name="Text 2"/>
          <p:cNvSpPr txBox="1"/>
          <p:nvPr/>
        </p:nvSpPr>
        <p:spPr>
          <a:xfrm rot="5400000">
            <a:off x="9631375" y="2971800"/>
            <a:ext cx="3200400" cy="457200"/>
          </a:xfrm>
          <a:prstGeom prst="rect">
            <a:avLst/>
          </a:prstGeom>
          <a:noFill/>
          <a:ln/>
        </p:spPr>
        <p:txBody>
          <a:bodyPr wrap="square" lIns="0" tIns="0" rIns="0" bIns="0" rtlCol="0" anchor="ctr"/>
          <a:lstStyle/>
          <a:p>
            <a:pPr algn="ctr" indent="0" marL="0">
              <a:buNone/>
            </a:pPr>
            <a:r>
              <a:rPr lang="en-US" sz="1400" dirty="0">
                <a:solidFill>
                  <a:srgbClr val="F0F0F0"/>
                </a:solidFill>
                <a:latin typeface="Calibri" pitchFamily="34" charset="0"/>
                <a:ea typeface="Calibri" pitchFamily="34" charset="-122"/>
                <a:cs typeface="Calibri" pitchFamily="34" charset="-120"/>
              </a:rPr>
              <a:t>13 October 2026</a:t>
            </a:r>
            <a:endParaRPr lang="en-US" sz="1400" dirty="0"/>
          </a:p>
        </p:txBody>
      </p:sp>
      <p:sp>
        <p:nvSpPr>
          <p:cNvPr id="5" name="Text 3"/>
          <p:cNvSpPr txBox="1"/>
          <p:nvPr/>
        </p:nvSpPr>
        <p:spPr>
          <a:xfrm>
            <a:off x="548640" y="5760720"/>
            <a:ext cx="4572000" cy="548640"/>
          </a:xfrm>
          <a:prstGeom prst="rect">
            <a:avLst/>
          </a:prstGeom>
          <a:noFill/>
          <a:ln/>
        </p:spPr>
        <p:txBody>
          <a:bodyPr wrap="square" lIns="0" tIns="0" rIns="0" bIns="0" rtlCol="0" anchor="b"/>
          <a:lstStyle/>
          <a:p>
            <a:pPr indent="0" marL="0">
              <a:buNone/>
            </a:pPr>
            <a:r>
              <a:rPr lang="en-US" sz="1100" dirty="0">
                <a:solidFill>
                  <a:srgbClr val="F0F0F0"/>
                </a:solidFill>
                <a:latin typeface="Calibri" pitchFamily="34" charset="0"/>
                <a:ea typeface="Calibri" pitchFamily="34" charset="-122"/>
                <a:cs typeface="Calibri" pitchFamily="34" charset="-120"/>
              </a:rPr>
              <a:t>Ameer Alhashemi</a:t>
            </a:r>
            <a:endParaRPr lang="en-US" sz="1100" dirty="0"/>
          </a:p>
          <a:p>
            <a:pPr indent="0" marL="0">
              <a:buNone/>
            </a:pPr>
            <a:r>
              <a:rPr lang="en-US" sz="1100" dirty="0">
                <a:solidFill>
                  <a:srgbClr val="F0F0F0"/>
                </a:solidFill>
                <a:latin typeface="Calibri" pitchFamily="34" charset="0"/>
                <a:ea typeface="Calibri" pitchFamily="34" charset="-122"/>
                <a:cs typeface="Calibri" pitchFamily="34" charset="-120"/>
              </a:rPr>
              <a:t>k26108758@kcl.ac.uk</a:t>
            </a:r>
            <a:endParaRPr lang="en-US" sz="1100" dirty="0"/>
          </a:p>
        </p:txBody>
      </p:sp>
      <p:sp>
        <p:nvSpPr>
          <p:cNvPr id="6" name="Text 4"/>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F0F0F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Backup: The Problem and the Settings</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1545336"/>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A limited, shared resource</a:t>
            </a:r>
            <a:endParaRPr lang="en-US" sz="1700" dirty="0"/>
          </a:p>
        </p:txBody>
      </p:sp>
      <p:sp>
        <p:nvSpPr>
          <p:cNvPr id="5" name="Text 3"/>
          <p:cNvSpPr txBox="1"/>
          <p:nvPr/>
        </p:nvSpPr>
        <p:spPr>
          <a:xfrm>
            <a:off x="548640" y="1929384"/>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Each agent receives an allowance: the amount it may take this round. Taking more helps that agent and leaves less for everyone else.</a:t>
            </a:r>
            <a:endParaRPr lang="en-US" sz="1400" dirty="0"/>
          </a:p>
        </p:txBody>
      </p:sp>
      <p:sp>
        <p:nvSpPr>
          <p:cNvPr id="6" name="Text 4"/>
          <p:cNvSpPr txBox="1"/>
          <p:nvPr/>
        </p:nvSpPr>
        <p:spPr>
          <a:xfrm>
            <a:off x="548640" y="2839212"/>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Oversight by sampling</a:t>
            </a:r>
            <a:endParaRPr lang="en-US" sz="1700" dirty="0"/>
          </a:p>
        </p:txBody>
      </p:sp>
      <p:sp>
        <p:nvSpPr>
          <p:cNvPr id="7" name="Text 5"/>
          <p:cNvSpPr txBox="1"/>
          <p:nvPr/>
        </p:nvSpPr>
        <p:spPr>
          <a:xfrm>
            <a:off x="548640" y="3223260"/>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Checking every action costs too much, so an overseer spot-checks a few, as tax and fisheries inspectors do.</a:t>
            </a:r>
            <a:endParaRPr lang="en-US" sz="1400" dirty="0"/>
          </a:p>
        </p:txBody>
      </p:sp>
      <p:sp>
        <p:nvSpPr>
          <p:cNvPr id="8" name="Text 6"/>
          <p:cNvSpPr txBox="1"/>
          <p:nvPr/>
        </p:nvSpPr>
        <p:spPr>
          <a:xfrm>
            <a:off x="548640" y="4133088"/>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The open question</a:t>
            </a:r>
            <a:endParaRPr lang="en-US" sz="1700" dirty="0"/>
          </a:p>
        </p:txBody>
      </p:sp>
      <p:sp>
        <p:nvSpPr>
          <p:cNvPr id="9" name="Text 7"/>
          <p:cNvSpPr txBox="1"/>
          <p:nvPr/>
        </p:nvSpPr>
        <p:spPr>
          <a:xfrm>
            <a:off x="548640" y="4517136"/>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When does a sampled check stop agents taking more than their allowance, and how large does the penalty need to be?</a:t>
            </a:r>
            <a:endParaRPr lang="en-US" sz="1400" dirty="0"/>
          </a:p>
        </p:txBody>
      </p:sp>
      <p:pic>
        <p:nvPicPr>
          <p:cNvPr id="10" name="Image 0" descr="fig_networks.png">    </p:cNvPr>
          <p:cNvPicPr>
            <a:picLocks noChangeAspect="1"/>
          </p:cNvPicPr>
          <p:nvPr/>
        </p:nvPicPr>
        <p:blipFill>
          <a:blip r:embed="rId1"/>
          <a:stretch>
            <a:fillRect/>
          </a:stretch>
        </p:blipFill>
        <p:spPr>
          <a:xfrm>
            <a:off x="5532120" y="2222723"/>
            <a:ext cx="6110935" cy="2311970"/>
          </a:xfrm>
          <a:prstGeom prst="rect">
            <a:avLst/>
          </a:prstGeom>
        </p:spPr>
      </p:pic>
      <p:sp>
        <p:nvSpPr>
          <p:cNvPr id="11" name="Text 8"/>
          <p:cNvSpPr txBox="1"/>
          <p:nvPr/>
        </p:nvSpPr>
        <p:spPr>
          <a:xfrm>
            <a:off x="5532120" y="4644421"/>
            <a:ext cx="611093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The same question in three settings, chosen because one agent's over-use reaches others in a different way in each: through a single shared pool (Fishery), through damage to direct neighbours (Forest), and through harm that appears only when two kinds of use combine (River). A result that holds in all three does not rest on one structure.</a:t>
            </a:r>
            <a:endParaRPr lang="en-US" sz="1100" dirty="0"/>
          </a:p>
        </p:txBody>
      </p:sp>
      <p:sp>
        <p:nvSpPr>
          <p:cNvPr id="12" name="Text 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r" indent="0" marL="0">
              <a:lnSpc>
                <a:spcPct val="95000"/>
              </a:lnSpc>
              <a:buNone/>
            </a:pPr>
            <a:r>
              <a:rPr lang="en-US" sz="3400" b="1" dirty="0">
                <a:solidFill>
                  <a:srgbClr val="062746"/>
                </a:solidFill>
                <a:latin typeface="Georgia" pitchFamily="34" charset="0"/>
                <a:ea typeface="Georgia" pitchFamily="34" charset="-122"/>
                <a:cs typeface="Georgia" pitchFamily="34" charset="-120"/>
              </a:rPr>
              <a:t>Backup: A Predictable Threshold</a:t>
            </a:r>
            <a:endParaRPr lang="en-US" sz="3400" dirty="0"/>
          </a:p>
        </p:txBody>
      </p:sp>
      <p:sp>
        <p:nvSpPr>
          <p:cNvPr id="3" name="Shape 1"/>
          <p:cNvSpPr/>
          <p:nvPr/>
        </p:nvSpPr>
        <p:spPr>
          <a:xfrm>
            <a:off x="8351215"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7071055" y="1545336"/>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What was predicted</a:t>
            </a:r>
            <a:endParaRPr lang="en-US" sz="1700" dirty="0"/>
          </a:p>
        </p:txBody>
      </p:sp>
      <p:sp>
        <p:nvSpPr>
          <p:cNvPr id="5" name="Text 3"/>
          <p:cNvSpPr txBox="1"/>
          <p:nvPr/>
        </p:nvSpPr>
        <p:spPr>
          <a:xfrm>
            <a:off x="7071055" y="1929384"/>
            <a:ext cx="4572000" cy="969264"/>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Programmed agents choose how much to over-take so as to earn the most. From games without checks, we predicted the expected fine at which they would stop.</a:t>
            </a:r>
            <a:endParaRPr lang="en-US" sz="1400" dirty="0"/>
          </a:p>
        </p:txBody>
      </p:sp>
      <p:sp>
        <p:nvSpPr>
          <p:cNvPr id="6" name="Text 4"/>
          <p:cNvSpPr txBox="1"/>
          <p:nvPr/>
        </p:nvSpPr>
        <p:spPr>
          <a:xfrm>
            <a:off x="7071055" y="3063240"/>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The result</a:t>
            </a:r>
            <a:endParaRPr lang="en-US" sz="1700" dirty="0"/>
          </a:p>
        </p:txBody>
      </p:sp>
      <p:sp>
        <p:nvSpPr>
          <p:cNvPr id="7" name="Text 5"/>
          <p:cNvSpPr txBox="1"/>
          <p:nvPr/>
        </p:nvSpPr>
        <p:spPr>
          <a:xfrm>
            <a:off x="7071055" y="3447288"/>
            <a:ext cx="4572000" cy="521208"/>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In 5 of 5 new settings, the observed stopping point was within one step of the prediction.</a:t>
            </a:r>
            <a:endParaRPr lang="en-US" sz="1400" dirty="0"/>
          </a:p>
        </p:txBody>
      </p:sp>
      <p:sp>
        <p:nvSpPr>
          <p:cNvPr id="8" name="Text 6"/>
          <p:cNvSpPr txBox="1"/>
          <p:nvPr/>
        </p:nvSpPr>
        <p:spPr>
          <a:xfrm>
            <a:off x="7071055" y="4133088"/>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Why this comes first</a:t>
            </a:r>
            <a:endParaRPr lang="en-US" sz="1700" dirty="0"/>
          </a:p>
        </p:txBody>
      </p:sp>
      <p:sp>
        <p:nvSpPr>
          <p:cNvPr id="9" name="Text 7"/>
          <p:cNvSpPr txBox="1"/>
          <p:nvPr/>
        </p:nvSpPr>
        <p:spPr>
          <a:xfrm>
            <a:off x="7071055" y="4517136"/>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These agents are built to maximise their payoff, so this checks the measurement method before it is used on language models.</a:t>
            </a:r>
            <a:endParaRPr lang="en-US" sz="1400" dirty="0"/>
          </a:p>
        </p:txBody>
      </p:sp>
      <p:pic>
        <p:nvPicPr>
          <p:cNvPr id="10" name="Image 0" descr="fig3_audits_threshold.png">    </p:cNvPr>
          <p:cNvPicPr>
            <a:picLocks noChangeAspect="1"/>
          </p:cNvPicPr>
          <p:nvPr/>
        </p:nvPicPr>
        <p:blipFill>
          <a:blip r:embed="rId1"/>
          <a:stretch>
            <a:fillRect/>
          </a:stretch>
        </p:blipFill>
        <p:spPr>
          <a:xfrm>
            <a:off x="666094" y="1499616"/>
            <a:ext cx="5876027" cy="3941064"/>
          </a:xfrm>
          <a:prstGeom prst="rect">
            <a:avLst/>
          </a:prstGeom>
        </p:spPr>
      </p:pic>
      <p:sp>
        <p:nvSpPr>
          <p:cNvPr id="11" name="Text 8"/>
          <p:cNvSpPr txBox="1"/>
          <p:nvPr/>
        </p:nvSpPr>
        <p:spPr>
          <a:xfrm>
            <a:off x="548640" y="5550408"/>
            <a:ext cx="611093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Observed against predicted stopping point (expected fine). Filled: new settings predicted in advance. Open: the checking rate, or the chance that a check catches the cheat, was varied. The band marks one step of the tested grid.</a:t>
            </a:r>
            <a:endParaRPr lang="en-US" sz="1100" dirty="0"/>
          </a:p>
        </p:txBody>
      </p:sp>
      <p:sp>
        <p:nvSpPr>
          <p:cNvPr id="12" name="Text 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822960"/>
          </a:xfrm>
          <a:prstGeom prst="rect">
            <a:avLst/>
          </a:prstGeom>
          <a:noFill/>
          <a:ln/>
        </p:spPr>
        <p:txBody>
          <a:bodyPr wrap="square" lIns="0" tIns="0" rIns="0" bIns="0" rtlCol="0" anchor="b"/>
          <a:lstStyle/>
          <a:p>
            <a:pPr algn="ctr" indent="0" marL="0">
              <a:lnSpc>
                <a:spcPct val="95000"/>
              </a:lnSpc>
              <a:buNone/>
            </a:pPr>
            <a:r>
              <a:rPr lang="en-US" sz="3200" b="1" dirty="0">
                <a:solidFill>
                  <a:srgbClr val="062746"/>
                </a:solidFill>
                <a:latin typeface="Georgia" pitchFamily="34" charset="0"/>
                <a:ea typeface="Georgia" pitchFamily="34" charset="-122"/>
                <a:cs typeface="Georgia" pitchFamily="34" charset="-120"/>
              </a:rPr>
              <a:t>Backup: Two Shortcuts That Backfire</a:t>
            </a:r>
            <a:endParaRPr lang="en-US" sz="3200" dirty="0"/>
          </a:p>
        </p:txBody>
      </p:sp>
      <p:pic>
        <p:nvPicPr>
          <p:cNvPr id="3" name="Image 0" descr="fig3_audits_rules.png">    </p:cNvPr>
          <p:cNvPicPr>
            <a:picLocks noChangeAspect="1"/>
          </p:cNvPicPr>
          <p:nvPr/>
        </p:nvPicPr>
        <p:blipFill>
          <a:blip r:embed="rId1"/>
          <a:stretch>
            <a:fillRect/>
          </a:stretch>
        </p:blipFill>
        <p:spPr>
          <a:xfrm>
            <a:off x="548640" y="1356875"/>
            <a:ext cx="5364328" cy="3504170"/>
          </a:xfrm>
          <a:prstGeom prst="rect">
            <a:avLst/>
          </a:prstGeom>
        </p:spPr>
      </p:pic>
      <p:sp>
        <p:nvSpPr>
          <p:cNvPr id="4" name="Text 1"/>
          <p:cNvSpPr txBox="1"/>
          <p:nvPr/>
        </p:nvSpPr>
        <p:spPr>
          <a:xfrm>
            <a:off x="548640" y="4952485"/>
            <a:ext cx="5364328"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Lowering every agent's allowance to make up for known cheaters let the cheaters gain more than with no checks at all (142 vs 113); honest agents paid for it.</a:t>
            </a:r>
            <a:endParaRPr lang="en-US" sz="1100" dirty="0"/>
          </a:p>
        </p:txBody>
      </p:sp>
      <p:pic>
        <p:nvPicPr>
          <p:cNvPr id="5" name="Image 1" descr="fig3_audits_targeting.png">    </p:cNvPr>
          <p:cNvPicPr>
            <a:picLocks noChangeAspect="1"/>
          </p:cNvPicPr>
          <p:nvPr/>
        </p:nvPicPr>
        <p:blipFill>
          <a:blip r:embed="rId2"/>
          <a:stretch>
            <a:fillRect/>
          </a:stretch>
        </p:blipFill>
        <p:spPr>
          <a:xfrm>
            <a:off x="6278728" y="1371723"/>
            <a:ext cx="5364328" cy="3474474"/>
          </a:xfrm>
          <a:prstGeom prst="rect">
            <a:avLst/>
          </a:prstGeom>
        </p:spPr>
      </p:pic>
      <p:sp>
        <p:nvSpPr>
          <p:cNvPr id="6" name="Text 2"/>
          <p:cNvSpPr txBox="1"/>
          <p:nvPr/>
        </p:nvSpPr>
        <p:spPr>
          <a:xfrm>
            <a:off x="6278728" y="4937637"/>
            <a:ext cx="5364328"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Always checking the agent with the largest report caught 25% of liars over a game, against 100% with random checks: the largest reporter is often honest.</a:t>
            </a:r>
            <a:endParaRPr lang="en-US" sz="1100" dirty="0"/>
          </a:p>
        </p:txBody>
      </p:sp>
      <p:sp>
        <p:nvSpPr>
          <p:cNvPr id="7" name="Text 3"/>
          <p:cNvSpPr txBox="1"/>
          <p:nvPr/>
        </p:nvSpPr>
        <p:spPr>
          <a:xfrm>
            <a:off x="1005840" y="5897880"/>
            <a:ext cx="10180015" cy="411480"/>
          </a:xfrm>
          <a:prstGeom prst="rect">
            <a:avLst/>
          </a:prstGeom>
          <a:noFill/>
          <a:ln/>
        </p:spPr>
        <p:txBody>
          <a:bodyPr wrap="square" lIns="0" tIns="0" rIns="0" bIns="0" rtlCol="0" anchor="ctr"/>
          <a:lstStyle/>
          <a:p>
            <a:pPr algn="ctr" indent="0" marL="0">
              <a:buNone/>
            </a:pPr>
            <a:r>
              <a:rPr lang="en-US" sz="1700" b="1" dirty="0">
                <a:solidFill>
                  <a:srgbClr val="062746"/>
                </a:solidFill>
                <a:latin typeface="Georgia" pitchFamily="34" charset="0"/>
                <a:ea typeface="Georgia" pitchFamily="34" charset="-122"/>
                <a:cs typeface="Georgia" pitchFamily="34" charset="-120"/>
              </a:rPr>
              <a:t>Shortcuts that save checks can open blind spots</a:t>
            </a:r>
            <a:endParaRPr lang="en-US" sz="1700" dirty="0"/>
          </a:p>
        </p:txBody>
      </p:sp>
      <p:sp>
        <p:nvSpPr>
          <p:cNvPr id="8" name="Text 4"/>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Backup: One Round's Gain Matters</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Text 2"/>
          <p:cNvSpPr txBox="1"/>
          <p:nvPr/>
        </p:nvSpPr>
        <p:spPr>
          <a:xfrm>
            <a:off x="548640" y="1545336"/>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What predicted it</a:t>
            </a:r>
            <a:endParaRPr lang="en-US" sz="1700" dirty="0"/>
          </a:p>
        </p:txBody>
      </p:sp>
      <p:sp>
        <p:nvSpPr>
          <p:cNvPr id="5" name="Text 3"/>
          <p:cNvSpPr txBox="1"/>
          <p:nvPr/>
        </p:nvSpPr>
        <p:spPr>
          <a:xfrm>
            <a:off x="548640" y="1929384"/>
            <a:ext cx="4572000" cy="521208"/>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How much each model took above its allowance in one round without a fine (4.5–4.7 t).</a:t>
            </a:r>
            <a:endParaRPr lang="en-US" sz="1400" dirty="0"/>
          </a:p>
        </p:txBody>
      </p:sp>
      <p:sp>
        <p:nvSpPr>
          <p:cNvPr id="6" name="Text 4"/>
          <p:cNvSpPr txBox="1"/>
          <p:nvPr/>
        </p:nvSpPr>
        <p:spPr>
          <a:xfrm>
            <a:off x="548640" y="2615184"/>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What did not</a:t>
            </a:r>
            <a:endParaRPr lang="en-US" sz="1700" dirty="0"/>
          </a:p>
        </p:txBody>
      </p:sp>
      <p:sp>
        <p:nvSpPr>
          <p:cNvPr id="7" name="Text 5"/>
          <p:cNvSpPr txBox="1"/>
          <p:nvPr/>
        </p:nvSpPr>
        <p:spPr>
          <a:xfrm>
            <a:off x="548640" y="2999232"/>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What over-taking earned over a whole game: about −1 to +0.7 t per round, because over-taking depleted the lake.</a:t>
            </a:r>
            <a:endParaRPr lang="en-US" sz="1400" dirty="0"/>
          </a:p>
        </p:txBody>
      </p:sp>
      <p:sp>
        <p:nvSpPr>
          <p:cNvPr id="8" name="Text 6"/>
          <p:cNvSpPr txBox="1"/>
          <p:nvPr/>
        </p:nvSpPr>
        <p:spPr>
          <a:xfrm>
            <a:off x="548640" y="3909060"/>
            <a:ext cx="4572000"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Compared with an ideal optimiser</a:t>
            </a:r>
            <a:endParaRPr lang="en-US" sz="1700" dirty="0"/>
          </a:p>
        </p:txBody>
      </p:sp>
      <p:sp>
        <p:nvSpPr>
          <p:cNvPr id="9" name="Text 7"/>
          <p:cNvSpPr txBox="1"/>
          <p:nvPr/>
        </p:nvSpPr>
        <p:spPr>
          <a:xfrm>
            <a:off x="548640" y="4293108"/>
            <a:ext cx="4572000" cy="745236"/>
          </a:xfrm>
          <a:prstGeom prst="rect">
            <a:avLst/>
          </a:prstGeom>
          <a:noFill/>
          <a:ln/>
        </p:spPr>
        <p:txBody>
          <a:bodyPr wrap="square" lIns="0" tIns="0" rIns="0" bIns="0" rtlCol="0" anchor="t"/>
          <a:lstStyle/>
          <a:p>
            <a:pPr algn="just" indent="0" marL="0">
              <a:buNone/>
            </a:pPr>
            <a:r>
              <a:rPr lang="en-US" sz="1400" dirty="0">
                <a:solidFill>
                  <a:srgbClr val="1C191A"/>
                </a:solidFill>
                <a:latin typeface="Calibri" pitchFamily="34" charset="0"/>
                <a:ea typeface="Calibri" pitchFamily="34" charset="-122"/>
                <a:cs typeface="Calibri" pitchFamily="34" charset="-120"/>
              </a:rPr>
              <a:t>An agent that maximised its expected payoff would keep over-taking until 36 t. Both models stopped earlier, and gradually.</a:t>
            </a:r>
            <a:endParaRPr lang="en-US" sz="1400" dirty="0"/>
          </a:p>
        </p:txBody>
      </p:sp>
      <p:pic>
        <p:nvPicPr>
          <p:cNvPr id="10" name="Image 0" descr="fig5_spine.png">    </p:cNvPr>
          <p:cNvPicPr>
            <a:picLocks noChangeAspect="1"/>
          </p:cNvPicPr>
          <p:nvPr/>
        </p:nvPicPr>
        <p:blipFill>
          <a:blip r:embed="rId1"/>
          <a:stretch>
            <a:fillRect/>
          </a:stretch>
        </p:blipFill>
        <p:spPr>
          <a:xfrm>
            <a:off x="6219407" y="1499616"/>
            <a:ext cx="4736362" cy="4123944"/>
          </a:xfrm>
          <a:prstGeom prst="rect">
            <a:avLst/>
          </a:prstGeom>
        </p:spPr>
      </p:pic>
      <p:sp>
        <p:nvSpPr>
          <p:cNvPr id="11" name="Text 8"/>
          <p:cNvSpPr txBox="1"/>
          <p:nvPr/>
        </p:nvSpPr>
        <p:spPr>
          <a:xfrm>
            <a:off x="5532120" y="5733288"/>
            <a:ext cx="6110935" cy="502920"/>
          </a:xfrm>
          <a:prstGeom prst="rect">
            <a:avLst/>
          </a:prstGeom>
          <a:noFill/>
          <a:ln/>
        </p:spPr>
        <p:txBody>
          <a:bodyPr wrap="square" lIns="0" tIns="0" rIns="0" bIns="0" rtlCol="0" anchor="t"/>
          <a:lstStyle/>
          <a:p>
            <a:pPr algn="ctr" indent="0" marL="0">
              <a:buNone/>
            </a:pPr>
            <a:r>
              <a:rPr lang="en-US" sz="1100" i="1" dirty="0">
                <a:solidFill>
                  <a:srgbClr val="55524E"/>
                </a:solidFill>
                <a:latin typeface="Calibri" pitchFamily="34" charset="0"/>
                <a:ea typeface="Calibri" pitchFamily="34" charset="-122"/>
                <a:cs typeface="Calibri" pitchFamily="34" charset="-120"/>
              </a:rPr>
              <a:t>Each point compares a predicted and an observed stopping fine; points on the dashed line were predicted exactly.</a:t>
            </a:r>
            <a:endParaRPr lang="en-US" sz="1100" dirty="0"/>
          </a:p>
        </p:txBody>
      </p:sp>
      <p:sp>
        <p:nvSpPr>
          <p:cNvPr id="12" name="Text 9"/>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Backup: Memory for Language Models</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Shape 2"/>
          <p:cNvSpPr/>
          <p:nvPr/>
        </p:nvSpPr>
        <p:spPr>
          <a:xfrm>
            <a:off x="548640" y="1591056"/>
            <a:ext cx="6583680" cy="3474720"/>
          </a:xfrm>
          <a:prstGeom prst="roundRect">
            <a:avLst>
              <a:gd name="adj" fmla="val 2105"/>
            </a:avLst>
          </a:prstGeom>
          <a:solidFill>
            <a:srgbClr val="FFFFFF"/>
          </a:solidFill>
          <a:ln w="9525">
            <a:solidFill>
              <a:srgbClr val="E9E7E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3429000" y="1819656"/>
            <a:ext cx="1783080" cy="457200"/>
          </a:xfrm>
          <a:prstGeom prst="rect">
            <a:avLst/>
          </a:prstGeom>
          <a:noFill/>
          <a:ln/>
        </p:spPr>
        <p:txBody>
          <a:bodyPr wrap="square" lIns="0" tIns="0" rIns="0" bIns="0" rtlCol="0" anchor="b"/>
          <a:lstStyle/>
          <a:p>
            <a:pPr algn="ctr" indent="0" marL="0">
              <a:buNone/>
            </a:pPr>
            <a:r>
              <a:rPr lang="en-US" sz="1200" b="1" dirty="0">
                <a:solidFill>
                  <a:srgbClr val="8F8F8F"/>
                </a:solidFill>
                <a:latin typeface="Calibri" pitchFamily="34" charset="0"/>
                <a:ea typeface="Calibri" pitchFamily="34" charset="-122"/>
                <a:cs typeface="Calibri" pitchFamily="34" charset="-120"/>
              </a:rPr>
              <a:t>Checks only</a:t>
            </a:r>
            <a:endParaRPr lang="en-US" sz="1200" dirty="0"/>
          </a:p>
        </p:txBody>
      </p:sp>
      <p:sp>
        <p:nvSpPr>
          <p:cNvPr id="6" name="Text 4"/>
          <p:cNvSpPr txBox="1"/>
          <p:nvPr/>
        </p:nvSpPr>
        <p:spPr>
          <a:xfrm>
            <a:off x="5257800" y="1819656"/>
            <a:ext cx="1783080" cy="457200"/>
          </a:xfrm>
          <a:prstGeom prst="rect">
            <a:avLst/>
          </a:prstGeom>
          <a:noFill/>
          <a:ln/>
        </p:spPr>
        <p:txBody>
          <a:bodyPr wrap="square" lIns="0" tIns="0" rIns="0" bIns="0" rtlCol="0" anchor="b"/>
          <a:lstStyle/>
          <a:p>
            <a:pPr algn="ctr" indent="0" marL="0">
              <a:buNone/>
            </a:pPr>
            <a:r>
              <a:rPr lang="en-US" sz="1200" b="1" dirty="0">
                <a:solidFill>
                  <a:srgbClr val="062746"/>
                </a:solidFill>
                <a:latin typeface="Calibri" pitchFamily="34" charset="0"/>
                <a:ea typeface="Calibri" pitchFamily="34" charset="-122"/>
                <a:cs typeface="Calibri" pitchFamily="34" charset="-120"/>
              </a:rPr>
              <a:t>Checks + memory</a:t>
            </a:r>
            <a:endParaRPr lang="en-US" sz="1200" dirty="0"/>
          </a:p>
        </p:txBody>
      </p:sp>
      <p:sp>
        <p:nvSpPr>
          <p:cNvPr id="7" name="Text 5"/>
          <p:cNvSpPr txBox="1"/>
          <p:nvPr/>
        </p:nvSpPr>
        <p:spPr>
          <a:xfrm>
            <a:off x="822960" y="2414016"/>
            <a:ext cx="2651760" cy="685800"/>
          </a:xfrm>
          <a:prstGeom prst="rect">
            <a:avLst/>
          </a:prstGeom>
          <a:noFill/>
          <a:ln/>
        </p:spPr>
        <p:txBody>
          <a:bodyPr wrap="square" lIns="0" tIns="0" rIns="0" bIns="0" rtlCol="0" anchor="ctr"/>
          <a:lstStyle/>
          <a:p>
            <a:pPr indent="0" marL="0">
              <a:buNone/>
            </a:pPr>
            <a:r>
              <a:rPr lang="en-US" sz="1350" dirty="0">
                <a:solidFill>
                  <a:srgbClr val="1C191A"/>
                </a:solidFill>
                <a:latin typeface="Calibri" pitchFamily="34" charset="0"/>
                <a:ea typeface="Calibri" pitchFamily="34" charset="-122"/>
                <a:cs typeface="Calibri" pitchFamily="34" charset="-120"/>
              </a:rPr>
              <a:t>Rounds with over-taking</a:t>
            </a:r>
            <a:endParaRPr lang="en-US" sz="1350" dirty="0"/>
          </a:p>
        </p:txBody>
      </p:sp>
      <p:sp>
        <p:nvSpPr>
          <p:cNvPr id="8" name="Text 6"/>
          <p:cNvSpPr txBox="1"/>
          <p:nvPr/>
        </p:nvSpPr>
        <p:spPr>
          <a:xfrm>
            <a:off x="3429000" y="2414016"/>
            <a:ext cx="1783080" cy="685800"/>
          </a:xfrm>
          <a:prstGeom prst="rect">
            <a:avLst/>
          </a:prstGeom>
          <a:noFill/>
          <a:ln/>
        </p:spPr>
        <p:txBody>
          <a:bodyPr wrap="square" lIns="0" tIns="0" rIns="0" bIns="0" rtlCol="0" anchor="ctr"/>
          <a:lstStyle/>
          <a:p>
            <a:pPr algn="ctr" indent="0" marL="0">
              <a:buNone/>
            </a:pPr>
            <a:r>
              <a:rPr lang="en-US" sz="2600" dirty="0">
                <a:solidFill>
                  <a:srgbClr val="8F8F8F"/>
                </a:solidFill>
                <a:latin typeface="Georgia" pitchFamily="34" charset="0"/>
                <a:ea typeface="Georgia" pitchFamily="34" charset="-122"/>
                <a:cs typeface="Georgia" pitchFamily="34" charset="-120"/>
              </a:rPr>
              <a:t>55%</a:t>
            </a:r>
            <a:endParaRPr lang="en-US" sz="2600" dirty="0"/>
          </a:p>
        </p:txBody>
      </p:sp>
      <p:sp>
        <p:nvSpPr>
          <p:cNvPr id="9" name="Text 7"/>
          <p:cNvSpPr txBox="1"/>
          <p:nvPr/>
        </p:nvSpPr>
        <p:spPr>
          <a:xfrm>
            <a:off x="5029200" y="2414016"/>
            <a:ext cx="457200" cy="685800"/>
          </a:xfrm>
          <a:prstGeom prst="rect">
            <a:avLst/>
          </a:prstGeom>
          <a:noFill/>
          <a:ln/>
        </p:spPr>
        <p:txBody>
          <a:bodyPr wrap="square" lIns="0" tIns="0" rIns="0" bIns="0" rtlCol="0" anchor="ctr"/>
          <a:lstStyle/>
          <a:p>
            <a:pPr algn="ctr" indent="0" marL="0">
              <a:buNone/>
            </a:pPr>
            <a:r>
              <a:rPr lang="en-US" sz="2000" dirty="0">
                <a:solidFill>
                  <a:srgbClr val="8F8F8F"/>
                </a:solidFill>
                <a:latin typeface="Calibri" pitchFamily="34" charset="0"/>
                <a:ea typeface="Calibri" pitchFamily="34" charset="-122"/>
                <a:cs typeface="Calibri" pitchFamily="34" charset="-120"/>
              </a:rPr>
              <a:t>→</a:t>
            </a:r>
            <a:endParaRPr lang="en-US" sz="2000" dirty="0"/>
          </a:p>
        </p:txBody>
      </p:sp>
      <p:sp>
        <p:nvSpPr>
          <p:cNvPr id="10" name="Text 8"/>
          <p:cNvSpPr txBox="1"/>
          <p:nvPr/>
        </p:nvSpPr>
        <p:spPr>
          <a:xfrm>
            <a:off x="5257800" y="2414016"/>
            <a:ext cx="1783080" cy="685800"/>
          </a:xfrm>
          <a:prstGeom prst="rect">
            <a:avLst/>
          </a:prstGeom>
          <a:noFill/>
          <a:ln/>
        </p:spPr>
        <p:txBody>
          <a:bodyPr wrap="square" lIns="0" tIns="0" rIns="0" bIns="0" rtlCol="0" anchor="ctr"/>
          <a:lstStyle/>
          <a:p>
            <a:pPr algn="ctr" indent="0" marL="0">
              <a:buNone/>
            </a:pPr>
            <a:r>
              <a:rPr lang="en-US" sz="2600" b="1" dirty="0">
                <a:solidFill>
                  <a:srgbClr val="062746"/>
                </a:solidFill>
                <a:latin typeface="Georgia" pitchFamily="34" charset="0"/>
                <a:ea typeface="Georgia" pitchFamily="34" charset="-122"/>
                <a:cs typeface="Georgia" pitchFamily="34" charset="-120"/>
              </a:rPr>
              <a:t>20%</a:t>
            </a:r>
            <a:endParaRPr lang="en-US" sz="2600" dirty="0"/>
          </a:p>
        </p:txBody>
      </p:sp>
      <p:sp>
        <p:nvSpPr>
          <p:cNvPr id="11" name="Shape 9"/>
          <p:cNvSpPr/>
          <p:nvPr/>
        </p:nvSpPr>
        <p:spPr>
          <a:xfrm>
            <a:off x="822960" y="3191256"/>
            <a:ext cx="6035040" cy="0"/>
          </a:xfrm>
          <a:prstGeom prst="line">
            <a:avLst/>
          </a:prstGeom>
          <a:noFill/>
          <a:ln w="9525">
            <a:solidFill>
              <a:srgbClr val="E9E7E3"/>
            </a:solidFill>
            <a:prstDash val="solid"/>
          </a:ln>
        </p:spPr>
      </p:sp>
      <p:sp>
        <p:nvSpPr>
          <p:cNvPr id="12" name="Text 10"/>
          <p:cNvSpPr txBox="1"/>
          <p:nvPr/>
        </p:nvSpPr>
        <p:spPr>
          <a:xfrm>
            <a:off x="822960" y="3282696"/>
            <a:ext cx="2651760" cy="685800"/>
          </a:xfrm>
          <a:prstGeom prst="rect">
            <a:avLst/>
          </a:prstGeom>
          <a:noFill/>
          <a:ln/>
        </p:spPr>
        <p:txBody>
          <a:bodyPr wrap="square" lIns="0" tIns="0" rIns="0" bIns="0" rtlCol="0" anchor="ctr"/>
          <a:lstStyle/>
          <a:p>
            <a:pPr indent="0" marL="0">
              <a:buNone/>
            </a:pPr>
            <a:r>
              <a:rPr lang="en-US" sz="1350" dirty="0">
                <a:solidFill>
                  <a:srgbClr val="1C191A"/>
                </a:solidFill>
                <a:latin typeface="Calibri" pitchFamily="34" charset="0"/>
                <a:ea typeface="Calibri" pitchFamily="34" charset="-122"/>
                <a:cs typeface="Calibri" pitchFamily="34" charset="-120"/>
              </a:rPr>
              <a:t>Rounds below half capacity</a:t>
            </a:r>
            <a:endParaRPr lang="en-US" sz="1350" dirty="0"/>
          </a:p>
        </p:txBody>
      </p:sp>
      <p:sp>
        <p:nvSpPr>
          <p:cNvPr id="13" name="Text 11"/>
          <p:cNvSpPr txBox="1"/>
          <p:nvPr/>
        </p:nvSpPr>
        <p:spPr>
          <a:xfrm>
            <a:off x="3429000" y="3282696"/>
            <a:ext cx="1783080" cy="685800"/>
          </a:xfrm>
          <a:prstGeom prst="rect">
            <a:avLst/>
          </a:prstGeom>
          <a:noFill/>
          <a:ln/>
        </p:spPr>
        <p:txBody>
          <a:bodyPr wrap="square" lIns="0" tIns="0" rIns="0" bIns="0" rtlCol="0" anchor="ctr"/>
          <a:lstStyle/>
          <a:p>
            <a:pPr algn="ctr" indent="0" marL="0">
              <a:buNone/>
            </a:pPr>
            <a:r>
              <a:rPr lang="en-US" sz="2600" dirty="0">
                <a:solidFill>
                  <a:srgbClr val="8F8F8F"/>
                </a:solidFill>
                <a:latin typeface="Georgia" pitchFamily="34" charset="0"/>
                <a:ea typeface="Georgia" pitchFamily="34" charset="-122"/>
                <a:cs typeface="Georgia" pitchFamily="34" charset="-120"/>
              </a:rPr>
              <a:t>92%</a:t>
            </a:r>
            <a:endParaRPr lang="en-US" sz="2600" dirty="0"/>
          </a:p>
        </p:txBody>
      </p:sp>
      <p:sp>
        <p:nvSpPr>
          <p:cNvPr id="14" name="Text 12"/>
          <p:cNvSpPr txBox="1"/>
          <p:nvPr/>
        </p:nvSpPr>
        <p:spPr>
          <a:xfrm>
            <a:off x="5029200" y="3282696"/>
            <a:ext cx="457200" cy="685800"/>
          </a:xfrm>
          <a:prstGeom prst="rect">
            <a:avLst/>
          </a:prstGeom>
          <a:noFill/>
          <a:ln/>
        </p:spPr>
        <p:txBody>
          <a:bodyPr wrap="square" lIns="0" tIns="0" rIns="0" bIns="0" rtlCol="0" anchor="ctr"/>
          <a:lstStyle/>
          <a:p>
            <a:pPr algn="ctr" indent="0" marL="0">
              <a:buNone/>
            </a:pPr>
            <a:r>
              <a:rPr lang="en-US" sz="2000" dirty="0">
                <a:solidFill>
                  <a:srgbClr val="8F8F8F"/>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5257800" y="3282696"/>
            <a:ext cx="1783080" cy="685800"/>
          </a:xfrm>
          <a:prstGeom prst="rect">
            <a:avLst/>
          </a:prstGeom>
          <a:noFill/>
          <a:ln/>
        </p:spPr>
        <p:txBody>
          <a:bodyPr wrap="square" lIns="0" tIns="0" rIns="0" bIns="0" rtlCol="0" anchor="ctr"/>
          <a:lstStyle/>
          <a:p>
            <a:pPr algn="ctr" indent="0" marL="0">
              <a:buNone/>
            </a:pPr>
            <a:r>
              <a:rPr lang="en-US" sz="2600" b="1" dirty="0">
                <a:solidFill>
                  <a:srgbClr val="062746"/>
                </a:solidFill>
                <a:latin typeface="Georgia" pitchFamily="34" charset="0"/>
                <a:ea typeface="Georgia" pitchFamily="34" charset="-122"/>
                <a:cs typeface="Georgia" pitchFamily="34" charset="-120"/>
              </a:rPr>
              <a:t>20%</a:t>
            </a:r>
            <a:endParaRPr lang="en-US" sz="2600" dirty="0"/>
          </a:p>
        </p:txBody>
      </p:sp>
      <p:sp>
        <p:nvSpPr>
          <p:cNvPr id="16" name="Shape 14"/>
          <p:cNvSpPr/>
          <p:nvPr/>
        </p:nvSpPr>
        <p:spPr>
          <a:xfrm>
            <a:off x="822960" y="4059936"/>
            <a:ext cx="6035040" cy="0"/>
          </a:xfrm>
          <a:prstGeom prst="line">
            <a:avLst/>
          </a:prstGeom>
          <a:noFill/>
          <a:ln w="9525">
            <a:solidFill>
              <a:srgbClr val="E9E7E3"/>
            </a:solidFill>
            <a:prstDash val="solid"/>
          </a:ln>
        </p:spPr>
      </p:sp>
      <p:sp>
        <p:nvSpPr>
          <p:cNvPr id="17" name="Text 15"/>
          <p:cNvSpPr txBox="1"/>
          <p:nvPr/>
        </p:nvSpPr>
        <p:spPr>
          <a:xfrm>
            <a:off x="822960" y="4151376"/>
            <a:ext cx="2651760" cy="685800"/>
          </a:xfrm>
          <a:prstGeom prst="rect">
            <a:avLst/>
          </a:prstGeom>
          <a:noFill/>
          <a:ln/>
        </p:spPr>
        <p:txBody>
          <a:bodyPr wrap="square" lIns="0" tIns="0" rIns="0" bIns="0" rtlCol="0" anchor="ctr"/>
          <a:lstStyle/>
          <a:p>
            <a:pPr indent="0" marL="0">
              <a:buNone/>
            </a:pPr>
            <a:r>
              <a:rPr lang="en-US" sz="1350" dirty="0">
                <a:solidFill>
                  <a:srgbClr val="1C191A"/>
                </a:solidFill>
                <a:latin typeface="Calibri" pitchFamily="34" charset="0"/>
                <a:ea typeface="Calibri" pitchFamily="34" charset="-122"/>
                <a:cs typeface="Calibri" pitchFamily="34" charset="-120"/>
              </a:rPr>
              <a:t>Lakes collapsed (of 10)</a:t>
            </a:r>
            <a:endParaRPr lang="en-US" sz="1350" dirty="0"/>
          </a:p>
        </p:txBody>
      </p:sp>
      <p:sp>
        <p:nvSpPr>
          <p:cNvPr id="18" name="Text 16"/>
          <p:cNvSpPr txBox="1"/>
          <p:nvPr/>
        </p:nvSpPr>
        <p:spPr>
          <a:xfrm>
            <a:off x="3429000" y="4151376"/>
            <a:ext cx="1783080" cy="685800"/>
          </a:xfrm>
          <a:prstGeom prst="rect">
            <a:avLst/>
          </a:prstGeom>
          <a:noFill/>
          <a:ln/>
        </p:spPr>
        <p:txBody>
          <a:bodyPr wrap="square" lIns="0" tIns="0" rIns="0" bIns="0" rtlCol="0" anchor="ctr"/>
          <a:lstStyle/>
          <a:p>
            <a:pPr algn="ctr" indent="0" marL="0">
              <a:buNone/>
            </a:pPr>
            <a:r>
              <a:rPr lang="en-US" sz="2600" dirty="0">
                <a:solidFill>
                  <a:srgbClr val="8F8F8F"/>
                </a:solidFill>
                <a:latin typeface="Georgia" pitchFamily="34" charset="0"/>
                <a:ea typeface="Georgia" pitchFamily="34" charset="-122"/>
                <a:cs typeface="Georgia" pitchFamily="34" charset="-120"/>
              </a:rPr>
              <a:t>5</a:t>
            </a:r>
            <a:endParaRPr lang="en-US" sz="2600" dirty="0"/>
          </a:p>
        </p:txBody>
      </p:sp>
      <p:sp>
        <p:nvSpPr>
          <p:cNvPr id="19" name="Text 17"/>
          <p:cNvSpPr txBox="1"/>
          <p:nvPr/>
        </p:nvSpPr>
        <p:spPr>
          <a:xfrm>
            <a:off x="5029200" y="4151376"/>
            <a:ext cx="457200" cy="685800"/>
          </a:xfrm>
          <a:prstGeom prst="rect">
            <a:avLst/>
          </a:prstGeom>
          <a:noFill/>
          <a:ln/>
        </p:spPr>
        <p:txBody>
          <a:bodyPr wrap="square" lIns="0" tIns="0" rIns="0" bIns="0" rtlCol="0" anchor="ctr"/>
          <a:lstStyle/>
          <a:p>
            <a:pPr algn="ctr" indent="0" marL="0">
              <a:buNone/>
            </a:pPr>
            <a:r>
              <a:rPr lang="en-US" sz="2000" dirty="0">
                <a:solidFill>
                  <a:srgbClr val="8F8F8F"/>
                </a:solidFill>
                <a:latin typeface="Calibri" pitchFamily="34" charset="0"/>
                <a:ea typeface="Calibri" pitchFamily="34" charset="-122"/>
                <a:cs typeface="Calibri" pitchFamily="34" charset="-120"/>
              </a:rPr>
              <a:t>→</a:t>
            </a:r>
            <a:endParaRPr lang="en-US" sz="2000" dirty="0"/>
          </a:p>
        </p:txBody>
      </p:sp>
      <p:sp>
        <p:nvSpPr>
          <p:cNvPr id="20" name="Text 18"/>
          <p:cNvSpPr txBox="1"/>
          <p:nvPr/>
        </p:nvSpPr>
        <p:spPr>
          <a:xfrm>
            <a:off x="5257800" y="4151376"/>
            <a:ext cx="1783080" cy="685800"/>
          </a:xfrm>
          <a:prstGeom prst="rect">
            <a:avLst/>
          </a:prstGeom>
          <a:noFill/>
          <a:ln/>
        </p:spPr>
        <p:txBody>
          <a:bodyPr wrap="square" lIns="0" tIns="0" rIns="0" bIns="0" rtlCol="0" anchor="ctr"/>
          <a:lstStyle/>
          <a:p>
            <a:pPr algn="ctr" indent="0" marL="0">
              <a:buNone/>
            </a:pPr>
            <a:r>
              <a:rPr lang="en-US" sz="2600" b="1" dirty="0">
                <a:solidFill>
                  <a:srgbClr val="062746"/>
                </a:solidFill>
                <a:latin typeface="Georgia" pitchFamily="34" charset="0"/>
                <a:ea typeface="Georgia" pitchFamily="34" charset="-122"/>
                <a:cs typeface="Georgia" pitchFamily="34" charset="-120"/>
              </a:rPr>
              <a:t>0</a:t>
            </a:r>
            <a:endParaRPr lang="en-US" sz="2600" dirty="0"/>
          </a:p>
        </p:txBody>
      </p:sp>
      <p:sp>
        <p:nvSpPr>
          <p:cNvPr id="21" name="Text 19"/>
          <p:cNvSpPr txBox="1"/>
          <p:nvPr/>
        </p:nvSpPr>
        <p:spPr>
          <a:xfrm>
            <a:off x="548640" y="5175504"/>
            <a:ext cx="6583680" cy="365760"/>
          </a:xfrm>
          <a:prstGeom prst="rect">
            <a:avLst/>
          </a:prstGeom>
          <a:noFill/>
          <a:ln/>
        </p:spPr>
        <p:txBody>
          <a:bodyPr wrap="square" lIns="0" tIns="0" rIns="0" bIns="0" rtlCol="0" anchor="ctr"/>
          <a:lstStyle/>
          <a:p>
            <a:pPr algn="ctr" indent="0" marL="0">
              <a:buNone/>
            </a:pPr>
            <a:r>
              <a:rPr lang="en-US" sz="1100" i="1" dirty="0">
                <a:solidFill>
                  <a:srgbClr val="55524E"/>
                </a:solidFill>
                <a:latin typeface="Calibri" pitchFamily="34" charset="0"/>
                <a:ea typeface="Calibri" pitchFamily="34" charset="-122"/>
                <a:cs typeface="Calibri" pitchFamily="34" charset="-120"/>
              </a:rPr>
              <a:t>gpt-oss-120b, no fine in either condition, 10 games each</a:t>
            </a:r>
            <a:endParaRPr lang="en-US" sz="1100" dirty="0"/>
          </a:p>
        </p:txBody>
      </p:sp>
      <p:sp>
        <p:nvSpPr>
          <p:cNvPr id="22" name="Text 20"/>
          <p:cNvSpPr txBox="1"/>
          <p:nvPr/>
        </p:nvSpPr>
        <p:spPr>
          <a:xfrm>
            <a:off x="7635240" y="1682496"/>
            <a:ext cx="4007815"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Reduced, not stopped</a:t>
            </a:r>
            <a:endParaRPr lang="en-US" sz="1700" dirty="0"/>
          </a:p>
        </p:txBody>
      </p:sp>
      <p:sp>
        <p:nvSpPr>
          <p:cNvPr id="23" name="Text 21"/>
          <p:cNvSpPr txBox="1"/>
          <p:nvPr/>
        </p:nvSpPr>
        <p:spPr>
          <a:xfrm>
            <a:off x="7635240" y="2066544"/>
            <a:ext cx="4007815" cy="745236"/>
          </a:xfrm>
          <a:prstGeom prst="rect">
            <a:avLst/>
          </a:prstGeom>
          <a:noFill/>
          <a:ln/>
        </p:spPr>
        <p:txBody>
          <a:bodyPr wrap="square" lIns="0" tIns="0" rIns="0" bIns="0" rtlCol="0" anchor="t"/>
          <a:lstStyle/>
          <a:p>
            <a:pPr algn="l" indent="0" marL="0">
              <a:buNone/>
            </a:pPr>
            <a:r>
              <a:rPr lang="en-US" sz="1400" dirty="0">
                <a:solidFill>
                  <a:srgbClr val="1C191A"/>
                </a:solidFill>
                <a:latin typeface="Calibri" pitchFamily="34" charset="0"/>
                <a:ea typeface="Calibri" pitchFamily="34" charset="-122"/>
                <a:cs typeface="Calibri" pitchFamily="34" charset="-120"/>
              </a:rPr>
              <a:t>Memory protected the lake without any fine, but some over-taking remained. For Nemotron 3 Super, over-taking fell from 65% to 33%.</a:t>
            </a:r>
            <a:endParaRPr lang="en-US" sz="1400" dirty="0"/>
          </a:p>
        </p:txBody>
      </p:sp>
      <p:sp>
        <p:nvSpPr>
          <p:cNvPr id="24" name="Text 22"/>
          <p:cNvSpPr txBox="1"/>
          <p:nvPr/>
        </p:nvSpPr>
        <p:spPr>
          <a:xfrm>
            <a:off x="7635240" y="2976372"/>
            <a:ext cx="4007815" cy="365760"/>
          </a:xfrm>
          <a:prstGeom prst="rect">
            <a:avLst/>
          </a:prstGeom>
          <a:noFill/>
          <a:ln/>
        </p:spPr>
        <p:txBody>
          <a:bodyPr wrap="square" lIns="0" tIns="0" rIns="0" bIns="0" rtlCol="0" anchor="t"/>
          <a:lstStyle/>
          <a:p>
            <a:pPr indent="0" marL="0">
              <a:buNone/>
            </a:pPr>
            <a:r>
              <a:rPr lang="en-US" sz="1700" b="1" dirty="0">
                <a:solidFill>
                  <a:srgbClr val="1C191A"/>
                </a:solidFill>
                <a:latin typeface="Georgia" pitchFamily="34" charset="0"/>
                <a:ea typeface="Georgia" pitchFamily="34" charset="-122"/>
                <a:cs typeface="Georgia" pitchFamily="34" charset="-120"/>
              </a:rPr>
              <a:t>With a large enough fine</a:t>
            </a:r>
            <a:endParaRPr lang="en-US" sz="1700" dirty="0"/>
          </a:p>
        </p:txBody>
      </p:sp>
      <p:sp>
        <p:nvSpPr>
          <p:cNvPr id="25" name="Text 23"/>
          <p:cNvSpPr txBox="1"/>
          <p:nvPr/>
        </p:nvSpPr>
        <p:spPr>
          <a:xfrm>
            <a:off x="7635240" y="3360420"/>
            <a:ext cx="4007815" cy="745236"/>
          </a:xfrm>
          <a:prstGeom prst="rect">
            <a:avLst/>
          </a:prstGeom>
          <a:noFill/>
          <a:ln/>
        </p:spPr>
        <p:txBody>
          <a:bodyPr wrap="square" lIns="0" tIns="0" rIns="0" bIns="0" rtlCol="0" anchor="t"/>
          <a:lstStyle/>
          <a:p>
            <a:pPr algn="l" indent="0" marL="0">
              <a:buNone/>
            </a:pPr>
            <a:r>
              <a:rPr lang="en-US" sz="1400" dirty="0">
                <a:solidFill>
                  <a:srgbClr val="1C191A"/>
                </a:solidFill>
                <a:latin typeface="Calibri" pitchFamily="34" charset="0"/>
                <a:ea typeface="Calibri" pitchFamily="34" charset="-122"/>
                <a:cs typeface="Calibri" pitchFamily="34" charset="-120"/>
              </a:rPr>
              <a:t>Fines above the gain stopped over-taking and kept the harvest at 0.99 of the maximum the lake can sustain.</a:t>
            </a:r>
            <a:endParaRPr lang="en-US" sz="1400" dirty="0"/>
          </a:p>
        </p:txBody>
      </p:sp>
      <p:sp>
        <p:nvSpPr>
          <p:cNvPr id="26" name="Text 24"/>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b"/>
          <a:lstStyle/>
          <a:p>
            <a:pPr algn="l" indent="0" marL="0">
              <a:lnSpc>
                <a:spcPct val="95000"/>
              </a:lnSpc>
              <a:buNone/>
            </a:pPr>
            <a:r>
              <a:rPr lang="en-US" sz="3400" b="1" dirty="0">
                <a:solidFill>
                  <a:srgbClr val="062746"/>
                </a:solidFill>
                <a:latin typeface="Georgia" pitchFamily="34" charset="0"/>
                <a:ea typeface="Georgia" pitchFamily="34" charset="-122"/>
                <a:cs typeface="Georgia" pitchFamily="34" charset="-120"/>
              </a:rPr>
              <a:t>Backup: Where This Is Going</a:t>
            </a:r>
            <a:endParaRPr lang="en-US" sz="3400" dirty="0"/>
          </a:p>
        </p:txBody>
      </p:sp>
      <p:sp>
        <p:nvSpPr>
          <p:cNvPr id="3" name="Shape 1"/>
          <p:cNvSpPr/>
          <p:nvPr/>
        </p:nvSpPr>
        <p:spPr>
          <a:xfrm>
            <a:off x="548640" y="1271016"/>
            <a:ext cx="3291840" cy="91440"/>
          </a:xfrm>
          <a:prstGeom prst="rect">
            <a:avLst/>
          </a:prstGeom>
          <a:solidFill>
            <a:srgbClr val="131B28"/>
          </a:solidFill>
          <a:ln w="12700">
            <a:solidFill>
              <a:srgbClr val="131B28"/>
            </a:solidFill>
            <a:prstDash val="solid"/>
          </a:ln>
        </p:spPr>
      </p:sp>
      <p:sp>
        <p:nvSpPr>
          <p:cNvPr id="4" name="Shape 2"/>
          <p:cNvSpPr/>
          <p:nvPr/>
        </p:nvSpPr>
        <p:spPr>
          <a:xfrm>
            <a:off x="1935442" y="3017520"/>
            <a:ext cx="8320811" cy="0"/>
          </a:xfrm>
          <a:prstGeom prst="line">
            <a:avLst/>
          </a:prstGeom>
          <a:noFill/>
          <a:ln w="25400">
            <a:solidFill>
              <a:srgbClr val="C9C6C1"/>
            </a:solidFill>
            <a:prstDash val="solid"/>
          </a:ln>
        </p:spPr>
      </p:sp>
      <p:sp>
        <p:nvSpPr>
          <p:cNvPr id="5" name="Shape 3"/>
          <p:cNvSpPr/>
          <p:nvPr/>
        </p:nvSpPr>
        <p:spPr>
          <a:xfrm>
            <a:off x="1779994" y="2862072"/>
            <a:ext cx="310896" cy="310896"/>
          </a:xfrm>
          <a:prstGeom prst="ellipse">
            <a:avLst/>
          </a:prstGeom>
          <a:solidFill>
            <a:srgbClr val="062746"/>
          </a:solidFill>
          <a:ln w="19050">
            <a:solidFill>
              <a:srgbClr val="062746"/>
            </a:solidFill>
            <a:prstDash val="solid"/>
          </a:ln>
        </p:spPr>
      </p:sp>
      <p:sp>
        <p:nvSpPr>
          <p:cNvPr id="6" name="Text 4"/>
          <p:cNvSpPr txBox="1"/>
          <p:nvPr/>
        </p:nvSpPr>
        <p:spPr>
          <a:xfrm>
            <a:off x="640080" y="3310128"/>
            <a:ext cx="2590724" cy="365760"/>
          </a:xfrm>
          <a:prstGeom prst="rect">
            <a:avLst/>
          </a:prstGeom>
          <a:noFill/>
          <a:ln/>
        </p:spPr>
        <p:txBody>
          <a:bodyPr wrap="square" lIns="0" tIns="0" rIns="0" bIns="0" rtlCol="0" anchor="ctr"/>
          <a:lstStyle/>
          <a:p>
            <a:pPr algn="ctr" indent="0" marL="0">
              <a:buNone/>
            </a:pPr>
            <a:r>
              <a:rPr lang="en-US" sz="1500" b="1" dirty="0">
                <a:solidFill>
                  <a:srgbClr val="062746"/>
                </a:solidFill>
                <a:latin typeface="Georgia" pitchFamily="34" charset="0"/>
                <a:ea typeface="Georgia" pitchFamily="34" charset="-122"/>
                <a:cs typeface="Georgia" pitchFamily="34" charset="-120"/>
              </a:rPr>
              <a:t>Sep – 8 Oct</a:t>
            </a:r>
            <a:endParaRPr lang="en-US" sz="1500" dirty="0"/>
          </a:p>
        </p:txBody>
      </p:sp>
      <p:sp>
        <p:nvSpPr>
          <p:cNvPr id="7" name="Text 5"/>
          <p:cNvSpPr txBox="1"/>
          <p:nvPr/>
        </p:nvSpPr>
        <p:spPr>
          <a:xfrm>
            <a:off x="658368" y="3703320"/>
            <a:ext cx="2554148" cy="2194560"/>
          </a:xfrm>
          <a:prstGeom prst="rect">
            <a:avLst/>
          </a:prstGeom>
          <a:noFill/>
          <a:ln/>
        </p:spPr>
        <p:txBody>
          <a:bodyPr wrap="square" lIns="0" tIns="0" rIns="0" bIns="0" rtlCol="0" anchor="t"/>
          <a:lstStyle/>
          <a:p>
            <a:pPr algn="ctr" indent="0" marL="0">
              <a:buNone/>
            </a:pPr>
            <a:r>
              <a:rPr lang="en-US" sz="1300" dirty="0">
                <a:solidFill>
                  <a:srgbClr val="1C191A"/>
                </a:solidFill>
                <a:latin typeface="Calibri" pitchFamily="34" charset="0"/>
                <a:ea typeface="Calibri" pitchFamily="34" charset="-122"/>
                <a:cs typeface="Calibri" pitchFamily="34" charset="-120"/>
              </a:rPr>
              <a:t>Programmed agents in all three settings; language models in Fishery</a:t>
            </a:r>
            <a:endParaRPr lang="en-US" sz="1300" dirty="0"/>
          </a:p>
        </p:txBody>
      </p:sp>
      <p:sp>
        <p:nvSpPr>
          <p:cNvPr id="8" name="Shape 6"/>
          <p:cNvSpPr/>
          <p:nvPr/>
        </p:nvSpPr>
        <p:spPr>
          <a:xfrm>
            <a:off x="4553598" y="2862072"/>
            <a:ext cx="310896" cy="310896"/>
          </a:xfrm>
          <a:prstGeom prst="ellipse">
            <a:avLst/>
          </a:prstGeom>
          <a:solidFill>
            <a:srgbClr val="FFFFFF"/>
          </a:solidFill>
          <a:ln w="19050">
            <a:solidFill>
              <a:srgbClr val="062746"/>
            </a:solidFill>
            <a:prstDash val="solid"/>
          </a:ln>
        </p:spPr>
      </p:sp>
      <p:sp>
        <p:nvSpPr>
          <p:cNvPr id="9" name="Text 7"/>
          <p:cNvSpPr txBox="1"/>
          <p:nvPr/>
        </p:nvSpPr>
        <p:spPr>
          <a:xfrm>
            <a:off x="3413684" y="3310128"/>
            <a:ext cx="2590724" cy="365760"/>
          </a:xfrm>
          <a:prstGeom prst="rect">
            <a:avLst/>
          </a:prstGeom>
          <a:noFill/>
          <a:ln/>
        </p:spPr>
        <p:txBody>
          <a:bodyPr wrap="square" lIns="0" tIns="0" rIns="0" bIns="0" rtlCol="0" anchor="ctr"/>
          <a:lstStyle/>
          <a:p>
            <a:pPr algn="ctr" indent="0" marL="0">
              <a:buNone/>
            </a:pPr>
            <a:r>
              <a:rPr lang="en-US" sz="1500" b="1" dirty="0">
                <a:solidFill>
                  <a:srgbClr val="062746"/>
                </a:solidFill>
                <a:latin typeface="Georgia" pitchFamily="34" charset="0"/>
                <a:ea typeface="Georgia" pitchFamily="34" charset="-122"/>
                <a:cs typeface="Georgia" pitchFamily="34" charset="-120"/>
              </a:rPr>
              <a:t>12 – 14 Oct</a:t>
            </a:r>
            <a:endParaRPr lang="en-US" sz="1500" dirty="0"/>
          </a:p>
        </p:txBody>
      </p:sp>
      <p:sp>
        <p:nvSpPr>
          <p:cNvPr id="10" name="Text 8"/>
          <p:cNvSpPr txBox="1"/>
          <p:nvPr/>
        </p:nvSpPr>
        <p:spPr>
          <a:xfrm>
            <a:off x="3431972" y="3703320"/>
            <a:ext cx="2554148" cy="2194560"/>
          </a:xfrm>
          <a:prstGeom prst="rect">
            <a:avLst/>
          </a:prstGeom>
          <a:noFill/>
          <a:ln/>
        </p:spPr>
        <p:txBody>
          <a:bodyPr wrap="square" lIns="0" tIns="0" rIns="0" bIns="0" rtlCol="0" anchor="t"/>
          <a:lstStyle/>
          <a:p>
            <a:pPr algn="ctr" indent="0" marL="0">
              <a:buNone/>
            </a:pPr>
            <a:r>
              <a:rPr lang="en-US" sz="1300" dirty="0">
                <a:solidFill>
                  <a:srgbClr val="1C191A"/>
                </a:solidFill>
                <a:latin typeface="Calibri" pitchFamily="34" charset="0"/>
                <a:ea typeface="Calibri" pitchFamily="34" charset="-122"/>
                <a:cs typeface="Calibri" pitchFamily="34" charset="-120"/>
              </a:rPr>
              <a:t>Follow-up tests asked for by two outside reviews</a:t>
            </a:r>
            <a:endParaRPr lang="en-US" sz="1300" dirty="0"/>
          </a:p>
        </p:txBody>
      </p:sp>
      <p:sp>
        <p:nvSpPr>
          <p:cNvPr id="11" name="Shape 9"/>
          <p:cNvSpPr/>
          <p:nvPr/>
        </p:nvSpPr>
        <p:spPr>
          <a:xfrm>
            <a:off x="7327202" y="2862072"/>
            <a:ext cx="310896" cy="310896"/>
          </a:xfrm>
          <a:prstGeom prst="ellipse">
            <a:avLst/>
          </a:prstGeom>
          <a:solidFill>
            <a:srgbClr val="FFFFFF"/>
          </a:solidFill>
          <a:ln w="19050">
            <a:solidFill>
              <a:srgbClr val="062746"/>
            </a:solidFill>
            <a:prstDash val="solid"/>
          </a:ln>
        </p:spPr>
      </p:sp>
      <p:sp>
        <p:nvSpPr>
          <p:cNvPr id="12" name="Text 10"/>
          <p:cNvSpPr txBox="1"/>
          <p:nvPr/>
        </p:nvSpPr>
        <p:spPr>
          <a:xfrm>
            <a:off x="6187288" y="3310128"/>
            <a:ext cx="2590724" cy="365760"/>
          </a:xfrm>
          <a:prstGeom prst="rect">
            <a:avLst/>
          </a:prstGeom>
          <a:noFill/>
          <a:ln/>
        </p:spPr>
        <p:txBody>
          <a:bodyPr wrap="square" lIns="0" tIns="0" rIns="0" bIns="0" rtlCol="0" anchor="ctr"/>
          <a:lstStyle/>
          <a:p>
            <a:pPr algn="ctr" indent="0" marL="0">
              <a:buNone/>
            </a:pPr>
            <a:r>
              <a:rPr lang="en-US" sz="1500" b="1" dirty="0">
                <a:solidFill>
                  <a:srgbClr val="062746"/>
                </a:solidFill>
                <a:latin typeface="Georgia" pitchFamily="34" charset="0"/>
                <a:ea typeface="Georgia" pitchFamily="34" charset="-122"/>
                <a:cs typeface="Georgia" pitchFamily="34" charset="-120"/>
              </a:rPr>
              <a:t>20 Nov</a:t>
            </a:r>
            <a:endParaRPr lang="en-US" sz="1500" dirty="0"/>
          </a:p>
        </p:txBody>
      </p:sp>
      <p:sp>
        <p:nvSpPr>
          <p:cNvPr id="13" name="Text 11"/>
          <p:cNvSpPr txBox="1"/>
          <p:nvPr/>
        </p:nvSpPr>
        <p:spPr>
          <a:xfrm>
            <a:off x="6205576" y="3703320"/>
            <a:ext cx="2554148" cy="2194560"/>
          </a:xfrm>
          <a:prstGeom prst="rect">
            <a:avLst/>
          </a:prstGeom>
          <a:noFill/>
          <a:ln/>
        </p:spPr>
        <p:txBody>
          <a:bodyPr wrap="square" lIns="0" tIns="0" rIns="0" bIns="0" rtlCol="0" anchor="t"/>
          <a:lstStyle/>
          <a:p>
            <a:pPr algn="ctr" indent="0" marL="0">
              <a:buNone/>
            </a:pPr>
            <a:r>
              <a:rPr lang="en-US" sz="1300" dirty="0">
                <a:solidFill>
                  <a:srgbClr val="1C191A"/>
                </a:solidFill>
                <a:latin typeface="Calibri" pitchFamily="34" charset="0"/>
                <a:ea typeface="Calibri" pitchFamily="34" charset="-122"/>
                <a:cs typeface="Calibri" pitchFamily="34" charset="-120"/>
              </a:rPr>
              <a:t>Workshop submission (AAAI-27 WMAC) and arXiv</a:t>
            </a:r>
            <a:endParaRPr lang="en-US" sz="1300" dirty="0"/>
          </a:p>
        </p:txBody>
      </p:sp>
      <p:sp>
        <p:nvSpPr>
          <p:cNvPr id="14" name="Shape 12"/>
          <p:cNvSpPr/>
          <p:nvPr/>
        </p:nvSpPr>
        <p:spPr>
          <a:xfrm>
            <a:off x="10100805" y="2862072"/>
            <a:ext cx="310896" cy="310896"/>
          </a:xfrm>
          <a:prstGeom prst="ellipse">
            <a:avLst/>
          </a:prstGeom>
          <a:solidFill>
            <a:srgbClr val="FFFFFF"/>
          </a:solidFill>
          <a:ln w="19050">
            <a:solidFill>
              <a:srgbClr val="062746"/>
            </a:solidFill>
            <a:prstDash val="solid"/>
          </a:ln>
        </p:spPr>
      </p:sp>
      <p:sp>
        <p:nvSpPr>
          <p:cNvPr id="15" name="Text 13"/>
          <p:cNvSpPr txBox="1"/>
          <p:nvPr/>
        </p:nvSpPr>
        <p:spPr>
          <a:xfrm>
            <a:off x="8960891" y="3310128"/>
            <a:ext cx="2590724" cy="365760"/>
          </a:xfrm>
          <a:prstGeom prst="rect">
            <a:avLst/>
          </a:prstGeom>
          <a:noFill/>
          <a:ln/>
        </p:spPr>
        <p:txBody>
          <a:bodyPr wrap="square" lIns="0" tIns="0" rIns="0" bIns="0" rtlCol="0" anchor="ctr"/>
          <a:lstStyle/>
          <a:p>
            <a:pPr algn="ctr" indent="0" marL="0">
              <a:buNone/>
            </a:pPr>
            <a:r>
              <a:rPr lang="en-US" sz="1500" b="1" dirty="0">
                <a:solidFill>
                  <a:srgbClr val="062746"/>
                </a:solidFill>
                <a:latin typeface="Georgia" pitchFamily="34" charset="0"/>
                <a:ea typeface="Georgia" pitchFamily="34" charset="-122"/>
                <a:cs typeface="Georgia" pitchFamily="34" charset="-120"/>
              </a:rPr>
              <a:t>Jan 2027</a:t>
            </a:r>
            <a:endParaRPr lang="en-US" sz="1500" dirty="0"/>
          </a:p>
        </p:txBody>
      </p:sp>
      <p:sp>
        <p:nvSpPr>
          <p:cNvPr id="16" name="Text 14"/>
          <p:cNvSpPr txBox="1"/>
          <p:nvPr/>
        </p:nvSpPr>
        <p:spPr>
          <a:xfrm>
            <a:off x="8979179" y="3703320"/>
            <a:ext cx="2554148" cy="2194560"/>
          </a:xfrm>
          <a:prstGeom prst="rect">
            <a:avLst/>
          </a:prstGeom>
          <a:noFill/>
          <a:ln/>
        </p:spPr>
        <p:txBody>
          <a:bodyPr wrap="square" lIns="0" tIns="0" rIns="0" bIns="0" rtlCol="0" anchor="t"/>
          <a:lstStyle/>
          <a:p>
            <a:pPr algn="ctr" indent="0" marL="0">
              <a:buNone/>
            </a:pPr>
            <a:r>
              <a:rPr lang="en-US" sz="1300" dirty="0">
                <a:solidFill>
                  <a:srgbClr val="1C191A"/>
                </a:solidFill>
                <a:latin typeface="Calibri" pitchFamily="34" charset="0"/>
                <a:ea typeface="Calibri" pitchFamily="34" charset="-122"/>
                <a:cs typeface="Calibri" pitchFamily="34" charset="-120"/>
              </a:rPr>
              <a:t>Main conference: IJCAI or ICML</a:t>
            </a:r>
            <a:endParaRPr lang="en-US" sz="1300" dirty="0"/>
          </a:p>
        </p:txBody>
      </p:sp>
      <p:sp>
        <p:nvSpPr>
          <p:cNvPr id="17" name="Text 15"/>
          <p:cNvSpPr txBox="1"/>
          <p:nvPr/>
        </p:nvSpPr>
        <p:spPr>
          <a:xfrm>
            <a:off x="548640" y="5852160"/>
            <a:ext cx="11094415" cy="457200"/>
          </a:xfrm>
          <a:prstGeom prst="rect">
            <a:avLst/>
          </a:prstGeom>
          <a:noFill/>
          <a:ln/>
        </p:spPr>
        <p:txBody>
          <a:bodyPr wrap="square" lIns="0" tIns="0" rIns="0" bIns="0" rtlCol="0" anchor="ctr"/>
          <a:lstStyle/>
          <a:p>
            <a:pPr algn="ctr" indent="0" marL="0">
              <a:buNone/>
            </a:pPr>
            <a:r>
              <a:rPr lang="en-US" sz="1200" i="1" dirty="0">
                <a:solidFill>
                  <a:srgbClr val="55524E"/>
                </a:solidFill>
                <a:latin typeface="Calibri" pitchFamily="34" charset="0"/>
                <a:ea typeface="Calibri" pitchFamily="34" charset="-122"/>
                <a:cs typeface="Calibri" pitchFamily="34" charset="-120"/>
              </a:rPr>
              <a:t>Each study has a protocol written down before its code; predictions that failed are reported.</a:t>
            </a:r>
            <a:endParaRPr lang="en-US" sz="1200" dirty="0"/>
          </a:p>
        </p:txBody>
      </p:sp>
      <p:sp>
        <p:nvSpPr>
          <p:cNvPr id="18" name="Text 16"/>
          <p:cNvSpPr txBox="1"/>
          <p:nvPr/>
        </p:nvSpPr>
        <p:spPr>
          <a:xfrm>
            <a:off x="11368735" y="6400800"/>
            <a:ext cx="457200" cy="274320"/>
          </a:xfrm>
          <a:prstGeom prst="rect">
            <a:avLst/>
          </a:prstGeom>
          <a:noFill/>
          <a:ln/>
        </p:spPr>
        <p:txBody>
          <a:bodyPr wrap="square" lIns="0" tIns="0" rIns="0" bIns="0" rtlCol="0" anchor="ctr"/>
          <a:lstStyle/>
          <a:p>
            <a:pPr algn="r" indent="0" marL="0">
              <a:buNone/>
            </a:pPr>
            <a:r>
              <a:rPr lang="en-US" sz="1000" dirty="0">
                <a:solidFill>
                  <a:srgbClr val="1C191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Penalties Sized to the Gain: PhD catch-up</dc:title>
  <dc:subject>PptxGenJS Presentation</dc:subject>
  <dc:creator>Ameer Alhashemi</dc:creator>
  <cp:lastModifiedBy>Ameer Alhashemi</cp:lastModifiedBy>
  <cp:revision>1</cp:revision>
  <dcterms:created xsi:type="dcterms:W3CDTF">2026-10-12T22:14:13Z</dcterms:created>
  <dcterms:modified xsi:type="dcterms:W3CDTF">2026-10-12T22:14:13Z</dcterms:modified>
</cp:coreProperties>
</file>