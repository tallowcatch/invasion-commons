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I'll catch you up on what I've been working on. The title is Penalties Sized to the Gain, and the question underneath is really the whole project: when do random spot-checks stop AI agents from over-using something they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remember one slide, make it this one.
Why it matters: AI agents are starting to act on things they share with other agents and people, like compute, energy and budgets. Whoever oversees them can't check every action, so they check a sample.
What I built: a simulated shared resource. Six agents draw on it over many rounds, a reviewer decides how much each one is allowed to take, and a few agents are checked at random each round.
What I tested: what should happen to an agent that gets caught taking too much — a fine, a memory of the offence, or both — and whether you can work out in advance how big the fine needs to be to stop it.
What I found: checks only help when getting caught has a consequence, and the fine that stops an agent can be predicted from how much it gains by cheating. That held for programmed agents and for language models.
The rest of the talk unpacks those four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the problem concrete. Each agent gets an allowance, the amount it's allowed to take this round. Taking more than that helps the agent and leaves less for everyone else.
Checking every action costs too much, so the overseer spot-checks a few, the way tax inspectors or fisheries inspectors do. The open question is when a sampled check actually stops over-use, and how big the penalty has to be.
I ask this in three settings, on the right. They aren't three toy problems; I picked them because harm travels differently in each:
- in Fishery, everyone draws from one shared stock;
- in Forest, each agent has its own plot, but over-cutting damages your two neighbours;
- in River, two kinds of pollution are mostly harmless alone and harmful together.
If a result holds in all three, it isn't an artefact of one particular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there are three questions.
1. When a check catches someone, what has to follow for the check to matter: a fine, a memory, or nothing?
2. Is there a fine size where cheating stops, and can I calculate it before I try it?
3. When most of the agents are language models making their own choices, do they stop where my prediction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round.
1. Every agent asks for a share.
2. The reviewer predicts what those requests would do to the resource. It then scales everyone's request down by the same factor, if needed, to keep the resource healthy.
3. Each agent then takes its allowance, or more if it's cheating.
4. The resource regrows.
5. A few agents are checked at random.
The one definition to keep in mind is harm: the resource falling below half of its capacity. That's the level where it regrows fastest, the 'maximum sustainable yield' level from fisheries management. I use the same harm line in all three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method, in four steps.
1. Run the setting.
2. Run games with no fine and measure how much an agent gains from one round of taking more than its allowance.
3. Use that to predict the fine that should stop it, and write the prediction down before running any game with that fine.
4. Test the predicted fine, and the fines around it, on new games, and report the result whether or not it matches.
The card on the right has the only formula in the talk:
- q is the chance of being checked;
- F is the fine;
- so q times F is the expected fine for one round of cheating;
- g is what you gain from that round.
The prediction, which goes back to the economist Gary Becker in 1968, is that cheating stops once the expected fine is bigger than the gain. For example, with a 1-in-6 chance of a check and a 30-tonne fine, the expected fine is 5 tonnes. A model that gains about 4.5 tonnes per round should stop there, and not at 24 tonnes, where the expected fine is only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finding. Here some agents report less than they actually intend to take, so the reviewer underestimates their use unless a check catches them.
If the reviewer only corrects the round in which it caught a lie, that removes just 10 to 46 percent of the harm. If it remembers each caught lie and adjusts that agent's future allowances, harm drops a lot in all 12 settings I tested. In Fishery, the share of rounds below half capacity fell from somewhere between 43 and 99 percent to under 3 percent.
The takeaway: a catch by itself barely helps. It needs a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finding. These programmed agents choose how much to over-take so as to earn the most. Using only games without any checks, I predicted the expected fine at which they'd stop. In five out of five new settings, the stopping point landed within one step of the prediction.
To be fair about it: these agents are built to maximise their payoff, so this is mostly a check that my measurement method works before I try it on language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finding: two shortcuts that look sensible and backfire.
On the left, the overseer knows there are cheaters and lowers everyone's allowance to make up for them. Cheaters actually gained more than with no checks at all, 142 against 113, and honest agents paid for it.
On the right, the overseer always checks whoever asks for the most. Over a game that caught only 25 percent of the liars, against 100 percent with random checks, because the biggest requester is often honest, so the same honest agent keeps getting checked.
The lesson is that shortcuts which save checks can open blind spots.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language models. Four open models each controlled four of the six fishers, with two rule-following fishers left in so I can see who gets hurt. That's 520 games in total.
The left panel shows how often each model took more than its allowance, at each fine size. Two models, gpt-oss and Nemotron, over-took on purpose. The other two barely did: Gemma rarely, and Mistral never.
Before testing, I predicted from their no-fine behaviour that both would stop at 30 tonnes. Nemotron stopped exactly at 30, and gpt-oss one step early, at 24. The right panel shows the rule-following fishers getting their catch back once the fine is large enough.
One interesting side result: a small fine made gpt-oss cheat more, from about 55 to about 90 percent of rounds. It's as if the fine became a price for cheating, which has also been seen in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Fifth finding: which gain predicts the stop. It was how much the model took above its allowance in a single round, about 4.5 to 4.7 tonnes.
It was not what over-taking earned over the whole game. Over the whole game their cheating gained little or even lost fish, because it depleted the lake, and yet they kept going.
They also stopped earlier than a perfect payoff-maximiser would. That agent would hold out until 36 tonnes; both models stopped before that, and gradually.
I want to be careful here: this tells us what predicts where they stop, not why they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memory works for language models too. With checks and memory, but no fine at all, gpt-oss over-took in 20 percent of rounds instead of 55. Rounds below half capacity fell from 92 to 20 percent, and no lake collapsed, against 5 out of 10 without memory.
So memory reduced over-taking but didn't stop it. A big enough fine did stop it, and cost nothing in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still running. The boxes are empty because the results aren't in yet. Each one answers a question an outside review raised.
1. Do the models respond to the expected fine, or to the size of the fine? I keep the expected fine the same but change how it's made up: a 1-in-3 chance of a check with a small fine, 1-in-6, or 1-in-12 with a large fine.
2. Does the prediction hold on new games and with reworded rules? The predictions are already written down: 30 tonnes for both models.
3. What happens if nothing ever checks?
4. Does cheating spread? In Forest, I put one programmed cheater among five language-model agents and see whether its neighbours start over-cutting, with and without being able to see each other's cuts.
I also screened a fifth model, DeepSeek. It over-took in 80 percent of rounds without a fine, so it's a third model that cheats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 The programmed-agent work and the first language-model studies are done.
- The follow-ups finish in the next day or so.
- I'm aiming for an AAAI workshop on 20 November, plus arXiv.
- Then a main conference in January, IJCAI or ICML. Those dates are estimates, because the calls aren't out yet.
Every study had its plan written down before the code, and I report the predictions that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really like your views on these. Is taking more than your allowance a fair stand-in for an AI agent misbehaving? If a fine works under one wording of the rules, how far would you trust it under another? Would more models or more kinds of setting convince you more? And where in your own work does someone check only a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I'm happy to share the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5F4F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960120" y="2011680"/>
            <a:ext cx="10058400" cy="1188720"/>
          </a:xfrm>
          <a:prstGeom prst="rect">
            <a:avLst/>
          </a:prstGeom>
          <a:noFill/>
          <a:ln/>
        </p:spPr>
        <p:txBody>
          <a:bodyPr wrap="square" lIns="0" tIns="0" rIns="0" bIns="0" rtlCol="0" anchor="b"/>
          <a:lstStyle/>
          <a:p>
            <a:pPr indent="0" marL="0">
              <a:buNone/>
            </a:pPr>
            <a:r>
              <a:rPr lang="en-US" sz="5400" dirty="0">
                <a:solidFill>
                  <a:srgbClr val="2B2F33"/>
                </a:solidFill>
                <a:latin typeface="Calibri Light" pitchFamily="34" charset="0"/>
                <a:ea typeface="Calibri Light" pitchFamily="34" charset="-122"/>
                <a:cs typeface="Calibri Light" pitchFamily="34" charset="-120"/>
              </a:rPr>
              <a:t>Penalties Sized to the Gain</a:t>
            </a:r>
            <a:endParaRPr lang="en-US" sz="5400" dirty="0"/>
          </a:p>
        </p:txBody>
      </p:sp>
      <p:sp>
        <p:nvSpPr>
          <p:cNvPr id="3" name="Text 1"/>
          <p:cNvSpPr txBox="1"/>
          <p:nvPr/>
        </p:nvSpPr>
        <p:spPr>
          <a:xfrm>
            <a:off x="960120" y="3291840"/>
            <a:ext cx="7863840" cy="777240"/>
          </a:xfrm>
          <a:prstGeom prst="rect">
            <a:avLst/>
          </a:prstGeom>
          <a:noFill/>
          <a:ln/>
        </p:spPr>
        <p:txBody>
          <a:bodyPr wrap="square" lIns="0" tIns="0" rIns="0" bIns="0" rtlCol="0" anchor="t"/>
          <a:lstStyle/>
          <a:p>
            <a:pPr indent="0" marL="0">
              <a:buNone/>
            </a:pPr>
            <a:r>
              <a:rPr lang="en-US" sz="1900" i="1" dirty="0">
                <a:solidFill>
                  <a:srgbClr val="2B2F33"/>
                </a:solidFill>
                <a:latin typeface="Calibri" pitchFamily="34" charset="0"/>
                <a:ea typeface="Calibri" pitchFamily="34" charset="-122"/>
                <a:cs typeface="Calibri" pitchFamily="34" charset="-120"/>
              </a:rPr>
              <a:t>When do random audits stop AI agents from over-using a shared resource?</a:t>
            </a:r>
            <a:endParaRPr lang="en-US" sz="1900" dirty="0"/>
          </a:p>
        </p:txBody>
      </p:sp>
      <p:sp>
        <p:nvSpPr>
          <p:cNvPr id="4" name="Shape 2"/>
          <p:cNvSpPr/>
          <p:nvPr/>
        </p:nvSpPr>
        <p:spPr>
          <a:xfrm>
            <a:off x="960120" y="4206240"/>
            <a:ext cx="3383280" cy="109728"/>
          </a:xfrm>
          <a:prstGeom prst="rect">
            <a:avLst/>
          </a:prstGeom>
          <a:solidFill>
            <a:srgbClr val="131B28"/>
          </a:solidFill>
          <a:ln w="12700">
            <a:solidFill>
              <a:srgbClr val="131B28"/>
            </a:solidFill>
            <a:prstDash val="solid"/>
          </a:ln>
        </p:spPr>
      </p:sp>
      <p:sp>
        <p:nvSpPr>
          <p:cNvPr id="5" name="Text 3"/>
          <p:cNvSpPr txBox="1"/>
          <p:nvPr/>
        </p:nvSpPr>
        <p:spPr>
          <a:xfrm>
            <a:off x="6522415" y="5440680"/>
            <a:ext cx="4937760" cy="822960"/>
          </a:xfrm>
          <a:prstGeom prst="rect">
            <a:avLst/>
          </a:prstGeom>
          <a:noFill/>
          <a:ln/>
        </p:spPr>
        <p:txBody>
          <a:bodyPr wrap="square" lIns="0" tIns="0" rIns="0" bIns="0" rtlCol="0" anchor="b"/>
          <a:lstStyle/>
          <a:p>
            <a:pPr algn="r" indent="0" marL="0">
              <a:buNone/>
            </a:pPr>
            <a:r>
              <a:rPr lang="en-US" sz="1100" dirty="0">
                <a:solidFill>
                  <a:srgbClr val="1C191A"/>
                </a:solidFill>
                <a:latin typeface="Calibri" pitchFamily="34" charset="0"/>
                <a:ea typeface="Calibri" pitchFamily="34" charset="-122"/>
                <a:cs typeface="Calibri" pitchFamily="34" charset="-120"/>
              </a:rPr>
              <a:t>Ameer Alhashemi</a:t>
            </a:r>
            <a:endParaRPr lang="en-US" sz="1100" dirty="0"/>
          </a:p>
          <a:p>
            <a:pPr algn="r" indent="0" marL="0">
              <a:buNone/>
            </a:pPr>
            <a:r>
              <a:rPr lang="en-US" sz="1100" dirty="0">
                <a:solidFill>
                  <a:srgbClr val="1C191A"/>
                </a:solidFill>
                <a:latin typeface="Calibri" pitchFamily="34" charset="0"/>
                <a:ea typeface="Calibri" pitchFamily="34" charset="-122"/>
                <a:cs typeface="Calibri" pitchFamily="34" charset="-120"/>
              </a:rPr>
              <a:t>PhD catch-up</a:t>
            </a:r>
            <a:endParaRPr lang="en-US" sz="1100" dirty="0"/>
          </a:p>
          <a:p>
            <a:pPr algn="r" indent="0" marL="0">
              <a:buNone/>
            </a:pPr>
            <a:r>
              <a:rPr lang="en-US" sz="1100" dirty="0">
                <a:solidFill>
                  <a:srgbClr val="1C191A"/>
                </a:solidFill>
                <a:latin typeface="Calibri" pitchFamily="34" charset="0"/>
                <a:ea typeface="Calibri" pitchFamily="34" charset="-122"/>
                <a:cs typeface="Calibri" pitchFamily="34" charset="-120"/>
              </a:rPr>
              <a:t>King's College London, 13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The Project in One Slide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Shape 2"/>
          <p:cNvSpPr/>
          <p:nvPr/>
        </p:nvSpPr>
        <p:spPr>
          <a:xfrm>
            <a:off x="548640"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77240"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01   WHY</a:t>
            </a:r>
            <a:endParaRPr lang="en-US" sz="1300" dirty="0"/>
          </a:p>
        </p:txBody>
      </p:sp>
      <p:sp>
        <p:nvSpPr>
          <p:cNvPr id="6" name="Text 4"/>
          <p:cNvSpPr txBox="1"/>
          <p:nvPr/>
        </p:nvSpPr>
        <p:spPr>
          <a:xfrm>
            <a:off x="777240" y="2276856"/>
            <a:ext cx="2110664" cy="969264"/>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Oversight of AI agents is sampled</a:t>
            </a:r>
            <a:endParaRPr lang="en-US" sz="1700" dirty="0"/>
          </a:p>
        </p:txBody>
      </p:sp>
      <p:sp>
        <p:nvSpPr>
          <p:cNvPr id="7" name="Text 5"/>
          <p:cNvSpPr txBox="1"/>
          <p:nvPr/>
        </p:nvSpPr>
        <p:spPr>
          <a:xfrm>
            <a:off x="777240" y="3291840"/>
            <a:ext cx="2110664" cy="1920240"/>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AI agents are starting to act on resources they share with others, such as compute, energy and budgets. Whoever oversees them can usually check only a few of their actions.</a:t>
            </a:r>
            <a:endParaRPr lang="en-US" sz="1350" dirty="0"/>
          </a:p>
        </p:txBody>
      </p:sp>
      <p:sp>
        <p:nvSpPr>
          <p:cNvPr id="8" name="Shape 6"/>
          <p:cNvSpPr/>
          <p:nvPr/>
        </p:nvSpPr>
        <p:spPr>
          <a:xfrm>
            <a:off x="3390824"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3619424"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02   WHAT I BUILT</a:t>
            </a:r>
            <a:endParaRPr lang="en-US" sz="1300" dirty="0"/>
          </a:p>
        </p:txBody>
      </p:sp>
      <p:sp>
        <p:nvSpPr>
          <p:cNvPr id="10" name="Text 8"/>
          <p:cNvSpPr txBox="1"/>
          <p:nvPr/>
        </p:nvSpPr>
        <p:spPr>
          <a:xfrm>
            <a:off x="3619424" y="2276856"/>
            <a:ext cx="2110664" cy="676656"/>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A shared resource with checks</a:t>
            </a:r>
            <a:endParaRPr lang="en-US" sz="1700" dirty="0"/>
          </a:p>
        </p:txBody>
      </p:sp>
      <p:sp>
        <p:nvSpPr>
          <p:cNvPr id="11" name="Text 9"/>
          <p:cNvSpPr txBox="1"/>
          <p:nvPr/>
        </p:nvSpPr>
        <p:spPr>
          <a:xfrm>
            <a:off x="3619424" y="2999232"/>
            <a:ext cx="2110664" cy="2212848"/>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Six agents draw on one renewable resource over many rounds. A reviewer sets how much each may take, and a few agents are checked at random each round.</a:t>
            </a:r>
            <a:endParaRPr lang="en-US" sz="1350" dirty="0"/>
          </a:p>
        </p:txBody>
      </p:sp>
      <p:sp>
        <p:nvSpPr>
          <p:cNvPr id="12" name="Shape 10"/>
          <p:cNvSpPr/>
          <p:nvPr/>
        </p:nvSpPr>
        <p:spPr>
          <a:xfrm>
            <a:off x="6233008"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3" name="Text 11"/>
          <p:cNvSpPr txBox="1"/>
          <p:nvPr/>
        </p:nvSpPr>
        <p:spPr>
          <a:xfrm>
            <a:off x="6461608"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03   WHAT I TESTED</a:t>
            </a:r>
            <a:endParaRPr lang="en-US" sz="1300" dirty="0"/>
          </a:p>
        </p:txBody>
      </p:sp>
      <p:sp>
        <p:nvSpPr>
          <p:cNvPr id="14" name="Text 12"/>
          <p:cNvSpPr txBox="1"/>
          <p:nvPr/>
        </p:nvSpPr>
        <p:spPr>
          <a:xfrm>
            <a:off x="6461608" y="2276856"/>
            <a:ext cx="2110664" cy="676656"/>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Consequences and penalty size</a:t>
            </a:r>
            <a:endParaRPr lang="en-US" sz="1700" dirty="0"/>
          </a:p>
        </p:txBody>
      </p:sp>
      <p:sp>
        <p:nvSpPr>
          <p:cNvPr id="15" name="Text 13"/>
          <p:cNvSpPr txBox="1"/>
          <p:nvPr/>
        </p:nvSpPr>
        <p:spPr>
          <a:xfrm>
            <a:off x="6461608" y="2999232"/>
            <a:ext cx="2110664" cy="2212848"/>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What a caught agent should face (a fine, a memory of the offence, or both), and whether the fine that stops an agent can be predicted before it is tried.</a:t>
            </a:r>
            <a:endParaRPr lang="en-US" sz="1350" dirty="0"/>
          </a:p>
        </p:txBody>
      </p:sp>
      <p:sp>
        <p:nvSpPr>
          <p:cNvPr id="16" name="Shape 14"/>
          <p:cNvSpPr/>
          <p:nvPr/>
        </p:nvSpPr>
        <p:spPr>
          <a:xfrm>
            <a:off x="9075191"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9303791"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04   WHAT I FOUND</a:t>
            </a:r>
            <a:endParaRPr lang="en-US" sz="1300" dirty="0"/>
          </a:p>
        </p:txBody>
      </p:sp>
      <p:sp>
        <p:nvSpPr>
          <p:cNvPr id="18" name="Text 16"/>
          <p:cNvSpPr txBox="1"/>
          <p:nvPr/>
        </p:nvSpPr>
        <p:spPr>
          <a:xfrm>
            <a:off x="9303791" y="2276856"/>
            <a:ext cx="2110664" cy="969264"/>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Checks work through consequences</a:t>
            </a:r>
            <a:endParaRPr lang="en-US" sz="1700" dirty="0"/>
          </a:p>
        </p:txBody>
      </p:sp>
      <p:sp>
        <p:nvSpPr>
          <p:cNvPr id="19" name="Text 17"/>
          <p:cNvSpPr txBox="1"/>
          <p:nvPr/>
        </p:nvSpPr>
        <p:spPr>
          <a:xfrm>
            <a:off x="9303791" y="3291840"/>
            <a:ext cx="2110664" cy="1920240"/>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Checks reduced harm only when a catch had a consequence. The stopping fine could be predicted from how much an agent gains by over-taking, for programmed agents and for language models.</a:t>
            </a:r>
            <a:endParaRPr lang="en-US" sz="1350" dirty="0"/>
          </a:p>
        </p:txBody>
      </p:sp>
      <p:sp>
        <p:nvSpPr>
          <p:cNvPr id="20" name="Text 18"/>
          <p:cNvSpPr txBox="1"/>
          <p:nvPr/>
        </p:nvSpPr>
        <p:spPr>
          <a:xfrm>
            <a:off x="548640" y="5852160"/>
            <a:ext cx="11094415" cy="411480"/>
          </a:xfrm>
          <a:prstGeom prst="rect">
            <a:avLst/>
          </a:prstGeom>
          <a:noFill/>
          <a:ln/>
        </p:spPr>
        <p:txBody>
          <a:bodyPr wrap="square" lIns="0" tIns="0" rIns="0" bIns="0" rtlCol="0" anchor="ctr"/>
          <a:lstStyle/>
          <a:p>
            <a:pPr algn="ctr" indent="0" marL="0">
              <a:buNone/>
            </a:pPr>
            <a:r>
              <a:rPr lang="en-US" sz="1500" i="1" dirty="0">
                <a:solidFill>
                  <a:srgbClr val="55524E"/>
                </a:solidFill>
                <a:latin typeface="Calibri" pitchFamily="34" charset="0"/>
                <a:ea typeface="Calibri" pitchFamily="34" charset="-122"/>
                <a:cs typeface="Calibri" pitchFamily="34" charset="-120"/>
              </a:rPr>
              <a:t>The rest of the talk: the setting, three questions, how I test them, five findings, and what is still running</a:t>
            </a:r>
            <a:endParaRPr lang="en-US" sz="15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The Problem</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 limited, shared resource</a:t>
            </a:r>
            <a:endParaRPr lang="en-US" sz="1700" dirty="0"/>
          </a:p>
        </p:txBody>
      </p:sp>
      <p:sp>
        <p:nvSpPr>
          <p:cNvPr id="5" name="Text 3"/>
          <p:cNvSpPr txBox="1"/>
          <p:nvPr/>
        </p:nvSpPr>
        <p:spPr>
          <a:xfrm>
            <a:off x="548640" y="1929384"/>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Each agent receives an allowance: the amount it may take this round. Taking more helps that agent and leaves less for everyone else.</a:t>
            </a:r>
            <a:endParaRPr lang="en-US" sz="1400" dirty="0"/>
          </a:p>
        </p:txBody>
      </p:sp>
      <p:sp>
        <p:nvSpPr>
          <p:cNvPr id="6" name="Text 4"/>
          <p:cNvSpPr txBox="1"/>
          <p:nvPr/>
        </p:nvSpPr>
        <p:spPr>
          <a:xfrm>
            <a:off x="548640" y="2839212"/>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Oversight by sampling</a:t>
            </a:r>
            <a:endParaRPr lang="en-US" sz="1700" dirty="0"/>
          </a:p>
        </p:txBody>
      </p:sp>
      <p:sp>
        <p:nvSpPr>
          <p:cNvPr id="7" name="Text 5"/>
          <p:cNvSpPr txBox="1"/>
          <p:nvPr/>
        </p:nvSpPr>
        <p:spPr>
          <a:xfrm>
            <a:off x="548640" y="3223260"/>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Checking every action costs too much, so an overseer spot-checks a few, as tax and fisheries inspectors do.</a:t>
            </a:r>
            <a:endParaRPr lang="en-US" sz="1400" dirty="0"/>
          </a:p>
        </p:txBody>
      </p:sp>
      <p:sp>
        <p:nvSpPr>
          <p:cNvPr id="8" name="Text 6"/>
          <p:cNvSpPr txBox="1"/>
          <p:nvPr/>
        </p:nvSpPr>
        <p:spPr>
          <a:xfrm>
            <a:off x="548640" y="4133088"/>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The open question</a:t>
            </a:r>
            <a:endParaRPr lang="en-US" sz="1700" dirty="0"/>
          </a:p>
        </p:txBody>
      </p:sp>
      <p:sp>
        <p:nvSpPr>
          <p:cNvPr id="9" name="Text 7"/>
          <p:cNvSpPr txBox="1"/>
          <p:nvPr/>
        </p:nvSpPr>
        <p:spPr>
          <a:xfrm>
            <a:off x="548640" y="4517136"/>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When does a sampled check stop agents taking more than their allowance, and how large does the penalty need to be?</a:t>
            </a:r>
            <a:endParaRPr lang="en-US" sz="1400" dirty="0"/>
          </a:p>
        </p:txBody>
      </p:sp>
      <p:pic>
        <p:nvPicPr>
          <p:cNvPr id="10" name="Image 0" descr="fig_networks.png">    </p:cNvPr>
          <p:cNvPicPr>
            <a:picLocks noChangeAspect="1"/>
          </p:cNvPicPr>
          <p:nvPr/>
        </p:nvPicPr>
        <p:blipFill>
          <a:blip r:embed="rId1"/>
          <a:stretch>
            <a:fillRect/>
          </a:stretch>
        </p:blipFill>
        <p:spPr>
          <a:xfrm>
            <a:off x="5532120" y="2222723"/>
            <a:ext cx="6110935" cy="2311970"/>
          </a:xfrm>
          <a:prstGeom prst="rect">
            <a:avLst/>
          </a:prstGeom>
        </p:spPr>
      </p:pic>
      <p:sp>
        <p:nvSpPr>
          <p:cNvPr id="11" name="Text 8"/>
          <p:cNvSpPr txBox="1"/>
          <p:nvPr/>
        </p:nvSpPr>
        <p:spPr>
          <a:xfrm>
            <a:off x="5532120" y="4644421"/>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The same question in three settings, chosen because one agent's over-use reaches others in a different way in each: through a single shared pool (Fishery), through damage to direct neighbours (Forest), and through harm that appears only when two kinds of use combine (River). A result that holds in all three does not rest on one structure.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097280"/>
            <a:ext cx="4754880" cy="1828800"/>
          </a:xfrm>
          <a:prstGeom prst="rect">
            <a:avLst/>
          </a:prstGeom>
          <a:noFill/>
          <a:ln/>
        </p:spPr>
        <p:txBody>
          <a:bodyPr wrap="square" lIns="0" tIns="0" rIns="0" bIns="0" rtlCol="0" anchor="b"/>
          <a:lstStyle/>
          <a:p>
            <a:pPr algn="l" indent="0" marL="0">
              <a:lnSpc>
                <a:spcPct val="95000"/>
              </a:lnSpc>
              <a:buNone/>
            </a:pPr>
            <a:r>
              <a:rPr lang="en-US" sz="3600" b="1" dirty="0">
                <a:solidFill>
                  <a:srgbClr val="062746"/>
                </a:solidFill>
                <a:latin typeface="Georgia" pitchFamily="34" charset="0"/>
                <a:ea typeface="Georgia" pitchFamily="34" charset="-122"/>
                <a:cs typeface="Georgia" pitchFamily="34" charset="-120"/>
              </a:rPr>
              <a:t>Three Questions</a:t>
            </a:r>
            <a:endParaRPr lang="en-US" sz="3600" dirty="0"/>
          </a:p>
        </p:txBody>
      </p:sp>
      <p:sp>
        <p:nvSpPr>
          <p:cNvPr id="3" name="Shape 1"/>
          <p:cNvSpPr/>
          <p:nvPr/>
        </p:nvSpPr>
        <p:spPr>
          <a:xfrm>
            <a:off x="548640" y="3054096"/>
            <a:ext cx="3291840" cy="91440"/>
          </a:xfrm>
          <a:prstGeom prst="rect">
            <a:avLst/>
          </a:prstGeom>
          <a:solidFill>
            <a:srgbClr val="131B28"/>
          </a:solidFill>
          <a:ln w="12700">
            <a:solidFill>
              <a:srgbClr val="131B28"/>
            </a:solidFill>
            <a:prstDash val="solid"/>
          </a:ln>
        </p:spPr>
      </p:sp>
      <p:sp>
        <p:nvSpPr>
          <p:cNvPr id="4" name="Text 2"/>
          <p:cNvSpPr txBox="1"/>
          <p:nvPr/>
        </p:nvSpPr>
        <p:spPr>
          <a:xfrm>
            <a:off x="5989320" y="91440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6812280" y="896112"/>
            <a:ext cx="4846320" cy="402336"/>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What has to follow a catch?</a:t>
            </a:r>
            <a:endParaRPr lang="en-US" sz="1900" dirty="0"/>
          </a:p>
        </p:txBody>
      </p:sp>
      <p:sp>
        <p:nvSpPr>
          <p:cNvPr id="6" name="Text 4"/>
          <p:cNvSpPr txBox="1"/>
          <p:nvPr/>
        </p:nvSpPr>
        <p:spPr>
          <a:xfrm>
            <a:off x="6812280" y="1316736"/>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When a check finds an agent taking more than its allowance, the overseer can fine it, remember it, or do nothing. Which of these reduces harm?</a:t>
            </a:r>
            <a:endParaRPr lang="en-US" sz="1400" dirty="0"/>
          </a:p>
        </p:txBody>
      </p:sp>
      <p:sp>
        <p:nvSpPr>
          <p:cNvPr id="7" name="Text 5"/>
          <p:cNvSpPr txBox="1"/>
          <p:nvPr/>
        </p:nvSpPr>
        <p:spPr>
          <a:xfrm>
            <a:off x="5989320" y="224028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8" name="Text 6"/>
          <p:cNvSpPr txBox="1"/>
          <p:nvPr/>
        </p:nvSpPr>
        <p:spPr>
          <a:xfrm>
            <a:off x="6812280" y="2221992"/>
            <a:ext cx="4846320" cy="731520"/>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Can the stopping fine be predicted?</a:t>
            </a:r>
            <a:endParaRPr lang="en-US" sz="1900" dirty="0"/>
          </a:p>
        </p:txBody>
      </p:sp>
      <p:sp>
        <p:nvSpPr>
          <p:cNvPr id="9" name="Text 7"/>
          <p:cNvSpPr txBox="1"/>
          <p:nvPr/>
        </p:nvSpPr>
        <p:spPr>
          <a:xfrm>
            <a:off x="6812280" y="2971800"/>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Is there a fine size at which over-taking stops, and can it be worked out before that fine is tried?</a:t>
            </a:r>
            <a:endParaRPr lang="en-US" sz="1400" dirty="0"/>
          </a:p>
        </p:txBody>
      </p:sp>
      <p:sp>
        <p:nvSpPr>
          <p:cNvPr id="10" name="Text 8"/>
          <p:cNvSpPr txBox="1"/>
          <p:nvPr/>
        </p:nvSpPr>
        <p:spPr>
          <a:xfrm>
            <a:off x="5989320" y="356616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11" name="Text 9"/>
          <p:cNvSpPr txBox="1"/>
          <p:nvPr/>
        </p:nvSpPr>
        <p:spPr>
          <a:xfrm>
            <a:off x="6812280" y="3547872"/>
            <a:ext cx="4846320" cy="731520"/>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Do language models behave the same way?</a:t>
            </a:r>
            <a:endParaRPr lang="en-US" sz="1900" dirty="0"/>
          </a:p>
        </p:txBody>
      </p:sp>
      <p:sp>
        <p:nvSpPr>
          <p:cNvPr id="12" name="Text 10"/>
          <p:cNvSpPr txBox="1"/>
          <p:nvPr/>
        </p:nvSpPr>
        <p:spPr>
          <a:xfrm>
            <a:off x="6812280" y="4297680"/>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When most agents are language models making their own choices, do they stop where the prediction says?</a:t>
            </a:r>
            <a:endParaRPr lang="en-US" sz="140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How One Round Works</a:t>
            </a:r>
            <a:endParaRPr lang="en-US" sz="3200" dirty="0"/>
          </a:p>
        </p:txBody>
      </p:sp>
      <p:pic>
        <p:nvPicPr>
          <p:cNvPr id="3" name="Image 0" descr="fig1_game_step.png">    </p:cNvPr>
          <p:cNvPicPr>
            <a:picLocks noChangeAspect="1"/>
          </p:cNvPicPr>
          <p:nvPr/>
        </p:nvPicPr>
        <p:blipFill>
          <a:blip r:embed="rId1"/>
          <a:stretch>
            <a:fillRect/>
          </a:stretch>
        </p:blipFill>
        <p:spPr>
          <a:xfrm>
            <a:off x="1659818" y="1234440"/>
            <a:ext cx="8872059"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Each round, every agent asks for a share; the reviewer predicts what the requests would do to the resource and scales them all by one factor; each agent then takes its allowance or more; the resource regrows; and a few agents are checked at random.</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Harm = the resource falling below half its capacity, the level at which it regrows fastest</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5852160"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How I Test It</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49961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01</a:t>
            </a:r>
            <a:endParaRPr lang="en-US" sz="2200" dirty="0"/>
          </a:p>
        </p:txBody>
      </p:sp>
      <p:sp>
        <p:nvSpPr>
          <p:cNvPr id="5" name="Text 3"/>
          <p:cNvSpPr txBox="1"/>
          <p:nvPr/>
        </p:nvSpPr>
        <p:spPr>
          <a:xfrm>
            <a:off x="1280160" y="151790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Run the setting</a:t>
            </a:r>
            <a:endParaRPr lang="en-US" sz="1600" dirty="0"/>
          </a:p>
        </p:txBody>
      </p:sp>
      <p:sp>
        <p:nvSpPr>
          <p:cNvPr id="6" name="Text 4"/>
          <p:cNvSpPr txBox="1"/>
          <p:nvPr/>
        </p:nvSpPr>
        <p:spPr>
          <a:xfrm>
            <a:off x="1280160" y="186537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Six agents share the resource for many rounds; the reviewer sets allowances; a few agents are checked at random each round.</a:t>
            </a:r>
            <a:endParaRPr lang="en-US" sz="1300" dirty="0"/>
          </a:p>
        </p:txBody>
      </p:sp>
      <p:sp>
        <p:nvSpPr>
          <p:cNvPr id="7" name="Text 5"/>
          <p:cNvSpPr txBox="1"/>
          <p:nvPr/>
        </p:nvSpPr>
        <p:spPr>
          <a:xfrm>
            <a:off x="548640" y="259689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02</a:t>
            </a:r>
            <a:endParaRPr lang="en-US" sz="2200" dirty="0"/>
          </a:p>
        </p:txBody>
      </p:sp>
      <p:sp>
        <p:nvSpPr>
          <p:cNvPr id="8" name="Text 6"/>
          <p:cNvSpPr txBox="1"/>
          <p:nvPr/>
        </p:nvSpPr>
        <p:spPr>
          <a:xfrm>
            <a:off x="1280160" y="261518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Measure the gain</a:t>
            </a:r>
            <a:endParaRPr lang="en-US" sz="1600" dirty="0"/>
          </a:p>
        </p:txBody>
      </p:sp>
      <p:sp>
        <p:nvSpPr>
          <p:cNvPr id="9" name="Text 7"/>
          <p:cNvSpPr txBox="1"/>
          <p:nvPr/>
        </p:nvSpPr>
        <p:spPr>
          <a:xfrm>
            <a:off x="1280160" y="296265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Run games without any fine and record how much an agent gains from one round of taking more than its allowance.</a:t>
            </a:r>
            <a:endParaRPr lang="en-US" sz="1300" dirty="0"/>
          </a:p>
        </p:txBody>
      </p:sp>
      <p:sp>
        <p:nvSpPr>
          <p:cNvPr id="10" name="Text 8"/>
          <p:cNvSpPr txBox="1"/>
          <p:nvPr/>
        </p:nvSpPr>
        <p:spPr>
          <a:xfrm>
            <a:off x="548640" y="369417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03</a:t>
            </a:r>
            <a:endParaRPr lang="en-US" sz="2200" dirty="0"/>
          </a:p>
        </p:txBody>
      </p:sp>
      <p:sp>
        <p:nvSpPr>
          <p:cNvPr id="11" name="Text 9"/>
          <p:cNvSpPr txBox="1"/>
          <p:nvPr/>
        </p:nvSpPr>
        <p:spPr>
          <a:xfrm>
            <a:off x="1280160" y="371246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Predict, then freeze</a:t>
            </a:r>
            <a:endParaRPr lang="en-US" sz="1600" dirty="0"/>
          </a:p>
        </p:txBody>
      </p:sp>
      <p:sp>
        <p:nvSpPr>
          <p:cNvPr id="12" name="Text 10"/>
          <p:cNvSpPr txBox="1"/>
          <p:nvPr/>
        </p:nvSpPr>
        <p:spPr>
          <a:xfrm>
            <a:off x="1280160" y="405993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Work out the fine that should stop over-taking and record the prediction before any game with that fine is run.</a:t>
            </a:r>
            <a:endParaRPr lang="en-US" sz="1300" dirty="0"/>
          </a:p>
        </p:txBody>
      </p:sp>
      <p:sp>
        <p:nvSpPr>
          <p:cNvPr id="13" name="Text 11"/>
          <p:cNvSpPr txBox="1"/>
          <p:nvPr/>
        </p:nvSpPr>
        <p:spPr>
          <a:xfrm>
            <a:off x="548640" y="479145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04</a:t>
            </a:r>
            <a:endParaRPr lang="en-US" sz="2200" dirty="0"/>
          </a:p>
        </p:txBody>
      </p:sp>
      <p:sp>
        <p:nvSpPr>
          <p:cNvPr id="14" name="Text 12"/>
          <p:cNvSpPr txBox="1"/>
          <p:nvPr/>
        </p:nvSpPr>
        <p:spPr>
          <a:xfrm>
            <a:off x="1280160" y="480974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Test on games the prediction never saw</a:t>
            </a:r>
            <a:endParaRPr lang="en-US" sz="1600" dirty="0"/>
          </a:p>
        </p:txBody>
      </p:sp>
      <p:sp>
        <p:nvSpPr>
          <p:cNvPr id="15" name="Text 13"/>
          <p:cNvSpPr txBox="1"/>
          <p:nvPr/>
        </p:nvSpPr>
        <p:spPr>
          <a:xfrm>
            <a:off x="1280160" y="515721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Run the predicted fine and the fines around it on new games, and report the result whether or not it matches.</a:t>
            </a:r>
            <a:endParaRPr lang="en-US" sz="1300" dirty="0"/>
          </a:p>
        </p:txBody>
      </p:sp>
      <p:sp>
        <p:nvSpPr>
          <p:cNvPr id="16" name="Shape 14"/>
          <p:cNvSpPr/>
          <p:nvPr/>
        </p:nvSpPr>
        <p:spPr>
          <a:xfrm>
            <a:off x="6858000" y="1120140"/>
            <a:ext cx="4785055" cy="4617720"/>
          </a:xfrm>
          <a:prstGeom prst="roundRect">
            <a:avLst>
              <a:gd name="adj" fmla="val 1584"/>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7132320" y="1348740"/>
            <a:ext cx="4236415" cy="365760"/>
          </a:xfrm>
          <a:prstGeom prst="rect">
            <a:avLst/>
          </a:prstGeom>
          <a:noFill/>
          <a:ln/>
        </p:spPr>
        <p:txBody>
          <a:bodyPr wrap="square" lIns="0" tIns="0" rIns="0" bIns="0" rtlCol="0" anchor="ctr"/>
          <a:lstStyle/>
          <a:p>
            <a:pPr indent="0" marL="0">
              <a:buNone/>
            </a:pPr>
            <a:r>
              <a:rPr lang="en-US" sz="1600" b="1" dirty="0">
                <a:solidFill>
                  <a:srgbClr val="062746"/>
                </a:solidFill>
                <a:latin typeface="Georgia" pitchFamily="34" charset="0"/>
                <a:ea typeface="Georgia" pitchFamily="34" charset="-122"/>
                <a:cs typeface="Georgia" pitchFamily="34" charset="-120"/>
              </a:rPr>
              <a:t>Key quantities</a:t>
            </a:r>
            <a:endParaRPr lang="en-US" sz="1600" dirty="0"/>
          </a:p>
        </p:txBody>
      </p:sp>
      <p:sp>
        <p:nvSpPr>
          <p:cNvPr id="18" name="Text 16"/>
          <p:cNvSpPr txBox="1"/>
          <p:nvPr/>
        </p:nvSpPr>
        <p:spPr>
          <a:xfrm>
            <a:off x="7132320" y="1897380"/>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q</a:t>
            </a:r>
            <a:endParaRPr lang="en-US" sz="1700" dirty="0"/>
          </a:p>
        </p:txBody>
      </p:sp>
      <p:sp>
        <p:nvSpPr>
          <p:cNvPr id="19" name="Text 17"/>
          <p:cNvSpPr txBox="1"/>
          <p:nvPr/>
        </p:nvSpPr>
        <p:spPr>
          <a:xfrm>
            <a:off x="8641080" y="1915668"/>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chance that an agent is checked in a round (1 in 6 for the language models)</a:t>
            </a:r>
            <a:endParaRPr lang="en-US" sz="1250" dirty="0"/>
          </a:p>
        </p:txBody>
      </p:sp>
      <p:sp>
        <p:nvSpPr>
          <p:cNvPr id="20" name="Text 18"/>
          <p:cNvSpPr txBox="1"/>
          <p:nvPr/>
        </p:nvSpPr>
        <p:spPr>
          <a:xfrm>
            <a:off x="7132320" y="2647188"/>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F</a:t>
            </a:r>
            <a:endParaRPr lang="en-US" sz="1700" dirty="0"/>
          </a:p>
        </p:txBody>
      </p:sp>
      <p:sp>
        <p:nvSpPr>
          <p:cNvPr id="21" name="Text 19"/>
          <p:cNvSpPr txBox="1"/>
          <p:nvPr/>
        </p:nvSpPr>
        <p:spPr>
          <a:xfrm>
            <a:off x="8641080" y="2665476"/>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fine paid when a check finds an agent over its allowance</a:t>
            </a:r>
            <a:endParaRPr lang="en-US" sz="1250" dirty="0"/>
          </a:p>
        </p:txBody>
      </p:sp>
      <p:sp>
        <p:nvSpPr>
          <p:cNvPr id="22" name="Text 20"/>
          <p:cNvSpPr txBox="1"/>
          <p:nvPr/>
        </p:nvSpPr>
        <p:spPr>
          <a:xfrm>
            <a:off x="7132320" y="3396996"/>
            <a:ext cx="1417320" cy="548640"/>
          </a:xfrm>
          <a:prstGeom prst="rect">
            <a:avLst/>
          </a:prstGeom>
          <a:noFill/>
          <a:ln/>
        </p:spPr>
        <p:txBody>
          <a:bodyPr wrap="square" lIns="0" tIns="0" rIns="0" bIns="0" rtlCol="0" anchor="t"/>
          <a:lstStyle/>
          <a:p>
            <a:pPr indent="0" marL="0">
              <a:buNone/>
            </a:pPr>
            <a:r>
              <a:rPr lang="en-US" sz="1700" dirty="0">
                <a:solidFill>
                  <a:srgbClr val="1C191A"/>
                </a:solidFill>
                <a:latin typeface="Georgia" pitchFamily="34" charset="0"/>
                <a:ea typeface="Georgia" pitchFamily="34" charset="-122"/>
                <a:cs typeface="Georgia" pitchFamily="34" charset="-120"/>
              </a:rPr>
              <a:t>e = q × F</a:t>
            </a:r>
            <a:endParaRPr lang="en-US" sz="1700" dirty="0"/>
          </a:p>
        </p:txBody>
      </p:sp>
      <p:sp>
        <p:nvSpPr>
          <p:cNvPr id="23" name="Text 21"/>
          <p:cNvSpPr txBox="1"/>
          <p:nvPr/>
        </p:nvSpPr>
        <p:spPr>
          <a:xfrm>
            <a:off x="8641080" y="3415284"/>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expected fine for one round of over-taking</a:t>
            </a:r>
            <a:endParaRPr lang="en-US" sz="1250" dirty="0"/>
          </a:p>
        </p:txBody>
      </p:sp>
      <p:sp>
        <p:nvSpPr>
          <p:cNvPr id="24" name="Text 22"/>
          <p:cNvSpPr txBox="1"/>
          <p:nvPr/>
        </p:nvSpPr>
        <p:spPr>
          <a:xfrm>
            <a:off x="7132320" y="4146804"/>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g</a:t>
            </a:r>
            <a:endParaRPr lang="en-US" sz="1700" dirty="0"/>
          </a:p>
        </p:txBody>
      </p:sp>
      <p:sp>
        <p:nvSpPr>
          <p:cNvPr id="25" name="Text 23"/>
          <p:cNvSpPr txBox="1"/>
          <p:nvPr/>
        </p:nvSpPr>
        <p:spPr>
          <a:xfrm>
            <a:off x="8641080" y="4165092"/>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what an agent gains from one round of over-taking</a:t>
            </a:r>
            <a:endParaRPr lang="en-US" sz="1250" dirty="0"/>
          </a:p>
        </p:txBody>
      </p:sp>
      <p:sp>
        <p:nvSpPr>
          <p:cNvPr id="26" name="Text 24"/>
          <p:cNvSpPr txBox="1"/>
          <p:nvPr/>
        </p:nvSpPr>
        <p:spPr>
          <a:xfrm>
            <a:off x="7132320" y="4896612"/>
            <a:ext cx="1417320" cy="548640"/>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e &gt; g</a:t>
            </a:r>
            <a:endParaRPr lang="en-US" sz="1700" dirty="0"/>
          </a:p>
        </p:txBody>
      </p:sp>
      <p:sp>
        <p:nvSpPr>
          <p:cNvPr id="27" name="Text 25"/>
          <p:cNvSpPr txBox="1"/>
          <p:nvPr/>
        </p:nvSpPr>
        <p:spPr>
          <a:xfrm>
            <a:off x="8641080" y="4914900"/>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the prediction: over-taking stops once the expected fine is larger than the gain (Becker 1968)</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1: A Catch Needs a Consequence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The setting</a:t>
            </a:r>
            <a:endParaRPr lang="en-US" sz="1700" dirty="0"/>
          </a:p>
        </p:txBody>
      </p:sp>
      <p:sp>
        <p:nvSpPr>
          <p:cNvPr id="5" name="Text 3"/>
          <p:cNvSpPr txBox="1"/>
          <p:nvPr/>
        </p:nvSpPr>
        <p:spPr>
          <a:xfrm>
            <a:off x="548640" y="1929384"/>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Some agents report less than they intend to take, so the reviewer underestimates their use unless a check catches them.</a:t>
            </a:r>
            <a:endParaRPr lang="en-US" sz="1400" dirty="0"/>
          </a:p>
        </p:txBody>
      </p:sp>
      <p:sp>
        <p:nvSpPr>
          <p:cNvPr id="6" name="Text 4"/>
          <p:cNvSpPr txBox="1"/>
          <p:nvPr/>
        </p:nvSpPr>
        <p:spPr>
          <a:xfrm>
            <a:off x="548640" y="2839212"/>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Checks without memory</a:t>
            </a:r>
            <a:endParaRPr lang="en-US" sz="1700" dirty="0"/>
          </a:p>
        </p:txBody>
      </p:sp>
      <p:sp>
        <p:nvSpPr>
          <p:cNvPr id="7" name="Text 5"/>
          <p:cNvSpPr txBox="1"/>
          <p:nvPr/>
        </p:nvSpPr>
        <p:spPr>
          <a:xfrm>
            <a:off x="548640" y="3223260"/>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Correcting only the round in which a lie was caught removed 10–46% of the harm.</a:t>
            </a:r>
            <a:endParaRPr lang="en-US" sz="1400" dirty="0"/>
          </a:p>
        </p:txBody>
      </p:sp>
      <p:sp>
        <p:nvSpPr>
          <p:cNvPr id="8" name="Text 6"/>
          <p:cNvSpPr txBox="1"/>
          <p:nvPr/>
        </p:nvSpPr>
        <p:spPr>
          <a:xfrm>
            <a:off x="548640" y="3909060"/>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Checks with memory</a:t>
            </a:r>
            <a:endParaRPr lang="en-US" sz="1700" dirty="0"/>
          </a:p>
        </p:txBody>
      </p:sp>
      <p:sp>
        <p:nvSpPr>
          <p:cNvPr id="9" name="Text 7"/>
          <p:cNvSpPr txBox="1"/>
          <p:nvPr/>
        </p:nvSpPr>
        <p:spPr>
          <a:xfrm>
            <a:off x="548640" y="4293108"/>
            <a:ext cx="4572000" cy="969264"/>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Remembering each caught lie and adjusting that agent's later allowances reduced harm in all 12 settings tested. In Fishery, rounds below half capacity fell from 43–99% to 0.3–3%.</a:t>
            </a:r>
            <a:endParaRPr lang="en-US" sz="1400" dirty="0"/>
          </a:p>
        </p:txBody>
      </p:sp>
      <p:pic>
        <p:nvPicPr>
          <p:cNvPr id="10" name="Image 0" descr="fig3_audits_memory.png">    </p:cNvPr>
          <p:cNvPicPr>
            <a:picLocks noChangeAspect="1"/>
          </p:cNvPicPr>
          <p:nvPr/>
        </p:nvPicPr>
        <p:blipFill>
          <a:blip r:embed="rId1"/>
          <a:stretch>
            <a:fillRect/>
          </a:stretch>
        </p:blipFill>
        <p:spPr>
          <a:xfrm>
            <a:off x="5532120" y="2086674"/>
            <a:ext cx="6110935" cy="2766948"/>
          </a:xfrm>
          <a:prstGeom prst="rect">
            <a:avLst/>
          </a:prstGeom>
        </p:spPr>
      </p:pic>
      <p:sp>
        <p:nvSpPr>
          <p:cNvPr id="11" name="Text 8"/>
          <p:cNvSpPr txBox="1"/>
          <p:nvPr/>
        </p:nvSpPr>
        <p:spPr>
          <a:xfrm>
            <a:off x="5532120" y="4963350"/>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Share of rounds below half capacity when some agents under-report. Dark: no checks. Light: checks without memory. Green: checks with memory. Each group has four settings: 2 or 4 misbehaving agents (2g, 4g) and two regrowth rates (1.0 and 0.85 of normal).</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r"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2: A Predictable Threshold</a:t>
            </a:r>
            <a:endParaRPr lang="en-US" sz="3400" dirty="0"/>
          </a:p>
        </p:txBody>
      </p:sp>
      <p:sp>
        <p:nvSpPr>
          <p:cNvPr id="3" name="Shape 1"/>
          <p:cNvSpPr/>
          <p:nvPr/>
        </p:nvSpPr>
        <p:spPr>
          <a:xfrm>
            <a:off x="8351215"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7071055"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What was predicted</a:t>
            </a:r>
            <a:endParaRPr lang="en-US" sz="1700" dirty="0"/>
          </a:p>
        </p:txBody>
      </p:sp>
      <p:sp>
        <p:nvSpPr>
          <p:cNvPr id="5" name="Text 3"/>
          <p:cNvSpPr txBox="1"/>
          <p:nvPr/>
        </p:nvSpPr>
        <p:spPr>
          <a:xfrm>
            <a:off x="7071055" y="1929384"/>
            <a:ext cx="4572000" cy="969264"/>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Programmed agents choose how much to over-take so as to earn the most. From games without checks, we predicted the expected fine at which they would stop.</a:t>
            </a:r>
            <a:endParaRPr lang="en-US" sz="1400" dirty="0"/>
          </a:p>
        </p:txBody>
      </p:sp>
      <p:sp>
        <p:nvSpPr>
          <p:cNvPr id="6" name="Text 4"/>
          <p:cNvSpPr txBox="1"/>
          <p:nvPr/>
        </p:nvSpPr>
        <p:spPr>
          <a:xfrm>
            <a:off x="7071055" y="3063240"/>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The result</a:t>
            </a:r>
            <a:endParaRPr lang="en-US" sz="1700" dirty="0"/>
          </a:p>
        </p:txBody>
      </p:sp>
      <p:sp>
        <p:nvSpPr>
          <p:cNvPr id="7" name="Text 5"/>
          <p:cNvSpPr txBox="1"/>
          <p:nvPr/>
        </p:nvSpPr>
        <p:spPr>
          <a:xfrm>
            <a:off x="7071055" y="3447288"/>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In 5 of 5 new settings, the observed stopping point was within one step of the prediction.</a:t>
            </a:r>
            <a:endParaRPr lang="en-US" sz="1400" dirty="0"/>
          </a:p>
        </p:txBody>
      </p:sp>
      <p:sp>
        <p:nvSpPr>
          <p:cNvPr id="8" name="Text 6"/>
          <p:cNvSpPr txBox="1"/>
          <p:nvPr/>
        </p:nvSpPr>
        <p:spPr>
          <a:xfrm>
            <a:off x="7071055" y="4133088"/>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Why this comes first</a:t>
            </a:r>
            <a:endParaRPr lang="en-US" sz="1700" dirty="0"/>
          </a:p>
        </p:txBody>
      </p:sp>
      <p:sp>
        <p:nvSpPr>
          <p:cNvPr id="9" name="Text 7"/>
          <p:cNvSpPr txBox="1"/>
          <p:nvPr/>
        </p:nvSpPr>
        <p:spPr>
          <a:xfrm>
            <a:off x="7071055" y="4517136"/>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These agents are built to maximise their payoff, so this checks the measurement method before it is used on language models.</a:t>
            </a:r>
            <a:endParaRPr lang="en-US" sz="1400" dirty="0"/>
          </a:p>
        </p:txBody>
      </p:sp>
      <p:pic>
        <p:nvPicPr>
          <p:cNvPr id="10" name="Image 0" descr="fig3_audits_threshold.png">    </p:cNvPr>
          <p:cNvPicPr>
            <a:picLocks noChangeAspect="1"/>
          </p:cNvPicPr>
          <p:nvPr/>
        </p:nvPicPr>
        <p:blipFill>
          <a:blip r:embed="rId1"/>
          <a:stretch>
            <a:fillRect/>
          </a:stretch>
        </p:blipFill>
        <p:spPr>
          <a:xfrm>
            <a:off x="666094" y="1499616"/>
            <a:ext cx="5876027" cy="3941064"/>
          </a:xfrm>
          <a:prstGeom prst="rect">
            <a:avLst/>
          </a:prstGeom>
        </p:spPr>
      </p:pic>
      <p:sp>
        <p:nvSpPr>
          <p:cNvPr id="11" name="Text 8"/>
          <p:cNvSpPr txBox="1"/>
          <p:nvPr/>
        </p:nvSpPr>
        <p:spPr>
          <a:xfrm>
            <a:off x="548640" y="5550408"/>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Observed against predicted stopping point (expected fine). Filled: new settings predicted in advance. Open: the checking rate, or the chance that a check catches the cheat, was varied. The band marks one step of the tested grid.</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Finding 3: Two Shortcuts That Backfire</a:t>
            </a:r>
            <a:endParaRPr lang="en-US" sz="3200" dirty="0"/>
          </a:p>
        </p:txBody>
      </p:sp>
      <p:pic>
        <p:nvPicPr>
          <p:cNvPr id="3" name="Image 0" descr="fig3_audits_rules.png">    </p:cNvPr>
          <p:cNvPicPr>
            <a:picLocks noChangeAspect="1"/>
          </p:cNvPicPr>
          <p:nvPr/>
        </p:nvPicPr>
        <p:blipFill>
          <a:blip r:embed="rId1"/>
          <a:stretch>
            <a:fillRect/>
          </a:stretch>
        </p:blipFill>
        <p:spPr>
          <a:xfrm>
            <a:off x="548640" y="1356875"/>
            <a:ext cx="5364328" cy="3504170"/>
          </a:xfrm>
          <a:prstGeom prst="rect">
            <a:avLst/>
          </a:prstGeom>
        </p:spPr>
      </p:pic>
      <p:sp>
        <p:nvSpPr>
          <p:cNvPr id="4" name="Text 1"/>
          <p:cNvSpPr txBox="1"/>
          <p:nvPr/>
        </p:nvSpPr>
        <p:spPr>
          <a:xfrm>
            <a:off x="548640" y="4952485"/>
            <a:ext cx="5364328"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Lowering every agent's allowance to make up for known cheaters let the cheaters gain more than with no checks at all (142 vs 113); honest agents paid for it.</a:t>
            </a:r>
            <a:endParaRPr lang="en-US" sz="1100" dirty="0"/>
          </a:p>
        </p:txBody>
      </p:sp>
      <p:pic>
        <p:nvPicPr>
          <p:cNvPr id="5" name="Image 1" descr="fig3_audits_targeting.png">    </p:cNvPr>
          <p:cNvPicPr>
            <a:picLocks noChangeAspect="1"/>
          </p:cNvPicPr>
          <p:nvPr/>
        </p:nvPicPr>
        <p:blipFill>
          <a:blip r:embed="rId2"/>
          <a:stretch>
            <a:fillRect/>
          </a:stretch>
        </p:blipFill>
        <p:spPr>
          <a:xfrm>
            <a:off x="6278728" y="1371723"/>
            <a:ext cx="5364328" cy="3474474"/>
          </a:xfrm>
          <a:prstGeom prst="rect">
            <a:avLst/>
          </a:prstGeom>
        </p:spPr>
      </p:pic>
      <p:sp>
        <p:nvSpPr>
          <p:cNvPr id="6" name="Text 2"/>
          <p:cNvSpPr txBox="1"/>
          <p:nvPr/>
        </p:nvSpPr>
        <p:spPr>
          <a:xfrm>
            <a:off x="6278728" y="4937637"/>
            <a:ext cx="5364328"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Always checking the agent with the largest report caught 25% of liars over a game, against 100% with random checks: the largest reporter is often honest.</a:t>
            </a:r>
            <a:endParaRPr lang="en-US" sz="1100" dirty="0"/>
          </a:p>
        </p:txBody>
      </p:sp>
      <p:sp>
        <p:nvSpPr>
          <p:cNvPr id="7" name="Text 3"/>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Shortcuts that save checks can open blind spots</a:t>
            </a:r>
            <a:endParaRPr lang="en-US" sz="1700" dirty="0"/>
          </a:p>
        </p:txBody>
      </p:sp>
      <p:sp>
        <p:nvSpPr>
          <p:cNvPr id="8"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Finding 4: Language Models Stop Where Predicted</a:t>
            </a:r>
            <a:endParaRPr lang="en-US" sz="3200" dirty="0"/>
          </a:p>
        </p:txBody>
      </p:sp>
      <p:pic>
        <p:nvPicPr>
          <p:cNvPr id="3" name="Image 0" descr="fig4_llm_main.png">    </p:cNvPr>
          <p:cNvPicPr>
            <a:picLocks noChangeAspect="1"/>
          </p:cNvPicPr>
          <p:nvPr/>
        </p:nvPicPr>
        <p:blipFill>
          <a:blip r:embed="rId1"/>
          <a:stretch>
            <a:fillRect/>
          </a:stretch>
        </p:blipFill>
        <p:spPr>
          <a:xfrm>
            <a:off x="1757583" y="1234440"/>
            <a:ext cx="8676530"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Four open language models each controlled four of the six fishers (520 games). Left: share of rounds in which a model took more than its allowance, at each fine, with a 1 in 6 chance of a check. Triangles: stopping fine predicted before testing (open) and observed (filled). Right: catch left for the two rule-following fishers.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Predicted before testing: 30 t. Observed: 30 t (Nemotron 3 Super), 24 t (gpt-oss-120b)</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5: One Round's Gain Matters</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What predicted it</a:t>
            </a:r>
            <a:endParaRPr lang="en-US" sz="1700" dirty="0"/>
          </a:p>
        </p:txBody>
      </p:sp>
      <p:sp>
        <p:nvSpPr>
          <p:cNvPr id="5" name="Text 3"/>
          <p:cNvSpPr txBox="1"/>
          <p:nvPr/>
        </p:nvSpPr>
        <p:spPr>
          <a:xfrm>
            <a:off x="548640" y="1929384"/>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How much each model took above its allowance in one round without a fine (4.5–4.7 t).</a:t>
            </a:r>
            <a:endParaRPr lang="en-US" sz="1400" dirty="0"/>
          </a:p>
        </p:txBody>
      </p:sp>
      <p:sp>
        <p:nvSpPr>
          <p:cNvPr id="6" name="Text 4"/>
          <p:cNvSpPr txBox="1"/>
          <p:nvPr/>
        </p:nvSpPr>
        <p:spPr>
          <a:xfrm>
            <a:off x="548640" y="2615184"/>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What did not</a:t>
            </a:r>
            <a:endParaRPr lang="en-US" sz="1700" dirty="0"/>
          </a:p>
        </p:txBody>
      </p:sp>
      <p:sp>
        <p:nvSpPr>
          <p:cNvPr id="7" name="Text 5"/>
          <p:cNvSpPr txBox="1"/>
          <p:nvPr/>
        </p:nvSpPr>
        <p:spPr>
          <a:xfrm>
            <a:off x="548640" y="2999232"/>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What over-taking earned over a whole game: about −1 to +0.7 t per round, because over-taking depleted the lake.</a:t>
            </a:r>
            <a:endParaRPr lang="en-US" sz="1400" dirty="0"/>
          </a:p>
        </p:txBody>
      </p:sp>
      <p:sp>
        <p:nvSpPr>
          <p:cNvPr id="8" name="Text 6"/>
          <p:cNvSpPr txBox="1"/>
          <p:nvPr/>
        </p:nvSpPr>
        <p:spPr>
          <a:xfrm>
            <a:off x="548640" y="3909060"/>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Compared with an ideal optimiser</a:t>
            </a:r>
            <a:endParaRPr lang="en-US" sz="1700" dirty="0"/>
          </a:p>
        </p:txBody>
      </p:sp>
      <p:sp>
        <p:nvSpPr>
          <p:cNvPr id="9" name="Text 7"/>
          <p:cNvSpPr txBox="1"/>
          <p:nvPr/>
        </p:nvSpPr>
        <p:spPr>
          <a:xfrm>
            <a:off x="548640" y="4293108"/>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An agent that maximised its expected payoff would keep over-taking until 36 t. Both models stopped earlier, and gradually.</a:t>
            </a:r>
            <a:endParaRPr lang="en-US" sz="1400" dirty="0"/>
          </a:p>
        </p:txBody>
      </p:sp>
      <p:pic>
        <p:nvPicPr>
          <p:cNvPr id="10" name="Image 0" descr="fig5_spine.png">    </p:cNvPr>
          <p:cNvPicPr>
            <a:picLocks noChangeAspect="1"/>
          </p:cNvPicPr>
          <p:nvPr/>
        </p:nvPicPr>
        <p:blipFill>
          <a:blip r:embed="rId1"/>
          <a:stretch>
            <a:fillRect/>
          </a:stretch>
        </p:blipFill>
        <p:spPr>
          <a:xfrm>
            <a:off x="6219407" y="1499616"/>
            <a:ext cx="4736362" cy="4123944"/>
          </a:xfrm>
          <a:prstGeom prst="rect">
            <a:avLst/>
          </a:prstGeom>
        </p:spPr>
      </p:pic>
      <p:sp>
        <p:nvSpPr>
          <p:cNvPr id="11" name="Text 8"/>
          <p:cNvSpPr txBox="1"/>
          <p:nvPr/>
        </p:nvSpPr>
        <p:spPr>
          <a:xfrm>
            <a:off x="5532120" y="5733288"/>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Each point compares a predicted and an observed stopping fine; points on the dashed line were predicted exactly.</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Memory Works for Language Models Too</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Shape 2"/>
          <p:cNvSpPr/>
          <p:nvPr/>
        </p:nvSpPr>
        <p:spPr>
          <a:xfrm>
            <a:off x="548640" y="1591056"/>
            <a:ext cx="6583680" cy="3474720"/>
          </a:xfrm>
          <a:prstGeom prst="roundRect">
            <a:avLst>
              <a:gd name="adj" fmla="val 2105"/>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3429000" y="1819656"/>
            <a:ext cx="1783080" cy="457200"/>
          </a:xfrm>
          <a:prstGeom prst="rect">
            <a:avLst/>
          </a:prstGeom>
          <a:noFill/>
          <a:ln/>
        </p:spPr>
        <p:txBody>
          <a:bodyPr wrap="square" lIns="0" tIns="0" rIns="0" bIns="0" rtlCol="0" anchor="b"/>
          <a:lstStyle/>
          <a:p>
            <a:pPr algn="ctr" indent="0" marL="0">
              <a:buNone/>
            </a:pPr>
            <a:r>
              <a:rPr lang="en-US" sz="1200" b="1" dirty="0">
                <a:solidFill>
                  <a:srgbClr val="8F8F8F"/>
                </a:solidFill>
                <a:latin typeface="Calibri" pitchFamily="34" charset="0"/>
                <a:ea typeface="Calibri" pitchFamily="34" charset="-122"/>
                <a:cs typeface="Calibri" pitchFamily="34" charset="-120"/>
              </a:rPr>
              <a:t>Checks only</a:t>
            </a:r>
            <a:endParaRPr lang="en-US" sz="1200" dirty="0"/>
          </a:p>
        </p:txBody>
      </p:sp>
      <p:sp>
        <p:nvSpPr>
          <p:cNvPr id="6" name="Text 4"/>
          <p:cNvSpPr txBox="1"/>
          <p:nvPr/>
        </p:nvSpPr>
        <p:spPr>
          <a:xfrm>
            <a:off x="5257800" y="1819656"/>
            <a:ext cx="1783080" cy="457200"/>
          </a:xfrm>
          <a:prstGeom prst="rect">
            <a:avLst/>
          </a:prstGeom>
          <a:noFill/>
          <a:ln/>
        </p:spPr>
        <p:txBody>
          <a:bodyPr wrap="square" lIns="0" tIns="0" rIns="0" bIns="0" rtlCol="0" anchor="b"/>
          <a:lstStyle/>
          <a:p>
            <a:pPr algn="ctr" indent="0" marL="0">
              <a:buNone/>
            </a:pPr>
            <a:r>
              <a:rPr lang="en-US" sz="1200" b="1" dirty="0">
                <a:solidFill>
                  <a:srgbClr val="062746"/>
                </a:solidFill>
                <a:latin typeface="Calibri" pitchFamily="34" charset="0"/>
                <a:ea typeface="Calibri" pitchFamily="34" charset="-122"/>
                <a:cs typeface="Calibri" pitchFamily="34" charset="-120"/>
              </a:rPr>
              <a:t>Checks + memory</a:t>
            </a:r>
            <a:endParaRPr lang="en-US" sz="1200" dirty="0"/>
          </a:p>
        </p:txBody>
      </p:sp>
      <p:sp>
        <p:nvSpPr>
          <p:cNvPr id="7" name="Text 5"/>
          <p:cNvSpPr txBox="1"/>
          <p:nvPr/>
        </p:nvSpPr>
        <p:spPr>
          <a:xfrm>
            <a:off x="822960" y="2414016"/>
            <a:ext cx="2651760" cy="685800"/>
          </a:xfrm>
          <a:prstGeom prst="rect">
            <a:avLst/>
          </a:prstGeom>
          <a:noFill/>
          <a:ln/>
        </p:spPr>
        <p:txBody>
          <a:bodyPr wrap="square" lIns="0" tIns="0" rIns="0" bIns="0" rtlCol="0" anchor="ctr"/>
          <a:lstStyle/>
          <a:p>
            <a:pPr indent="0" marL="0">
              <a:buNone/>
            </a:pPr>
            <a:r>
              <a:rPr lang="en-US" sz="1350" dirty="0">
                <a:solidFill>
                  <a:srgbClr val="1C191A"/>
                </a:solidFill>
                <a:latin typeface="Calibri" pitchFamily="34" charset="0"/>
                <a:ea typeface="Calibri" pitchFamily="34" charset="-122"/>
                <a:cs typeface="Calibri" pitchFamily="34" charset="-120"/>
              </a:rPr>
              <a:t>Rounds with over-taking</a:t>
            </a:r>
            <a:endParaRPr lang="en-US" sz="1350" dirty="0"/>
          </a:p>
        </p:txBody>
      </p:sp>
      <p:sp>
        <p:nvSpPr>
          <p:cNvPr id="8" name="Text 6"/>
          <p:cNvSpPr txBox="1"/>
          <p:nvPr/>
        </p:nvSpPr>
        <p:spPr>
          <a:xfrm>
            <a:off x="3429000" y="2414016"/>
            <a:ext cx="1783080" cy="685800"/>
          </a:xfrm>
          <a:prstGeom prst="rect">
            <a:avLst/>
          </a:prstGeom>
          <a:noFill/>
          <a:ln/>
        </p:spPr>
        <p:txBody>
          <a:bodyPr wrap="square" lIns="0" tIns="0" rIns="0" bIns="0" rtlCol="0" anchor="ctr"/>
          <a:lstStyle/>
          <a:p>
            <a:pPr algn="ctr" indent="0" marL="0">
              <a:buNone/>
            </a:pPr>
            <a:r>
              <a:rPr lang="en-US" sz="2600" dirty="0">
                <a:solidFill>
                  <a:srgbClr val="8F8F8F"/>
                </a:solidFill>
                <a:latin typeface="Georgia" pitchFamily="34" charset="0"/>
                <a:ea typeface="Georgia" pitchFamily="34" charset="-122"/>
                <a:cs typeface="Georgia" pitchFamily="34" charset="-120"/>
              </a:rPr>
              <a:t>55%</a:t>
            </a:r>
            <a:endParaRPr lang="en-US" sz="2600" dirty="0"/>
          </a:p>
        </p:txBody>
      </p:sp>
      <p:sp>
        <p:nvSpPr>
          <p:cNvPr id="9" name="Text 7"/>
          <p:cNvSpPr txBox="1"/>
          <p:nvPr/>
        </p:nvSpPr>
        <p:spPr>
          <a:xfrm>
            <a:off x="5029200" y="2414016"/>
            <a:ext cx="457200" cy="685800"/>
          </a:xfrm>
          <a:prstGeom prst="rect">
            <a:avLst/>
          </a:prstGeom>
          <a:noFill/>
          <a:ln/>
        </p:spPr>
        <p:txBody>
          <a:bodyPr wrap="square" lIns="0" tIns="0" rIns="0" bIns="0" rtlCol="0" anchor="ctr"/>
          <a:lstStyle/>
          <a:p>
            <a:pPr algn="ctr" indent="0" marL="0">
              <a:buNone/>
            </a:pPr>
            <a:r>
              <a:rPr lang="en-US" sz="2000" dirty="0">
                <a:solidFill>
                  <a:srgbClr val="8F8F8F"/>
                </a:solidFill>
                <a:latin typeface="Calibri" pitchFamily="34" charset="0"/>
                <a:ea typeface="Calibri" pitchFamily="34" charset="-122"/>
                <a:cs typeface="Calibri" pitchFamily="34" charset="-120"/>
              </a:rPr>
              <a:t>→</a:t>
            </a:r>
            <a:endParaRPr lang="en-US" sz="2000" dirty="0"/>
          </a:p>
        </p:txBody>
      </p:sp>
      <p:sp>
        <p:nvSpPr>
          <p:cNvPr id="10" name="Text 8"/>
          <p:cNvSpPr txBox="1"/>
          <p:nvPr/>
        </p:nvSpPr>
        <p:spPr>
          <a:xfrm>
            <a:off x="5257800" y="2414016"/>
            <a:ext cx="1783080" cy="685800"/>
          </a:xfrm>
          <a:prstGeom prst="rect">
            <a:avLst/>
          </a:prstGeom>
          <a:noFill/>
          <a:ln/>
        </p:spPr>
        <p:txBody>
          <a:bodyPr wrap="square" lIns="0" tIns="0" rIns="0" bIns="0" rtlCol="0" anchor="ctr"/>
          <a:lstStyle/>
          <a:p>
            <a:pPr algn="ctr" indent="0" marL="0">
              <a:buNone/>
            </a:pPr>
            <a:r>
              <a:rPr lang="en-US" sz="2600" b="1" dirty="0">
                <a:solidFill>
                  <a:srgbClr val="062746"/>
                </a:solidFill>
                <a:latin typeface="Georgia" pitchFamily="34" charset="0"/>
                <a:ea typeface="Georgia" pitchFamily="34" charset="-122"/>
                <a:cs typeface="Georgia" pitchFamily="34" charset="-120"/>
              </a:rPr>
              <a:t>20%</a:t>
            </a:r>
            <a:endParaRPr lang="en-US" sz="2600" dirty="0"/>
          </a:p>
        </p:txBody>
      </p:sp>
      <p:sp>
        <p:nvSpPr>
          <p:cNvPr id="11" name="Shape 9"/>
          <p:cNvSpPr/>
          <p:nvPr/>
        </p:nvSpPr>
        <p:spPr>
          <a:xfrm>
            <a:off x="822960" y="3191256"/>
            <a:ext cx="6035040" cy="0"/>
          </a:xfrm>
          <a:prstGeom prst="line">
            <a:avLst/>
          </a:prstGeom>
          <a:noFill/>
          <a:ln w="9525">
            <a:solidFill>
              <a:srgbClr val="E9E7E3"/>
            </a:solidFill>
            <a:prstDash val="solid"/>
          </a:ln>
        </p:spPr>
      </p:sp>
      <p:sp>
        <p:nvSpPr>
          <p:cNvPr id="12" name="Text 10"/>
          <p:cNvSpPr txBox="1"/>
          <p:nvPr/>
        </p:nvSpPr>
        <p:spPr>
          <a:xfrm>
            <a:off x="822960" y="3282696"/>
            <a:ext cx="2651760" cy="685800"/>
          </a:xfrm>
          <a:prstGeom prst="rect">
            <a:avLst/>
          </a:prstGeom>
          <a:noFill/>
          <a:ln/>
        </p:spPr>
        <p:txBody>
          <a:bodyPr wrap="square" lIns="0" tIns="0" rIns="0" bIns="0" rtlCol="0" anchor="ctr"/>
          <a:lstStyle/>
          <a:p>
            <a:pPr indent="0" marL="0">
              <a:buNone/>
            </a:pPr>
            <a:r>
              <a:rPr lang="en-US" sz="1350" dirty="0">
                <a:solidFill>
                  <a:srgbClr val="1C191A"/>
                </a:solidFill>
                <a:latin typeface="Calibri" pitchFamily="34" charset="0"/>
                <a:ea typeface="Calibri" pitchFamily="34" charset="-122"/>
                <a:cs typeface="Calibri" pitchFamily="34" charset="-120"/>
              </a:rPr>
              <a:t>Rounds below half capacity</a:t>
            </a:r>
            <a:endParaRPr lang="en-US" sz="1350" dirty="0"/>
          </a:p>
        </p:txBody>
      </p:sp>
      <p:sp>
        <p:nvSpPr>
          <p:cNvPr id="13" name="Text 11"/>
          <p:cNvSpPr txBox="1"/>
          <p:nvPr/>
        </p:nvSpPr>
        <p:spPr>
          <a:xfrm>
            <a:off x="3429000" y="3282696"/>
            <a:ext cx="1783080" cy="685800"/>
          </a:xfrm>
          <a:prstGeom prst="rect">
            <a:avLst/>
          </a:prstGeom>
          <a:noFill/>
          <a:ln/>
        </p:spPr>
        <p:txBody>
          <a:bodyPr wrap="square" lIns="0" tIns="0" rIns="0" bIns="0" rtlCol="0" anchor="ctr"/>
          <a:lstStyle/>
          <a:p>
            <a:pPr algn="ctr" indent="0" marL="0">
              <a:buNone/>
            </a:pPr>
            <a:r>
              <a:rPr lang="en-US" sz="2600" dirty="0">
                <a:solidFill>
                  <a:srgbClr val="8F8F8F"/>
                </a:solidFill>
                <a:latin typeface="Georgia" pitchFamily="34" charset="0"/>
                <a:ea typeface="Georgia" pitchFamily="34" charset="-122"/>
                <a:cs typeface="Georgia" pitchFamily="34" charset="-120"/>
              </a:rPr>
              <a:t>92%</a:t>
            </a:r>
            <a:endParaRPr lang="en-US" sz="2600" dirty="0"/>
          </a:p>
        </p:txBody>
      </p:sp>
      <p:sp>
        <p:nvSpPr>
          <p:cNvPr id="14" name="Text 12"/>
          <p:cNvSpPr txBox="1"/>
          <p:nvPr/>
        </p:nvSpPr>
        <p:spPr>
          <a:xfrm>
            <a:off x="5029200" y="3282696"/>
            <a:ext cx="457200" cy="685800"/>
          </a:xfrm>
          <a:prstGeom prst="rect">
            <a:avLst/>
          </a:prstGeom>
          <a:noFill/>
          <a:ln/>
        </p:spPr>
        <p:txBody>
          <a:bodyPr wrap="square" lIns="0" tIns="0" rIns="0" bIns="0" rtlCol="0" anchor="ctr"/>
          <a:lstStyle/>
          <a:p>
            <a:pPr algn="ctr" indent="0" marL="0">
              <a:buNone/>
            </a:pPr>
            <a:r>
              <a:rPr lang="en-US" sz="2000" dirty="0">
                <a:solidFill>
                  <a:srgbClr val="8F8F8F"/>
                </a:solidFill>
                <a:latin typeface="Calibri" pitchFamily="34" charset="0"/>
                <a:ea typeface="Calibri" pitchFamily="34" charset="-122"/>
                <a:cs typeface="Calibri" pitchFamily="34" charset="-120"/>
              </a:rPr>
              <a:t>→</a:t>
            </a:r>
            <a:endParaRPr lang="en-US" sz="2000" dirty="0"/>
          </a:p>
        </p:txBody>
      </p:sp>
      <p:sp>
        <p:nvSpPr>
          <p:cNvPr id="15" name="Text 13"/>
          <p:cNvSpPr txBox="1"/>
          <p:nvPr/>
        </p:nvSpPr>
        <p:spPr>
          <a:xfrm>
            <a:off x="5257800" y="3282696"/>
            <a:ext cx="1783080" cy="685800"/>
          </a:xfrm>
          <a:prstGeom prst="rect">
            <a:avLst/>
          </a:prstGeom>
          <a:noFill/>
          <a:ln/>
        </p:spPr>
        <p:txBody>
          <a:bodyPr wrap="square" lIns="0" tIns="0" rIns="0" bIns="0" rtlCol="0" anchor="ctr"/>
          <a:lstStyle/>
          <a:p>
            <a:pPr algn="ctr" indent="0" marL="0">
              <a:buNone/>
            </a:pPr>
            <a:r>
              <a:rPr lang="en-US" sz="2600" b="1" dirty="0">
                <a:solidFill>
                  <a:srgbClr val="062746"/>
                </a:solidFill>
                <a:latin typeface="Georgia" pitchFamily="34" charset="0"/>
                <a:ea typeface="Georgia" pitchFamily="34" charset="-122"/>
                <a:cs typeface="Georgia" pitchFamily="34" charset="-120"/>
              </a:rPr>
              <a:t>20%</a:t>
            </a:r>
            <a:endParaRPr lang="en-US" sz="2600" dirty="0"/>
          </a:p>
        </p:txBody>
      </p:sp>
      <p:sp>
        <p:nvSpPr>
          <p:cNvPr id="16" name="Shape 14"/>
          <p:cNvSpPr/>
          <p:nvPr/>
        </p:nvSpPr>
        <p:spPr>
          <a:xfrm>
            <a:off x="822960" y="4059936"/>
            <a:ext cx="6035040" cy="0"/>
          </a:xfrm>
          <a:prstGeom prst="line">
            <a:avLst/>
          </a:prstGeom>
          <a:noFill/>
          <a:ln w="9525">
            <a:solidFill>
              <a:srgbClr val="E9E7E3"/>
            </a:solidFill>
            <a:prstDash val="solid"/>
          </a:ln>
        </p:spPr>
      </p:sp>
      <p:sp>
        <p:nvSpPr>
          <p:cNvPr id="17" name="Text 15"/>
          <p:cNvSpPr txBox="1"/>
          <p:nvPr/>
        </p:nvSpPr>
        <p:spPr>
          <a:xfrm>
            <a:off x="822960" y="4151376"/>
            <a:ext cx="2651760" cy="685800"/>
          </a:xfrm>
          <a:prstGeom prst="rect">
            <a:avLst/>
          </a:prstGeom>
          <a:noFill/>
          <a:ln/>
        </p:spPr>
        <p:txBody>
          <a:bodyPr wrap="square" lIns="0" tIns="0" rIns="0" bIns="0" rtlCol="0" anchor="ctr"/>
          <a:lstStyle/>
          <a:p>
            <a:pPr indent="0" marL="0">
              <a:buNone/>
            </a:pPr>
            <a:r>
              <a:rPr lang="en-US" sz="1350" dirty="0">
                <a:solidFill>
                  <a:srgbClr val="1C191A"/>
                </a:solidFill>
                <a:latin typeface="Calibri" pitchFamily="34" charset="0"/>
                <a:ea typeface="Calibri" pitchFamily="34" charset="-122"/>
                <a:cs typeface="Calibri" pitchFamily="34" charset="-120"/>
              </a:rPr>
              <a:t>Lakes collapsed (of 10)</a:t>
            </a:r>
            <a:endParaRPr lang="en-US" sz="1350" dirty="0"/>
          </a:p>
        </p:txBody>
      </p:sp>
      <p:sp>
        <p:nvSpPr>
          <p:cNvPr id="18" name="Text 16"/>
          <p:cNvSpPr txBox="1"/>
          <p:nvPr/>
        </p:nvSpPr>
        <p:spPr>
          <a:xfrm>
            <a:off x="3429000" y="4151376"/>
            <a:ext cx="1783080" cy="685800"/>
          </a:xfrm>
          <a:prstGeom prst="rect">
            <a:avLst/>
          </a:prstGeom>
          <a:noFill/>
          <a:ln/>
        </p:spPr>
        <p:txBody>
          <a:bodyPr wrap="square" lIns="0" tIns="0" rIns="0" bIns="0" rtlCol="0" anchor="ctr"/>
          <a:lstStyle/>
          <a:p>
            <a:pPr algn="ctr" indent="0" marL="0">
              <a:buNone/>
            </a:pPr>
            <a:r>
              <a:rPr lang="en-US" sz="2600" dirty="0">
                <a:solidFill>
                  <a:srgbClr val="8F8F8F"/>
                </a:solidFill>
                <a:latin typeface="Georgia" pitchFamily="34" charset="0"/>
                <a:ea typeface="Georgia" pitchFamily="34" charset="-122"/>
                <a:cs typeface="Georgia" pitchFamily="34" charset="-120"/>
              </a:rPr>
              <a:t>5</a:t>
            </a:r>
            <a:endParaRPr lang="en-US" sz="2600" dirty="0"/>
          </a:p>
        </p:txBody>
      </p:sp>
      <p:sp>
        <p:nvSpPr>
          <p:cNvPr id="19" name="Text 17"/>
          <p:cNvSpPr txBox="1"/>
          <p:nvPr/>
        </p:nvSpPr>
        <p:spPr>
          <a:xfrm>
            <a:off x="5029200" y="4151376"/>
            <a:ext cx="457200" cy="685800"/>
          </a:xfrm>
          <a:prstGeom prst="rect">
            <a:avLst/>
          </a:prstGeom>
          <a:noFill/>
          <a:ln/>
        </p:spPr>
        <p:txBody>
          <a:bodyPr wrap="square" lIns="0" tIns="0" rIns="0" bIns="0" rtlCol="0" anchor="ctr"/>
          <a:lstStyle/>
          <a:p>
            <a:pPr algn="ctr" indent="0" marL="0">
              <a:buNone/>
            </a:pPr>
            <a:r>
              <a:rPr lang="en-US" sz="2000" dirty="0">
                <a:solidFill>
                  <a:srgbClr val="8F8F8F"/>
                </a:solidFill>
                <a:latin typeface="Calibri" pitchFamily="34" charset="0"/>
                <a:ea typeface="Calibri" pitchFamily="34" charset="-122"/>
                <a:cs typeface="Calibri" pitchFamily="34" charset="-120"/>
              </a:rPr>
              <a:t>→</a:t>
            </a:r>
            <a:endParaRPr lang="en-US" sz="2000" dirty="0"/>
          </a:p>
        </p:txBody>
      </p:sp>
      <p:sp>
        <p:nvSpPr>
          <p:cNvPr id="20" name="Text 18"/>
          <p:cNvSpPr txBox="1"/>
          <p:nvPr/>
        </p:nvSpPr>
        <p:spPr>
          <a:xfrm>
            <a:off x="5257800" y="4151376"/>
            <a:ext cx="1783080" cy="685800"/>
          </a:xfrm>
          <a:prstGeom prst="rect">
            <a:avLst/>
          </a:prstGeom>
          <a:noFill/>
          <a:ln/>
        </p:spPr>
        <p:txBody>
          <a:bodyPr wrap="square" lIns="0" tIns="0" rIns="0" bIns="0" rtlCol="0" anchor="ctr"/>
          <a:lstStyle/>
          <a:p>
            <a:pPr algn="ctr" indent="0" marL="0">
              <a:buNone/>
            </a:pPr>
            <a:r>
              <a:rPr lang="en-US" sz="2600" b="1" dirty="0">
                <a:solidFill>
                  <a:srgbClr val="062746"/>
                </a:solidFill>
                <a:latin typeface="Georgia" pitchFamily="34" charset="0"/>
                <a:ea typeface="Georgia" pitchFamily="34" charset="-122"/>
                <a:cs typeface="Georgia" pitchFamily="34" charset="-120"/>
              </a:rPr>
              <a:t>0</a:t>
            </a:r>
            <a:endParaRPr lang="en-US" sz="2600" dirty="0"/>
          </a:p>
        </p:txBody>
      </p:sp>
      <p:sp>
        <p:nvSpPr>
          <p:cNvPr id="21" name="Text 19"/>
          <p:cNvSpPr txBox="1"/>
          <p:nvPr/>
        </p:nvSpPr>
        <p:spPr>
          <a:xfrm>
            <a:off x="548640" y="5175504"/>
            <a:ext cx="6583680" cy="365760"/>
          </a:xfrm>
          <a:prstGeom prst="rect">
            <a:avLst/>
          </a:prstGeom>
          <a:noFill/>
          <a:ln/>
        </p:spPr>
        <p:txBody>
          <a:bodyPr wrap="square" lIns="0" tIns="0" rIns="0" bIns="0" rtlCol="0" anchor="ctr"/>
          <a:lstStyle/>
          <a:p>
            <a:pPr algn="ctr" indent="0" marL="0">
              <a:buNone/>
            </a:pPr>
            <a:r>
              <a:rPr lang="en-US" sz="1100" i="1" dirty="0">
                <a:solidFill>
                  <a:srgbClr val="55524E"/>
                </a:solidFill>
                <a:latin typeface="Calibri" pitchFamily="34" charset="0"/>
                <a:ea typeface="Calibri" pitchFamily="34" charset="-122"/>
                <a:cs typeface="Calibri" pitchFamily="34" charset="-120"/>
              </a:rPr>
              <a:t>gpt-oss-120b, no fine in either condition, 10 games each</a:t>
            </a:r>
            <a:endParaRPr lang="en-US" sz="1100" dirty="0"/>
          </a:p>
        </p:txBody>
      </p:sp>
      <p:sp>
        <p:nvSpPr>
          <p:cNvPr id="22" name="Text 20"/>
          <p:cNvSpPr txBox="1"/>
          <p:nvPr/>
        </p:nvSpPr>
        <p:spPr>
          <a:xfrm>
            <a:off x="7635240" y="1682496"/>
            <a:ext cx="4007815"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Reduced, not stopped</a:t>
            </a:r>
            <a:endParaRPr lang="en-US" sz="1700" dirty="0"/>
          </a:p>
        </p:txBody>
      </p:sp>
      <p:sp>
        <p:nvSpPr>
          <p:cNvPr id="23" name="Text 21"/>
          <p:cNvSpPr txBox="1"/>
          <p:nvPr/>
        </p:nvSpPr>
        <p:spPr>
          <a:xfrm>
            <a:off x="7635240" y="2066544"/>
            <a:ext cx="4007815" cy="745236"/>
          </a:xfrm>
          <a:prstGeom prst="rect">
            <a:avLst/>
          </a:prstGeom>
          <a:noFill/>
          <a:ln/>
        </p:spPr>
        <p:txBody>
          <a:bodyPr wrap="square" lIns="0" tIns="0" rIns="0" bIns="0" rtlCol="0" anchor="t"/>
          <a:lstStyle/>
          <a:p>
            <a:pPr algn="l" indent="0" marL="0">
              <a:buNone/>
            </a:pPr>
            <a:r>
              <a:rPr lang="en-US" sz="1400" dirty="0">
                <a:solidFill>
                  <a:srgbClr val="1C191A"/>
                </a:solidFill>
                <a:latin typeface="Calibri" pitchFamily="34" charset="0"/>
                <a:ea typeface="Calibri" pitchFamily="34" charset="-122"/>
                <a:cs typeface="Calibri" pitchFamily="34" charset="-120"/>
              </a:rPr>
              <a:t>Memory protected the lake without any fine, but some over-taking remained. For Nemotron 3 Super, over-taking fell from 65% to 33%.</a:t>
            </a:r>
            <a:endParaRPr lang="en-US" sz="1400" dirty="0"/>
          </a:p>
        </p:txBody>
      </p:sp>
      <p:sp>
        <p:nvSpPr>
          <p:cNvPr id="24" name="Text 22"/>
          <p:cNvSpPr txBox="1"/>
          <p:nvPr/>
        </p:nvSpPr>
        <p:spPr>
          <a:xfrm>
            <a:off x="7635240" y="2976372"/>
            <a:ext cx="4007815"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With a large enough fine</a:t>
            </a:r>
            <a:endParaRPr lang="en-US" sz="1700" dirty="0"/>
          </a:p>
        </p:txBody>
      </p:sp>
      <p:sp>
        <p:nvSpPr>
          <p:cNvPr id="25" name="Text 23"/>
          <p:cNvSpPr txBox="1"/>
          <p:nvPr/>
        </p:nvSpPr>
        <p:spPr>
          <a:xfrm>
            <a:off x="7635240" y="3360420"/>
            <a:ext cx="4007815" cy="745236"/>
          </a:xfrm>
          <a:prstGeom prst="rect">
            <a:avLst/>
          </a:prstGeom>
          <a:noFill/>
          <a:ln/>
        </p:spPr>
        <p:txBody>
          <a:bodyPr wrap="square" lIns="0" tIns="0" rIns="0" bIns="0" rtlCol="0" anchor="t"/>
          <a:lstStyle/>
          <a:p>
            <a:pPr algn="l" indent="0" marL="0">
              <a:buNone/>
            </a:pPr>
            <a:r>
              <a:rPr lang="en-US" sz="1400" dirty="0">
                <a:solidFill>
                  <a:srgbClr val="1C191A"/>
                </a:solidFill>
                <a:latin typeface="Calibri" pitchFamily="34" charset="0"/>
                <a:ea typeface="Calibri" pitchFamily="34" charset="-122"/>
                <a:cs typeface="Calibri" pitchFamily="34" charset="-120"/>
              </a:rPr>
              <a:t>Fines above the gain stopped over-taking and kept the harvest at 0.99 of the maximum the lake can sustain.</a:t>
            </a:r>
            <a:endParaRPr lang="en-US" sz="1400" dirty="0"/>
          </a:p>
        </p:txBody>
      </p:sp>
      <p:sp>
        <p:nvSpPr>
          <p:cNvPr id="26" name="Text 2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Running Now (Results Soon)</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Expected fine, or the size of the fine?</a:t>
            </a:r>
            <a:endParaRPr lang="en-US" sz="1600" dirty="0"/>
          </a:p>
        </p:txBody>
      </p:sp>
      <p:sp>
        <p:nvSpPr>
          <p:cNvPr id="5" name="Text 3"/>
          <p:cNvSpPr txBox="1"/>
          <p:nvPr/>
        </p:nvSpPr>
        <p:spPr>
          <a:xfrm>
            <a:off x="548640" y="1874520"/>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Same expected fine (2 t or 3 t), made up differently: 1 in 3 checked with a small fine, 1 in 6, or 1 in 12 with a large fine. gpt-oss-120b, 20 new games per condition.</a:t>
            </a:r>
            <a:endParaRPr lang="en-US" sz="1250" dirty="0"/>
          </a:p>
        </p:txBody>
      </p:sp>
      <p:sp>
        <p:nvSpPr>
          <p:cNvPr id="6" name="Shape 4"/>
          <p:cNvSpPr/>
          <p:nvPr/>
        </p:nvSpPr>
        <p:spPr>
          <a:xfrm>
            <a:off x="6080760" y="1545336"/>
            <a:ext cx="5562295" cy="1026414"/>
          </a:xfrm>
          <a:prstGeom prst="roundRect">
            <a:avLst>
              <a:gd name="adj" fmla="val 5345"/>
            </a:avLst>
          </a:prstGeom>
          <a:solidFill>
            <a:srgbClr val="FFFFFF"/>
          </a:solidFill>
          <a:ln w="12700">
            <a:solidFill>
              <a:srgbClr val="C9C6C1"/>
            </a:solidFill>
            <a:prstDash val="dash"/>
          </a:ln>
        </p:spPr>
      </p:sp>
      <p:sp>
        <p:nvSpPr>
          <p:cNvPr id="7" name="Text 5"/>
          <p:cNvSpPr txBox="1"/>
          <p:nvPr/>
        </p:nvSpPr>
        <p:spPr>
          <a:xfrm>
            <a:off x="6217920" y="1618488"/>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8" name="Text 6"/>
          <p:cNvSpPr txBox="1"/>
          <p:nvPr/>
        </p:nvSpPr>
        <p:spPr>
          <a:xfrm>
            <a:off x="548640" y="2736342"/>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Does the prediction hold on new games?</a:t>
            </a:r>
            <a:endParaRPr lang="en-US" sz="1600" dirty="0"/>
          </a:p>
        </p:txBody>
      </p:sp>
      <p:sp>
        <p:nvSpPr>
          <p:cNvPr id="9" name="Text 7"/>
          <p:cNvSpPr txBox="1"/>
          <p:nvPr/>
        </p:nvSpPr>
        <p:spPr>
          <a:xfrm>
            <a:off x="548640" y="3065526"/>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Stopping fine recorded in advance (30 t for both models), tested on 10 new games and with the rules reworded.</a:t>
            </a:r>
            <a:endParaRPr lang="en-US" sz="1250" dirty="0"/>
          </a:p>
        </p:txBody>
      </p:sp>
      <p:sp>
        <p:nvSpPr>
          <p:cNvPr id="10" name="Shape 8"/>
          <p:cNvSpPr/>
          <p:nvPr/>
        </p:nvSpPr>
        <p:spPr>
          <a:xfrm>
            <a:off x="6080760" y="2736342"/>
            <a:ext cx="5562295" cy="1026414"/>
          </a:xfrm>
          <a:prstGeom prst="roundRect">
            <a:avLst>
              <a:gd name="adj" fmla="val 5345"/>
            </a:avLst>
          </a:prstGeom>
          <a:solidFill>
            <a:srgbClr val="FFFFFF"/>
          </a:solidFill>
          <a:ln w="12700">
            <a:solidFill>
              <a:srgbClr val="C9C6C1"/>
            </a:solidFill>
            <a:prstDash val="dash"/>
          </a:ln>
        </p:spPr>
      </p:sp>
      <p:sp>
        <p:nvSpPr>
          <p:cNvPr id="11" name="Text 9"/>
          <p:cNvSpPr txBox="1"/>
          <p:nvPr/>
        </p:nvSpPr>
        <p:spPr>
          <a:xfrm>
            <a:off x="6217920" y="2809494"/>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2" name="Text 10"/>
          <p:cNvSpPr txBox="1"/>
          <p:nvPr/>
        </p:nvSpPr>
        <p:spPr>
          <a:xfrm>
            <a:off x="548640" y="3927348"/>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What if nothing is ever checked?</a:t>
            </a:r>
            <a:endParaRPr lang="en-US" sz="1600" dirty="0"/>
          </a:p>
        </p:txBody>
      </p:sp>
      <p:sp>
        <p:nvSpPr>
          <p:cNvPr id="13" name="Text 11"/>
          <p:cNvSpPr txBox="1"/>
          <p:nvPr/>
        </p:nvSpPr>
        <p:spPr>
          <a:xfrm>
            <a:off x="548640" y="4256532"/>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Rules that never mention checks, compared with checks that carry no fine.</a:t>
            </a:r>
            <a:endParaRPr lang="en-US" sz="1250" dirty="0"/>
          </a:p>
        </p:txBody>
      </p:sp>
      <p:sp>
        <p:nvSpPr>
          <p:cNvPr id="14" name="Shape 12"/>
          <p:cNvSpPr/>
          <p:nvPr/>
        </p:nvSpPr>
        <p:spPr>
          <a:xfrm>
            <a:off x="6080760" y="3927348"/>
            <a:ext cx="5562295" cy="1026414"/>
          </a:xfrm>
          <a:prstGeom prst="roundRect">
            <a:avLst>
              <a:gd name="adj" fmla="val 5345"/>
            </a:avLst>
          </a:prstGeom>
          <a:solidFill>
            <a:srgbClr val="FFFFFF"/>
          </a:solidFill>
          <a:ln w="12700">
            <a:solidFill>
              <a:srgbClr val="C9C6C1"/>
            </a:solidFill>
            <a:prstDash val="dash"/>
          </a:ln>
        </p:spPr>
      </p:sp>
      <p:sp>
        <p:nvSpPr>
          <p:cNvPr id="15" name="Text 13"/>
          <p:cNvSpPr txBox="1"/>
          <p:nvPr/>
        </p:nvSpPr>
        <p:spPr>
          <a:xfrm>
            <a:off x="6217920" y="4000500"/>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6" name="Text 14"/>
          <p:cNvSpPr txBox="1"/>
          <p:nvPr/>
        </p:nvSpPr>
        <p:spPr>
          <a:xfrm>
            <a:off x="548640" y="5118354"/>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Does over-taking spread to neighbours?</a:t>
            </a:r>
            <a:endParaRPr lang="en-US" sz="1600" dirty="0"/>
          </a:p>
        </p:txBody>
      </p:sp>
      <p:sp>
        <p:nvSpPr>
          <p:cNvPr id="17" name="Text 15"/>
          <p:cNvSpPr txBox="1"/>
          <p:nvPr/>
        </p:nvSpPr>
        <p:spPr>
          <a:xfrm>
            <a:off x="548640" y="5447538"/>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Forest: one programmed over-taker among five language-model agents; neighbours' cuts either hidden or visible.</a:t>
            </a:r>
            <a:endParaRPr lang="en-US" sz="1250" dirty="0"/>
          </a:p>
        </p:txBody>
      </p:sp>
      <p:sp>
        <p:nvSpPr>
          <p:cNvPr id="18" name="Shape 16"/>
          <p:cNvSpPr/>
          <p:nvPr/>
        </p:nvSpPr>
        <p:spPr>
          <a:xfrm>
            <a:off x="6080760" y="5118354"/>
            <a:ext cx="5562295" cy="1026414"/>
          </a:xfrm>
          <a:prstGeom prst="roundRect">
            <a:avLst>
              <a:gd name="adj" fmla="val 5345"/>
            </a:avLst>
          </a:prstGeom>
          <a:solidFill>
            <a:srgbClr val="FFFFFF"/>
          </a:solidFill>
          <a:ln w="12700">
            <a:solidFill>
              <a:srgbClr val="C9C6C1"/>
            </a:solidFill>
            <a:prstDash val="dash"/>
          </a:ln>
        </p:spPr>
      </p:sp>
      <p:sp>
        <p:nvSpPr>
          <p:cNvPr id="19" name="Text 17"/>
          <p:cNvSpPr txBox="1"/>
          <p:nvPr/>
        </p:nvSpPr>
        <p:spPr>
          <a:xfrm>
            <a:off x="6217920" y="5191506"/>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Where This Is Going</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Shape 2"/>
          <p:cNvSpPr/>
          <p:nvPr/>
        </p:nvSpPr>
        <p:spPr>
          <a:xfrm>
            <a:off x="1935442" y="3017520"/>
            <a:ext cx="8320811" cy="0"/>
          </a:xfrm>
          <a:prstGeom prst="line">
            <a:avLst/>
          </a:prstGeom>
          <a:noFill/>
          <a:ln w="25400">
            <a:solidFill>
              <a:srgbClr val="C9C6C1"/>
            </a:solidFill>
            <a:prstDash val="solid"/>
          </a:ln>
        </p:spPr>
      </p:sp>
      <p:sp>
        <p:nvSpPr>
          <p:cNvPr id="5" name="Shape 3"/>
          <p:cNvSpPr/>
          <p:nvPr/>
        </p:nvSpPr>
        <p:spPr>
          <a:xfrm>
            <a:off x="1779994" y="2862072"/>
            <a:ext cx="310896" cy="310896"/>
          </a:xfrm>
          <a:prstGeom prst="ellipse">
            <a:avLst/>
          </a:prstGeom>
          <a:solidFill>
            <a:srgbClr val="062746"/>
          </a:solidFill>
          <a:ln w="19050">
            <a:solidFill>
              <a:srgbClr val="062746"/>
            </a:solidFill>
            <a:prstDash val="solid"/>
          </a:ln>
        </p:spPr>
      </p:sp>
      <p:sp>
        <p:nvSpPr>
          <p:cNvPr id="6" name="Text 4"/>
          <p:cNvSpPr txBox="1"/>
          <p:nvPr/>
        </p:nvSpPr>
        <p:spPr>
          <a:xfrm>
            <a:off x="640080"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Sep – 8 Oct</a:t>
            </a:r>
            <a:endParaRPr lang="en-US" sz="1500" dirty="0"/>
          </a:p>
        </p:txBody>
      </p:sp>
      <p:sp>
        <p:nvSpPr>
          <p:cNvPr id="7" name="Text 5"/>
          <p:cNvSpPr txBox="1"/>
          <p:nvPr/>
        </p:nvSpPr>
        <p:spPr>
          <a:xfrm>
            <a:off x="658368"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Programmed agents in all three settings; language models in Fishery</a:t>
            </a:r>
            <a:endParaRPr lang="en-US" sz="1300" dirty="0"/>
          </a:p>
        </p:txBody>
      </p:sp>
      <p:sp>
        <p:nvSpPr>
          <p:cNvPr id="8" name="Shape 6"/>
          <p:cNvSpPr/>
          <p:nvPr/>
        </p:nvSpPr>
        <p:spPr>
          <a:xfrm>
            <a:off x="4553598" y="2862072"/>
            <a:ext cx="310896" cy="310896"/>
          </a:xfrm>
          <a:prstGeom prst="ellipse">
            <a:avLst/>
          </a:prstGeom>
          <a:solidFill>
            <a:srgbClr val="FFFFFF"/>
          </a:solidFill>
          <a:ln w="19050">
            <a:solidFill>
              <a:srgbClr val="062746"/>
            </a:solidFill>
            <a:prstDash val="solid"/>
          </a:ln>
        </p:spPr>
      </p:sp>
      <p:sp>
        <p:nvSpPr>
          <p:cNvPr id="9" name="Text 7"/>
          <p:cNvSpPr txBox="1"/>
          <p:nvPr/>
        </p:nvSpPr>
        <p:spPr>
          <a:xfrm>
            <a:off x="3413684"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12 – 14 Oct</a:t>
            </a:r>
            <a:endParaRPr lang="en-US" sz="1500" dirty="0"/>
          </a:p>
        </p:txBody>
      </p:sp>
      <p:sp>
        <p:nvSpPr>
          <p:cNvPr id="10" name="Text 8"/>
          <p:cNvSpPr txBox="1"/>
          <p:nvPr/>
        </p:nvSpPr>
        <p:spPr>
          <a:xfrm>
            <a:off x="3431972"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Follow-up tests asked for by two outside reviews</a:t>
            </a:r>
            <a:endParaRPr lang="en-US" sz="1300" dirty="0"/>
          </a:p>
        </p:txBody>
      </p:sp>
      <p:sp>
        <p:nvSpPr>
          <p:cNvPr id="11" name="Shape 9"/>
          <p:cNvSpPr/>
          <p:nvPr/>
        </p:nvSpPr>
        <p:spPr>
          <a:xfrm>
            <a:off x="7327202" y="2862072"/>
            <a:ext cx="310896" cy="310896"/>
          </a:xfrm>
          <a:prstGeom prst="ellipse">
            <a:avLst/>
          </a:prstGeom>
          <a:solidFill>
            <a:srgbClr val="FFFFFF"/>
          </a:solidFill>
          <a:ln w="19050">
            <a:solidFill>
              <a:srgbClr val="062746"/>
            </a:solidFill>
            <a:prstDash val="solid"/>
          </a:ln>
        </p:spPr>
      </p:sp>
      <p:sp>
        <p:nvSpPr>
          <p:cNvPr id="12" name="Text 10"/>
          <p:cNvSpPr txBox="1"/>
          <p:nvPr/>
        </p:nvSpPr>
        <p:spPr>
          <a:xfrm>
            <a:off x="6187288"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20 Nov</a:t>
            </a:r>
            <a:endParaRPr lang="en-US" sz="1500" dirty="0"/>
          </a:p>
        </p:txBody>
      </p:sp>
      <p:sp>
        <p:nvSpPr>
          <p:cNvPr id="13" name="Text 11"/>
          <p:cNvSpPr txBox="1"/>
          <p:nvPr/>
        </p:nvSpPr>
        <p:spPr>
          <a:xfrm>
            <a:off x="6205576"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Workshop submission (AAAI-27 WMAC) and arXiv</a:t>
            </a:r>
            <a:endParaRPr lang="en-US" sz="1300" dirty="0"/>
          </a:p>
        </p:txBody>
      </p:sp>
      <p:sp>
        <p:nvSpPr>
          <p:cNvPr id="14" name="Shape 12"/>
          <p:cNvSpPr/>
          <p:nvPr/>
        </p:nvSpPr>
        <p:spPr>
          <a:xfrm>
            <a:off x="10100805" y="2862072"/>
            <a:ext cx="310896" cy="310896"/>
          </a:xfrm>
          <a:prstGeom prst="ellipse">
            <a:avLst/>
          </a:prstGeom>
          <a:solidFill>
            <a:srgbClr val="FFFFFF"/>
          </a:solidFill>
          <a:ln w="19050">
            <a:solidFill>
              <a:srgbClr val="062746"/>
            </a:solidFill>
            <a:prstDash val="solid"/>
          </a:ln>
        </p:spPr>
      </p:sp>
      <p:sp>
        <p:nvSpPr>
          <p:cNvPr id="15" name="Text 13"/>
          <p:cNvSpPr txBox="1"/>
          <p:nvPr/>
        </p:nvSpPr>
        <p:spPr>
          <a:xfrm>
            <a:off x="8960891"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Jan 2027</a:t>
            </a:r>
            <a:endParaRPr lang="en-US" sz="1500" dirty="0"/>
          </a:p>
        </p:txBody>
      </p:sp>
      <p:sp>
        <p:nvSpPr>
          <p:cNvPr id="16" name="Text 14"/>
          <p:cNvSpPr txBox="1"/>
          <p:nvPr/>
        </p:nvSpPr>
        <p:spPr>
          <a:xfrm>
            <a:off x="8979179"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Main conference: IJCAI or ICML</a:t>
            </a:r>
            <a:endParaRPr lang="en-US" sz="1300" dirty="0"/>
          </a:p>
        </p:txBody>
      </p:sp>
      <p:sp>
        <p:nvSpPr>
          <p:cNvPr id="17" name="Text 15"/>
          <p:cNvSpPr txBox="1"/>
          <p:nvPr/>
        </p:nvSpPr>
        <p:spPr>
          <a:xfrm>
            <a:off x="548640" y="5852160"/>
            <a:ext cx="11094415" cy="457200"/>
          </a:xfrm>
          <a:prstGeom prst="rect">
            <a:avLst/>
          </a:prstGeom>
          <a:noFill/>
          <a:ln/>
        </p:spPr>
        <p:txBody>
          <a:bodyPr wrap="square" lIns="0" tIns="0" rIns="0" bIns="0" rtlCol="0" anchor="ctr"/>
          <a:lstStyle/>
          <a:p>
            <a:pPr algn="ctr" indent="0" marL="0">
              <a:buNone/>
            </a:pPr>
            <a:r>
              <a:rPr lang="en-US" sz="1200" i="1" dirty="0">
                <a:solidFill>
                  <a:srgbClr val="55524E"/>
                </a:solidFill>
                <a:latin typeface="Calibri" pitchFamily="34" charset="0"/>
                <a:ea typeface="Calibri" pitchFamily="34" charset="-122"/>
                <a:cs typeface="Calibri" pitchFamily="34" charset="-120"/>
              </a:rPr>
              <a:t>Each study has a protocol written down before its code; predictions that failed are reported.</a:t>
            </a:r>
            <a:endParaRPr lang="en-US" sz="1200" dirty="0"/>
          </a:p>
        </p:txBody>
      </p:sp>
      <p:sp>
        <p:nvSpPr>
          <p:cNvPr id="18" name="Text 1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613855" y="365760"/>
            <a:ext cx="5029200" cy="1188720"/>
          </a:xfrm>
          <a:prstGeom prst="rect">
            <a:avLst/>
          </a:prstGeom>
          <a:noFill/>
          <a:ln/>
        </p:spPr>
        <p:txBody>
          <a:bodyPr wrap="square" lIns="0" tIns="0" rIns="0" bIns="0" rtlCol="0" anchor="b"/>
          <a:lstStyle/>
          <a:p>
            <a:pPr algn="r" indent="0" marL="0">
              <a:lnSpc>
                <a:spcPct val="95000"/>
              </a:lnSpc>
              <a:buNone/>
            </a:pPr>
            <a:r>
              <a:rPr lang="en-US" sz="3600" b="1" dirty="0">
                <a:solidFill>
                  <a:srgbClr val="062746"/>
                </a:solidFill>
                <a:latin typeface="Georgia" pitchFamily="34" charset="0"/>
                <a:ea typeface="Georgia" pitchFamily="34" charset="-122"/>
                <a:cs typeface="Georgia" pitchFamily="34" charset="-120"/>
              </a:rPr>
              <a:t>Questions for You</a:t>
            </a:r>
            <a:endParaRPr lang="en-US" sz="3600" dirty="0"/>
          </a:p>
        </p:txBody>
      </p:sp>
      <p:sp>
        <p:nvSpPr>
          <p:cNvPr id="3" name="Shape 1"/>
          <p:cNvSpPr/>
          <p:nvPr/>
        </p:nvSpPr>
        <p:spPr>
          <a:xfrm>
            <a:off x="8351215" y="168249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214884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1417320" y="216712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Is "taking more than your allowance" a fair stand-in for an AI agent misbehaving? What would be better?</a:t>
            </a:r>
            <a:endParaRPr lang="en-US" sz="1800" dirty="0"/>
          </a:p>
        </p:txBody>
      </p:sp>
      <p:sp>
        <p:nvSpPr>
          <p:cNvPr id="6" name="Text 4"/>
          <p:cNvSpPr txBox="1"/>
          <p:nvPr/>
        </p:nvSpPr>
        <p:spPr>
          <a:xfrm>
            <a:off x="548640" y="320040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7" name="Text 5"/>
          <p:cNvSpPr txBox="1"/>
          <p:nvPr/>
        </p:nvSpPr>
        <p:spPr>
          <a:xfrm>
            <a:off x="1417320" y="321868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If a fine works under one wording of the rules, how far would you trust it under another?</a:t>
            </a:r>
            <a:endParaRPr lang="en-US" sz="1800" dirty="0"/>
          </a:p>
        </p:txBody>
      </p:sp>
      <p:sp>
        <p:nvSpPr>
          <p:cNvPr id="8" name="Text 6"/>
          <p:cNvSpPr txBox="1"/>
          <p:nvPr/>
        </p:nvSpPr>
        <p:spPr>
          <a:xfrm>
            <a:off x="548640" y="425196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9" name="Text 7"/>
          <p:cNvSpPr txBox="1"/>
          <p:nvPr/>
        </p:nvSpPr>
        <p:spPr>
          <a:xfrm>
            <a:off x="1417320" y="427024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What would convince you more: more models, or more kinds of setting?</a:t>
            </a:r>
            <a:endParaRPr lang="en-US" sz="1800" dirty="0"/>
          </a:p>
        </p:txBody>
      </p:sp>
      <p:sp>
        <p:nvSpPr>
          <p:cNvPr id="10" name="Text 8"/>
          <p:cNvSpPr txBox="1"/>
          <p:nvPr/>
        </p:nvSpPr>
        <p:spPr>
          <a:xfrm>
            <a:off x="548640" y="530352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04</a:t>
            </a:r>
            <a:endParaRPr lang="en-US" sz="2600" dirty="0"/>
          </a:p>
        </p:txBody>
      </p:sp>
      <p:sp>
        <p:nvSpPr>
          <p:cNvPr id="11" name="Text 9"/>
          <p:cNvSpPr txBox="1"/>
          <p:nvPr/>
        </p:nvSpPr>
        <p:spPr>
          <a:xfrm>
            <a:off x="1417320" y="532180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Where in your own work does someone check only a sample, and what happens after a catch?</a:t>
            </a:r>
            <a:endParaRPr lang="en-US" sz="1800" dirty="0"/>
          </a:p>
        </p:txBody>
      </p:sp>
      <p:sp>
        <p:nvSpPr>
          <p:cNvPr id="12" name="Text 1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9343A"/>
        </a:solidFill>
      </p:bgPr>
    </p:bg>
    <p:spTree>
      <p:nvGrpSpPr>
        <p:cNvPr id="1" name=""/>
        <p:cNvGrpSpPr/>
        <p:nvPr/>
      </p:nvGrpSpPr>
      <p:grpSpPr>
        <a:xfrm>
          <a:off x="0" y="0"/>
          <a:ext cx="0" cy="0"/>
          <a:chOff x="0" y="0"/>
          <a:chExt cx="0" cy="0"/>
        </a:xfrm>
      </p:grpSpPr>
      <p:sp>
        <p:nvSpPr>
          <p:cNvPr id="2" name="Text 0"/>
          <p:cNvSpPr txBox="1"/>
          <p:nvPr/>
        </p:nvSpPr>
        <p:spPr>
          <a:xfrm>
            <a:off x="1828800" y="1828800"/>
            <a:ext cx="8534095" cy="2194560"/>
          </a:xfrm>
          <a:prstGeom prst="rect">
            <a:avLst/>
          </a:prstGeom>
          <a:noFill/>
          <a:ln/>
        </p:spPr>
        <p:txBody>
          <a:bodyPr wrap="square" lIns="0" tIns="0" rIns="0" bIns="0" rtlCol="0" anchor="b"/>
          <a:lstStyle/>
          <a:p>
            <a:pPr algn="ctr" indent="0" marL="0">
              <a:lnSpc>
                <a:spcPct val="90000"/>
              </a:lnSpc>
              <a:buNone/>
            </a:pPr>
            <a:r>
              <a:rPr lang="en-US" sz="7200" dirty="0">
                <a:solidFill>
                  <a:srgbClr val="F0F0F0"/>
                </a:solidFill>
                <a:latin typeface="Calibri" pitchFamily="34" charset="0"/>
                <a:ea typeface="Calibri" pitchFamily="34" charset="-122"/>
                <a:cs typeface="Calibri" pitchFamily="34" charset="-120"/>
              </a:rPr>
              <a:t>Thank You</a:t>
            </a:r>
            <a:endParaRPr lang="en-US" sz="7200" dirty="0"/>
          </a:p>
        </p:txBody>
      </p:sp>
      <p:sp>
        <p:nvSpPr>
          <p:cNvPr id="3" name="Shape 1"/>
          <p:cNvSpPr/>
          <p:nvPr/>
        </p:nvSpPr>
        <p:spPr>
          <a:xfrm>
            <a:off x="4312768" y="4297680"/>
            <a:ext cx="3566160" cy="118872"/>
          </a:xfrm>
          <a:prstGeom prst="rect">
            <a:avLst/>
          </a:prstGeom>
          <a:solidFill>
            <a:srgbClr val="B09E88"/>
          </a:solidFill>
          <a:ln w="12700">
            <a:solidFill>
              <a:srgbClr val="B09E88"/>
            </a:solidFill>
            <a:prstDash val="solid"/>
          </a:ln>
        </p:spPr>
      </p:sp>
      <p:sp>
        <p:nvSpPr>
          <p:cNvPr id="4" name="Text 2"/>
          <p:cNvSpPr txBox="1"/>
          <p:nvPr/>
        </p:nvSpPr>
        <p:spPr>
          <a:xfrm rot="5400000">
            <a:off x="9631375" y="2971800"/>
            <a:ext cx="3200400" cy="457200"/>
          </a:xfrm>
          <a:prstGeom prst="rect">
            <a:avLst/>
          </a:prstGeom>
          <a:noFill/>
          <a:ln/>
        </p:spPr>
        <p:txBody>
          <a:bodyPr wrap="square" lIns="0" tIns="0" rIns="0" bIns="0" rtlCol="0" anchor="ctr"/>
          <a:lstStyle/>
          <a:p>
            <a:pPr algn="ctr" indent="0" marL="0">
              <a:buNone/>
            </a:pPr>
            <a:r>
              <a:rPr lang="en-US" sz="1400" dirty="0">
                <a:solidFill>
                  <a:srgbClr val="F0F0F0"/>
                </a:solidFill>
                <a:latin typeface="Calibri" pitchFamily="34" charset="0"/>
                <a:ea typeface="Calibri" pitchFamily="34" charset="-122"/>
                <a:cs typeface="Calibri" pitchFamily="34" charset="-120"/>
              </a:rPr>
              <a:t>13 October 2026</a:t>
            </a:r>
            <a:endParaRPr lang="en-US" sz="1400" dirty="0"/>
          </a:p>
        </p:txBody>
      </p:sp>
      <p:sp>
        <p:nvSpPr>
          <p:cNvPr id="5" name="Text 3"/>
          <p:cNvSpPr txBox="1"/>
          <p:nvPr/>
        </p:nvSpPr>
        <p:spPr>
          <a:xfrm>
            <a:off x="548640" y="5760720"/>
            <a:ext cx="4572000" cy="548640"/>
          </a:xfrm>
          <a:prstGeom prst="rect">
            <a:avLst/>
          </a:prstGeom>
          <a:noFill/>
          <a:ln/>
        </p:spPr>
        <p:txBody>
          <a:bodyPr wrap="square" lIns="0" tIns="0" rIns="0" bIns="0" rtlCol="0" anchor="b"/>
          <a:lstStyle/>
          <a:p>
            <a:pPr indent="0" marL="0">
              <a:buNone/>
            </a:pPr>
            <a:r>
              <a:rPr lang="en-US" sz="1100" dirty="0">
                <a:solidFill>
                  <a:srgbClr val="F0F0F0"/>
                </a:solidFill>
                <a:latin typeface="Calibri" pitchFamily="34" charset="0"/>
                <a:ea typeface="Calibri" pitchFamily="34" charset="-122"/>
                <a:cs typeface="Calibri" pitchFamily="34" charset="-120"/>
              </a:rPr>
              <a:t>Ameer Alhashemi</a:t>
            </a:r>
            <a:endParaRPr lang="en-US" sz="1100" dirty="0"/>
          </a:p>
          <a:p>
            <a:pPr indent="0" marL="0">
              <a:buNone/>
            </a:pPr>
            <a:r>
              <a:rPr lang="en-US" sz="1100" dirty="0">
                <a:solidFill>
                  <a:srgbClr val="F0F0F0"/>
                </a:solidFill>
                <a:latin typeface="Calibri" pitchFamily="34" charset="0"/>
                <a:ea typeface="Calibri" pitchFamily="34" charset="-122"/>
                <a:cs typeface="Calibri" pitchFamily="34" charset="-120"/>
              </a:rPr>
              <a:t>k26108758@kcl.ac.uk</a:t>
            </a:r>
            <a:endParaRPr lang="en-US" sz="1100" dirty="0"/>
          </a:p>
        </p:txBody>
      </p:sp>
      <p:sp>
        <p:nvSpPr>
          <p:cNvPr id="6"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F0F0F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Penalties Sized to the Gain: PhD catch-up</dc:title>
  <dc:subject>PptxGenJS Presentation</dc:subject>
  <dc:creator>Ameer Alhashemi</dc:creator>
  <cp:lastModifiedBy>Ameer Alhashemi</cp:lastModifiedBy>
  <cp:revision>1</cp:revision>
  <dcterms:created xsi:type="dcterms:W3CDTF">2026-10-12T22:11:17Z</dcterms:created>
  <dcterms:modified xsi:type="dcterms:W3CDTF">2026-10-12T22:11:17Z</dcterms:modified>
</cp:coreProperties>
</file>