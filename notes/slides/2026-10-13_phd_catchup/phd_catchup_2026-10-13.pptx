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I'll walk you through what I've been working on. The project starts from a simple question, the one in the subtitle: if you have a group of AI agents sharing something limited, and you can only afford to check up on a few of them, when does that checking actually stop them from taking more than their share? And can you work out in advance how strong the penalty needs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project on one slide, and the rest of the talk unpacks it. The motivation is that AI agents are increasingly being deployed to act on our behalf, and more and more often they'll be drawing on resources they share with other agents and people: a compute budget, an energy allowance, a pot of money. Whoever oversees them can't realistically inspect every single action, because verification is expensive, so in practice they check a sample. In the economics and AI safety literature that kind of check is called an audit. It's the same word as a tax audit, and the idea is the same: you pick a few cases, look at what actually happened, and act on what you find. So I built a simulated shared resource with six agents, an overseer I call the reviewer, which decides how much each agent is allowed to take, and a handful of random audits every round. With that, I tested two things. First, what should happen when an audit catches someone: a fine, the overseer simply remembering the offence, or both. Second, whether you can predict, before trying it, the fine that makes an agent stop. The short version of what I found is that audits only reduce harm when getting caught has a consequence, and that the fine that stops an agent can be predicted from how much it gains by cheating. That held for simple programmed agents, and it also held for language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the problem concrete, because a couple of words will come up a lot. Each round, every agent has an allowance, which just means the amount it's permitted to take that round. If an agent takes more than its allowance, I call that over-taking. Over-taking is good for the agent doing it and bad for everyone else, because the resource is shared and it only grows back so fast. Since you can't watch everything, the overseer audits a random few agents each round, much like a tax office or a fisheries inspector does. The question is when that kind of sampled oversight is enough, and how large the penalty has to be for it to bite. I ask that question in three settings, shown on the right. I chose them because the damage travels differently in each. In Fishery, everyone draws from one shared lake, so any extra catch hurts all the others. In Forest, each agent manages its own plot, but cutting too much damages the two plots next to it, so harm spreads only to neighbours. In River, there are two kinds of pollutant, and each is fairly harmless on its own but harmful when they mix, so no single agent looks guilty in isolation. The reason for using all three is generalisation: if a result holds when harm spreads through a common pool, along a chain of neighbours, and through combination, it's unlikely to be an artefact of one particular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gives me three questions. The first is about consequences: when an audit catches someone, what has to happen next for the audit to make any difference? The second is about prediction: is there a fine size at which cheating stops, and can I calculate it before I try it? And the third is about language models, the same kind of AI as ChatGPT: when they're the ones making the decisions, do they stop where the prediction says they should?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single round looks like. Every agent asks for a share. The reviewer predicts what those requests would do to the resource, and if the total would push it too low, it scales everyone's request down by the same factor. Then each agent takes its allowance, or more than that if it's cheating. The resource grows back a little, and finally a few agents are audited. The last piece is what I mean by harm. I count a round as harmful when the resource falls below half of its maximum. The reason is that a resource like a fish stock regrows fastest at around half capacity, which is what fisheries scientists call the maximum sustainable yield. Below that line you're eating into the stock's ability to recover. I use the same harm line in all three settings, so the results are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I test things, in four steps. First, I play games with no fine at all and measure how much an agent gains from a single round of over-taking. Second, I use that to predict the fine that should stop it. Third, and this matters, I write the prediction down before running any game with that fine, so I can't adjust it after seeing the results. Fourth, I test it on fresh games the prediction has never seen, and I report the outcome whether or not it matches. The prediction itself comes from a classic idea in economics, Gary Becker's 1968 work on crime and punishment. His argument was that a rational person breaks a rule only if what they gain is bigger than the punishment they expect. The expected punishment is the chance of being caught times the size of the fine, which is what the card on the right shows. So in my language-model games, with a one-in-six chance of an audit and a 30-tonne fine, the expected fine is 5 tonnes, just above the roughly four and a half tonnes the models gained from a round of cheating. The theory says they should stop there, and that a 24-tonne fine, which is only 4 tonnes expected, shouldn't be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finding is about consequences. In this setup, some agents under-report: they tell the reviewer they'll take less than they actually take, so the reviewer underestimates their use unless an audit catches them. If the reviewer catches a lie and only corrects that one round, it barely helps, removing just 10 to 46 percent of the harm. If instead it remembers the lie and gives that agent smaller allowances from then on, which is what I mean by memory, harm falls in all 12 settings I tried. In Fishery, for example, the lake goes from being below half capacity in somewhere between 43 and 99 percent of rounds, depending on the setting, to under 3 percent. So a catch on its own does very little. It has to change something for the agent who was caught. That's interesting because in the AI control literature, a caught model is usually just shut down, so softer consequences like memory had never really been compared.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finding is that the tipping point is predictable. Here the agents are programmed, meaning simple bots that choose whichever level of cheating pays them the most. Using only games without audits, I predicted the expected fine at which they'd stop, and in five out of five new settings the actual stopping point landed within one step of my prediction. I want to be upfront that this is partly built in: these bots are designed to maximise their payoff, so of course they follow a payoff rule. The value of this step is that it checks my measurement method under realistic noise, with audits that sometimes miss, before I apply it to language models, where nothing is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finding is about two shortcuts that sound sensible and actually backfire. The first is: if you know there are cheaters, just cut everyone's allowance to compensate. That protected the resource, but it let the cheaters gain more than if there had been no audits at all, while the honest agents paid the price. The second is: don't audit at random, audit whoever asks for the most, since they look the most suspicious. That only caught about a quarter of the liars, against all of them with random audits. The reason is that the biggest asker is often an honest agent with a big appetite, so you keep auditing the same innocent agent while the liars go unnoticed. The lesson is that shortcuts which save on audits can open blind spots, and randomness is doing real work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language models. I took four open models, meaning models whose weights are publicly available, and let each one play four of the six fishers in Fishery, across 520 games. Two of them, gpt-oss and Nemotron, deliberately took more than they were allowed when there was no fine. The other two hardly did, which is a finding in itself: model families differ a lot in whether they bend the rules at all. For the two that did, I measured how much they gained per round without a fine, and before running the larger fines I predicted that both would stop at 30 tonnes. Nemotron stopped at exactly 30, and gpt-oss one step earlier, at 24. One surprising detail: a small fine actually made gpt-oss cheat more, going from about 55 to about 90 percent of rounds. That mirrors a well-known study of parents at a day-care centre, where introducing a small fine for picking children up late made lateness go up, because people started treating the fine as a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fifth finding is about which gain the models seem to respond to. What predicted their stopping point was the gain from one round of over-taking. It wasn't the gain over the whole game, which was close to zero or even negative, because by over-taking they were draining the lake they depended on. They also stopped earlier than a perfectly rational, payoff-maximising agent would: that agent would keep going until 36 tonnes. I want to be careful with the interpretation. This tells us what predicts where the models stop, not why they stop. They could be reacting to the expected fine, to the sheer size of the number, or to something else entirely, and that's exactly what one of the running experiments is designed to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also works for the language models, even with no fine at all. In both conditions the audits are identical, a one-in-six chance each round, and there's no fine. The only difference is whether the reviewer remembers a caught over-take. With memory, gpt-oss went from over-taking in 55 percent of its decisions to 20, and Nemotron from 65 to 33. So memory reduces over-taking but doesn't eliminate it. The resource did much better: the lake spent far fewer rounds below half capacity, and not a single lake collapsed, against five out of ten for gpt-oss without memory. One small thing so it doesn't confuse anyone: the two 20s for gpt-oss are a coincidence, since one counts decisions and the other counts rounds. To stop over-taking completely, you need a fine that's larger than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experiments are running right now, which is why the boxes are empty. Most of them answer questions raised by two outside reviews of the paper, and the last one is a question my supervisor asked. The most important asks whether the models are really responding to the expected fine, or just to how big the fine sounds. To test that, I keep the expected fine the same but change how it's made up: a high chance of an audit with a small fine, a medium chance with a medium fine, or a low chance with a large fine. If the models only care about the expected fine, they should behave the same in all three; if they react to the size of the number, the large-fine version should deter more. The others check whether my prediction still holds on completely new games and with the rules reworded, what happens when nothing is ever audited, and whether cheating spreads: in Forest, I put one programmed cheater among five language-model agents and see whether its neighbours start over-cutting.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for where this is going, the programmed-agent work and the main language-model studies are done, and the follow-ups should finish in the next day or so. I'm aiming to submit to a workshop at AAAI in November and post the paper on arXiv, and then go for a main conference in January. One thing I've tried to do throughout is pre-register each study, meaning I wrote down the plan and the predictions before writing the code, and I report the predictions that didn't work out as well as the ones that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really value your thoughts on these, especially the first one, because it's the one I'm least sure about: is taking more than your allowance a fair stand-in for an AI agent misbehaving?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5F4F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960120" y="2011680"/>
            <a:ext cx="10058400" cy="1188720"/>
          </a:xfrm>
          <a:prstGeom prst="rect">
            <a:avLst/>
          </a:prstGeom>
          <a:noFill/>
          <a:ln/>
        </p:spPr>
        <p:txBody>
          <a:bodyPr wrap="square" lIns="0" tIns="0" rIns="0" bIns="0" rtlCol="0" anchor="b"/>
          <a:lstStyle/>
          <a:p>
            <a:pPr indent="0" marL="0">
              <a:buNone/>
            </a:pPr>
            <a:r>
              <a:rPr lang="en-US" sz="5400" dirty="0">
                <a:solidFill>
                  <a:srgbClr val="2B2F33"/>
                </a:solidFill>
                <a:latin typeface="Calibri Light" pitchFamily="34" charset="0"/>
                <a:ea typeface="Calibri Light" pitchFamily="34" charset="-122"/>
                <a:cs typeface="Calibri Light" pitchFamily="34" charset="-120"/>
              </a:rPr>
              <a:t>Penalties Sized to the Gain</a:t>
            </a:r>
            <a:endParaRPr lang="en-US" sz="5400" dirty="0"/>
          </a:p>
        </p:txBody>
      </p:sp>
      <p:sp>
        <p:nvSpPr>
          <p:cNvPr id="3" name="Text 1"/>
          <p:cNvSpPr txBox="1"/>
          <p:nvPr/>
        </p:nvSpPr>
        <p:spPr>
          <a:xfrm>
            <a:off x="960120" y="3291840"/>
            <a:ext cx="7863840" cy="777240"/>
          </a:xfrm>
          <a:prstGeom prst="rect">
            <a:avLst/>
          </a:prstGeom>
          <a:noFill/>
          <a:ln/>
        </p:spPr>
        <p:txBody>
          <a:bodyPr wrap="square" lIns="0" tIns="0" rIns="0" bIns="0" rtlCol="0" anchor="t"/>
          <a:lstStyle/>
          <a:p>
            <a:pPr indent="0" marL="0">
              <a:buNone/>
            </a:pPr>
            <a:r>
              <a:rPr lang="en-US" sz="1900" i="1" dirty="0">
                <a:solidFill>
                  <a:srgbClr val="2B2F33"/>
                </a:solidFill>
                <a:latin typeface="Calibri" pitchFamily="34" charset="0"/>
                <a:ea typeface="Calibri" pitchFamily="34" charset="-122"/>
                <a:cs typeface="Calibri" pitchFamily="34" charset="-120"/>
              </a:rPr>
              <a:t>When do random audits stop AI agents from over-using a shared resource?</a:t>
            </a:r>
            <a:endParaRPr lang="en-US" sz="1900" dirty="0"/>
          </a:p>
        </p:txBody>
      </p:sp>
      <p:sp>
        <p:nvSpPr>
          <p:cNvPr id="4" name="Shape 2"/>
          <p:cNvSpPr/>
          <p:nvPr/>
        </p:nvSpPr>
        <p:spPr>
          <a:xfrm>
            <a:off x="960120" y="4206240"/>
            <a:ext cx="3383280" cy="109728"/>
          </a:xfrm>
          <a:prstGeom prst="rect">
            <a:avLst/>
          </a:prstGeom>
          <a:solidFill>
            <a:srgbClr val="131B28"/>
          </a:solidFill>
          <a:ln w="12700">
            <a:solidFill>
              <a:srgbClr val="131B28"/>
            </a:solidFill>
            <a:prstDash val="solid"/>
          </a:ln>
        </p:spPr>
      </p:sp>
      <p:sp>
        <p:nvSpPr>
          <p:cNvPr id="5" name="Text 3"/>
          <p:cNvSpPr txBox="1"/>
          <p:nvPr/>
        </p:nvSpPr>
        <p:spPr>
          <a:xfrm>
            <a:off x="6522415" y="5440680"/>
            <a:ext cx="4937760" cy="822960"/>
          </a:xfrm>
          <a:prstGeom prst="rect">
            <a:avLst/>
          </a:prstGeom>
          <a:noFill/>
          <a:ln/>
        </p:spPr>
        <p:txBody>
          <a:bodyPr wrap="square" lIns="0" tIns="0" rIns="0" bIns="0" rtlCol="0" anchor="b"/>
          <a:lstStyle/>
          <a:p>
            <a:pPr algn="r" indent="0" marL="0">
              <a:buNone/>
            </a:pPr>
            <a:r>
              <a:rPr lang="en-US" sz="1100" dirty="0">
                <a:solidFill>
                  <a:srgbClr val="1C191A"/>
                </a:solidFill>
                <a:latin typeface="Calibri" pitchFamily="34" charset="0"/>
                <a:ea typeface="Calibri" pitchFamily="34" charset="-122"/>
                <a:cs typeface="Calibri" pitchFamily="34" charset="-120"/>
              </a:rPr>
              <a:t>Ameer Alhashemi</a:t>
            </a:r>
            <a:endParaRPr lang="en-US" sz="1100" dirty="0"/>
          </a:p>
          <a:p>
            <a:pPr algn="r" indent="0" marL="0">
              <a:buNone/>
            </a:pPr>
            <a:r>
              <a:rPr lang="en-US" sz="1100" dirty="0">
                <a:solidFill>
                  <a:srgbClr val="1C191A"/>
                </a:solidFill>
                <a:latin typeface="Calibri" pitchFamily="34" charset="0"/>
                <a:ea typeface="Calibri" pitchFamily="34" charset="-122"/>
                <a:cs typeface="Calibri" pitchFamily="34" charset="-120"/>
              </a:rPr>
              <a:t>PhD catch-up</a:t>
            </a:r>
            <a:endParaRPr lang="en-US" sz="1100" dirty="0"/>
          </a:p>
          <a:p>
            <a:pPr algn="r" indent="0" marL="0">
              <a:buNone/>
            </a:pPr>
            <a:r>
              <a:rPr lang="en-US" sz="1100" dirty="0">
                <a:solidFill>
                  <a:srgbClr val="1C191A"/>
                </a:solidFill>
                <a:latin typeface="Calibri" pitchFamily="34" charset="0"/>
                <a:ea typeface="Calibri" pitchFamily="34" charset="-122"/>
                <a:cs typeface="Calibri" pitchFamily="34" charset="-120"/>
              </a:rPr>
              <a:t>King's College London, 13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The Project in One Slide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Shape 2"/>
          <p:cNvSpPr/>
          <p:nvPr/>
        </p:nvSpPr>
        <p:spPr>
          <a:xfrm>
            <a:off x="548640"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5" name="Text 3"/>
          <p:cNvSpPr txBox="1"/>
          <p:nvPr/>
        </p:nvSpPr>
        <p:spPr>
          <a:xfrm>
            <a:off x="777240"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01   WHY</a:t>
            </a:r>
            <a:endParaRPr lang="en-US" sz="1300" dirty="0"/>
          </a:p>
        </p:txBody>
      </p:sp>
      <p:sp>
        <p:nvSpPr>
          <p:cNvPr id="6" name="Text 4"/>
          <p:cNvSpPr txBox="1"/>
          <p:nvPr/>
        </p:nvSpPr>
        <p:spPr>
          <a:xfrm>
            <a:off x="777240" y="2276856"/>
            <a:ext cx="2110664" cy="676656"/>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Oversight is sampled</a:t>
            </a:r>
            <a:endParaRPr lang="en-US" sz="1700" dirty="0"/>
          </a:p>
        </p:txBody>
      </p:sp>
      <p:sp>
        <p:nvSpPr>
          <p:cNvPr id="7" name="Text 5"/>
          <p:cNvSpPr txBox="1"/>
          <p:nvPr/>
        </p:nvSpPr>
        <p:spPr>
          <a:xfrm>
            <a:off x="777240" y="2999232"/>
            <a:ext cx="2110664" cy="2212848"/>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AI agents increasingly share limited resources: compute, energy, budgets. An overseer can only audit a few of their actions.</a:t>
            </a:r>
            <a:endParaRPr lang="en-US" sz="1350" dirty="0"/>
          </a:p>
        </p:txBody>
      </p:sp>
      <p:sp>
        <p:nvSpPr>
          <p:cNvPr id="8" name="Shape 6"/>
          <p:cNvSpPr/>
          <p:nvPr/>
        </p:nvSpPr>
        <p:spPr>
          <a:xfrm>
            <a:off x="3390824"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9" name="Text 7"/>
          <p:cNvSpPr txBox="1"/>
          <p:nvPr/>
        </p:nvSpPr>
        <p:spPr>
          <a:xfrm>
            <a:off x="3619424"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02   WHAT I BUILT</a:t>
            </a:r>
            <a:endParaRPr lang="en-US" sz="1300" dirty="0"/>
          </a:p>
        </p:txBody>
      </p:sp>
      <p:sp>
        <p:nvSpPr>
          <p:cNvPr id="10" name="Text 8"/>
          <p:cNvSpPr txBox="1"/>
          <p:nvPr/>
        </p:nvSpPr>
        <p:spPr>
          <a:xfrm>
            <a:off x="3619424" y="2276856"/>
            <a:ext cx="2110664" cy="676656"/>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An audited shared resource</a:t>
            </a:r>
            <a:endParaRPr lang="en-US" sz="1700" dirty="0"/>
          </a:p>
        </p:txBody>
      </p:sp>
      <p:sp>
        <p:nvSpPr>
          <p:cNvPr id="11" name="Text 9"/>
          <p:cNvSpPr txBox="1"/>
          <p:nvPr/>
        </p:nvSpPr>
        <p:spPr>
          <a:xfrm>
            <a:off x="3619424" y="2999232"/>
            <a:ext cx="2110664" cy="2212848"/>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Six agents use one renewable resource. A reviewer sets each agent's allowance; random audits check a few agents each round.</a:t>
            </a:r>
            <a:endParaRPr lang="en-US" sz="1350" dirty="0"/>
          </a:p>
        </p:txBody>
      </p:sp>
      <p:sp>
        <p:nvSpPr>
          <p:cNvPr id="12" name="Shape 10"/>
          <p:cNvSpPr/>
          <p:nvPr/>
        </p:nvSpPr>
        <p:spPr>
          <a:xfrm>
            <a:off x="6233008"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13" name="Text 11"/>
          <p:cNvSpPr txBox="1"/>
          <p:nvPr/>
        </p:nvSpPr>
        <p:spPr>
          <a:xfrm>
            <a:off x="6461608"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03   WHAT I TESTED</a:t>
            </a:r>
            <a:endParaRPr lang="en-US" sz="1300" dirty="0"/>
          </a:p>
        </p:txBody>
      </p:sp>
      <p:sp>
        <p:nvSpPr>
          <p:cNvPr id="14" name="Text 12"/>
          <p:cNvSpPr txBox="1"/>
          <p:nvPr/>
        </p:nvSpPr>
        <p:spPr>
          <a:xfrm>
            <a:off x="6461608" y="2276856"/>
            <a:ext cx="2110664" cy="676656"/>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Consequences and fine size</a:t>
            </a:r>
            <a:endParaRPr lang="en-US" sz="1700" dirty="0"/>
          </a:p>
        </p:txBody>
      </p:sp>
      <p:sp>
        <p:nvSpPr>
          <p:cNvPr id="15" name="Text 13"/>
          <p:cNvSpPr txBox="1"/>
          <p:nvPr/>
        </p:nvSpPr>
        <p:spPr>
          <a:xfrm>
            <a:off x="6461608" y="2999232"/>
            <a:ext cx="2110664" cy="2212848"/>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What a caught agent should face (a fine, a memory of the offence, or both), and whether the stopping fine can be predicted in advance.</a:t>
            </a:r>
            <a:endParaRPr lang="en-US" sz="1350" dirty="0"/>
          </a:p>
        </p:txBody>
      </p:sp>
      <p:sp>
        <p:nvSpPr>
          <p:cNvPr id="16" name="Shape 14"/>
          <p:cNvSpPr/>
          <p:nvPr/>
        </p:nvSpPr>
        <p:spPr>
          <a:xfrm>
            <a:off x="9075191" y="1682496"/>
            <a:ext cx="2567864" cy="3758184"/>
          </a:xfrm>
          <a:prstGeom prst="roundRect">
            <a:avLst>
              <a:gd name="adj" fmla="val 2849"/>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9303791" y="1883664"/>
            <a:ext cx="2110664" cy="320040"/>
          </a:xfrm>
          <a:prstGeom prst="rect">
            <a:avLst/>
          </a:prstGeom>
          <a:noFill/>
          <a:ln/>
        </p:spPr>
        <p:txBody>
          <a:bodyPr wrap="square" lIns="0" tIns="0" rIns="0" bIns="0" rtlCol="0" anchor="ctr"/>
          <a:lstStyle/>
          <a:p>
            <a:pPr indent="0" marL="0">
              <a:buNone/>
            </a:pPr>
            <a:r>
              <a:rPr lang="en-US" sz="1300" spc="100" kern="0" dirty="0">
                <a:solidFill>
                  <a:srgbClr val="8F8F8F"/>
                </a:solidFill>
                <a:latin typeface="Calibri Light" pitchFamily="34" charset="0"/>
                <a:ea typeface="Calibri Light" pitchFamily="34" charset="-122"/>
                <a:cs typeface="Calibri Light" pitchFamily="34" charset="-120"/>
              </a:rPr>
              <a:t>04   WHAT I FOUND</a:t>
            </a:r>
            <a:endParaRPr lang="en-US" sz="1300" dirty="0"/>
          </a:p>
        </p:txBody>
      </p:sp>
      <p:sp>
        <p:nvSpPr>
          <p:cNvPr id="18" name="Text 16"/>
          <p:cNvSpPr txBox="1"/>
          <p:nvPr/>
        </p:nvSpPr>
        <p:spPr>
          <a:xfrm>
            <a:off x="9303791" y="2276856"/>
            <a:ext cx="2110664" cy="969264"/>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Audits work through consequences</a:t>
            </a:r>
            <a:endParaRPr lang="en-US" sz="1700" dirty="0"/>
          </a:p>
        </p:txBody>
      </p:sp>
      <p:sp>
        <p:nvSpPr>
          <p:cNvPr id="19" name="Text 17"/>
          <p:cNvSpPr txBox="1"/>
          <p:nvPr/>
        </p:nvSpPr>
        <p:spPr>
          <a:xfrm>
            <a:off x="9303791" y="3291840"/>
            <a:ext cx="2110664" cy="1920240"/>
          </a:xfrm>
          <a:prstGeom prst="rect">
            <a:avLst/>
          </a:prstGeom>
          <a:noFill/>
          <a:ln/>
        </p:spPr>
        <p:txBody>
          <a:bodyPr wrap="square" lIns="0" tIns="0" rIns="0" bIns="0" rtlCol="0" anchor="t"/>
          <a:lstStyle/>
          <a:p>
            <a:pPr indent="0" marL="0">
              <a:buNone/>
            </a:pPr>
            <a:r>
              <a:rPr lang="en-US" sz="1350" dirty="0">
                <a:solidFill>
                  <a:srgbClr val="1C191A"/>
                </a:solidFill>
                <a:latin typeface="Calibri" pitchFamily="34" charset="0"/>
                <a:ea typeface="Calibri" pitchFamily="34" charset="-122"/>
                <a:cs typeface="Calibri" pitchFamily="34" charset="-120"/>
              </a:rPr>
              <a:t>The stopping fine is predictable from an agent's gain from over-taking, for programmed agents and for language models.</a:t>
            </a:r>
            <a:endParaRPr lang="en-US" sz="1350" dirty="0"/>
          </a:p>
        </p:txBody>
      </p:sp>
      <p:sp>
        <p:nvSpPr>
          <p:cNvPr id="20" name="Text 18"/>
          <p:cNvSpPr txBox="1"/>
          <p:nvPr/>
        </p:nvSpPr>
        <p:spPr>
          <a:xfrm>
            <a:off x="548640" y="5852160"/>
            <a:ext cx="11094415" cy="411480"/>
          </a:xfrm>
          <a:prstGeom prst="rect">
            <a:avLst/>
          </a:prstGeom>
          <a:noFill/>
          <a:ln/>
        </p:spPr>
        <p:txBody>
          <a:bodyPr wrap="square" lIns="0" tIns="0" rIns="0" bIns="0" rtlCol="0" anchor="ctr"/>
          <a:lstStyle/>
          <a:p>
            <a:pPr algn="ctr" indent="0" marL="0">
              <a:buNone/>
            </a:pPr>
            <a:r>
              <a:rPr lang="en-US" sz="1500" i="1" dirty="0">
                <a:solidFill>
                  <a:srgbClr val="55524E"/>
                </a:solidFill>
                <a:latin typeface="Calibri" pitchFamily="34" charset="0"/>
                <a:ea typeface="Calibri" pitchFamily="34" charset="-122"/>
                <a:cs typeface="Calibri" pitchFamily="34" charset="-120"/>
              </a:rPr>
              <a:t>Next: the setting, the method, five findings, and what is still running</a:t>
            </a:r>
            <a:endParaRPr lang="en-US" sz="15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The Problem</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Allowances</a:t>
            </a:r>
            <a:endParaRPr lang="en-US" sz="1700" dirty="0"/>
          </a:p>
        </p:txBody>
      </p:sp>
      <p:sp>
        <p:nvSpPr>
          <p:cNvPr id="5" name="Text 3"/>
          <p:cNvSpPr txBox="1"/>
          <p:nvPr/>
        </p:nvSpPr>
        <p:spPr>
          <a:xfrm>
            <a:off x="548640" y="1929384"/>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Each round, an agent may take its allowance. Taking more, over-taking, helps that agent and costs everyone else.</a:t>
            </a:r>
            <a:endParaRPr lang="en-US" sz="1400" dirty="0"/>
          </a:p>
        </p:txBody>
      </p:sp>
      <p:sp>
        <p:nvSpPr>
          <p:cNvPr id="6" name="Text 4"/>
          <p:cNvSpPr txBox="1"/>
          <p:nvPr/>
        </p:nvSpPr>
        <p:spPr>
          <a:xfrm>
            <a:off x="548640" y="2839212"/>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Sampled oversight</a:t>
            </a:r>
            <a:endParaRPr lang="en-US" sz="1700" dirty="0"/>
          </a:p>
        </p:txBody>
      </p:sp>
      <p:sp>
        <p:nvSpPr>
          <p:cNvPr id="7" name="Text 5"/>
          <p:cNvSpPr txBox="1"/>
          <p:nvPr/>
        </p:nvSpPr>
        <p:spPr>
          <a:xfrm>
            <a:off x="548640" y="3223260"/>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Auditing every action is too costly, so random audits check a few agents, as tax and fisheries inspectors do.</a:t>
            </a:r>
            <a:endParaRPr lang="en-US" sz="1400" dirty="0"/>
          </a:p>
        </p:txBody>
      </p:sp>
      <p:sp>
        <p:nvSpPr>
          <p:cNvPr id="8" name="Text 6"/>
          <p:cNvSpPr txBox="1"/>
          <p:nvPr/>
        </p:nvSpPr>
        <p:spPr>
          <a:xfrm>
            <a:off x="548640" y="4133088"/>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The question</a:t>
            </a:r>
            <a:endParaRPr lang="en-US" sz="1700" dirty="0"/>
          </a:p>
        </p:txBody>
      </p:sp>
      <p:sp>
        <p:nvSpPr>
          <p:cNvPr id="9" name="Text 7"/>
          <p:cNvSpPr txBox="1"/>
          <p:nvPr/>
        </p:nvSpPr>
        <p:spPr>
          <a:xfrm>
            <a:off x="548640" y="4517136"/>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When do random audits stop over-taking, and how large must the fine be?</a:t>
            </a:r>
            <a:endParaRPr lang="en-US" sz="1400" dirty="0"/>
          </a:p>
        </p:txBody>
      </p:sp>
      <p:pic>
        <p:nvPicPr>
          <p:cNvPr id="10" name="Image 0" descr="fig_networks.png">    </p:cNvPr>
          <p:cNvPicPr>
            <a:picLocks noChangeAspect="1"/>
          </p:cNvPicPr>
          <p:nvPr/>
        </p:nvPicPr>
        <p:blipFill>
          <a:blip r:embed="rId1"/>
          <a:stretch>
            <a:fillRect/>
          </a:stretch>
        </p:blipFill>
        <p:spPr>
          <a:xfrm>
            <a:off x="5532120" y="2314163"/>
            <a:ext cx="6110935" cy="2311970"/>
          </a:xfrm>
          <a:prstGeom prst="rect">
            <a:avLst/>
          </a:prstGeom>
        </p:spPr>
      </p:pic>
      <p:sp>
        <p:nvSpPr>
          <p:cNvPr id="11" name="Text 8"/>
          <p:cNvSpPr txBox="1"/>
          <p:nvPr/>
        </p:nvSpPr>
        <p:spPr>
          <a:xfrm>
            <a:off x="5532120" y="4735861"/>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Three settings where harm spreads differently: one shared stock (Fishery), damage to neighbours on a ring (Forest), and pollution that is harmful only in combination (River). A result that holds in all three does not depend on one structure.</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097280"/>
            <a:ext cx="4754880" cy="1828800"/>
          </a:xfrm>
          <a:prstGeom prst="rect">
            <a:avLst/>
          </a:prstGeom>
          <a:noFill/>
          <a:ln/>
        </p:spPr>
        <p:txBody>
          <a:bodyPr wrap="square" lIns="0" tIns="0" rIns="0" bIns="0" rtlCol="0" anchor="b"/>
          <a:lstStyle/>
          <a:p>
            <a:pPr algn="l" indent="0" marL="0">
              <a:lnSpc>
                <a:spcPct val="95000"/>
              </a:lnSpc>
              <a:buNone/>
            </a:pPr>
            <a:r>
              <a:rPr lang="en-US" sz="3600" b="1" dirty="0">
                <a:solidFill>
                  <a:srgbClr val="062746"/>
                </a:solidFill>
                <a:latin typeface="Georgia" pitchFamily="34" charset="0"/>
                <a:ea typeface="Georgia" pitchFamily="34" charset="-122"/>
                <a:cs typeface="Georgia" pitchFamily="34" charset="-120"/>
              </a:rPr>
              <a:t>Three Questions</a:t>
            </a:r>
            <a:endParaRPr lang="en-US" sz="3600" dirty="0"/>
          </a:p>
        </p:txBody>
      </p:sp>
      <p:sp>
        <p:nvSpPr>
          <p:cNvPr id="3" name="Shape 1"/>
          <p:cNvSpPr/>
          <p:nvPr/>
        </p:nvSpPr>
        <p:spPr>
          <a:xfrm>
            <a:off x="548640" y="3054096"/>
            <a:ext cx="3291840" cy="91440"/>
          </a:xfrm>
          <a:prstGeom prst="rect">
            <a:avLst/>
          </a:prstGeom>
          <a:solidFill>
            <a:srgbClr val="131B28"/>
          </a:solidFill>
          <a:ln w="12700">
            <a:solidFill>
              <a:srgbClr val="131B28"/>
            </a:solidFill>
            <a:prstDash val="solid"/>
          </a:ln>
        </p:spPr>
      </p:sp>
      <p:sp>
        <p:nvSpPr>
          <p:cNvPr id="4" name="Text 2"/>
          <p:cNvSpPr txBox="1"/>
          <p:nvPr/>
        </p:nvSpPr>
        <p:spPr>
          <a:xfrm>
            <a:off x="5989320" y="91440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6812280" y="896112"/>
            <a:ext cx="4846320" cy="402336"/>
          </a:xfrm>
          <a:prstGeom prst="rect">
            <a:avLst/>
          </a:prstGeom>
          <a:noFill/>
          <a:ln/>
        </p:spPr>
        <p:txBody>
          <a:bodyPr wrap="square" lIns="0" tIns="0" rIns="0" bIns="0" rtlCol="0" anchor="t"/>
          <a:lstStyle/>
          <a:p>
            <a:pPr indent="0" marL="0">
              <a:buNone/>
            </a:pPr>
            <a:r>
              <a:rPr lang="en-US" sz="1900" b="1" dirty="0">
                <a:solidFill>
                  <a:srgbClr val="1C191A"/>
                </a:solidFill>
                <a:latin typeface="Georgia" pitchFamily="34" charset="0"/>
                <a:ea typeface="Georgia" pitchFamily="34" charset="-122"/>
                <a:cs typeface="Georgia" pitchFamily="34" charset="-120"/>
              </a:rPr>
              <a:t>What must follow a catch?</a:t>
            </a:r>
            <a:endParaRPr lang="en-US" sz="1900" dirty="0"/>
          </a:p>
        </p:txBody>
      </p:sp>
      <p:sp>
        <p:nvSpPr>
          <p:cNvPr id="6" name="Text 4"/>
          <p:cNvSpPr txBox="1"/>
          <p:nvPr/>
        </p:nvSpPr>
        <p:spPr>
          <a:xfrm>
            <a:off x="6812280" y="1316736"/>
            <a:ext cx="4846320" cy="8686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A fine, a memory of the offence, or nothing: which one reduces harm?</a:t>
            </a:r>
            <a:endParaRPr lang="en-US" sz="1400" dirty="0"/>
          </a:p>
        </p:txBody>
      </p:sp>
      <p:sp>
        <p:nvSpPr>
          <p:cNvPr id="7" name="Text 5"/>
          <p:cNvSpPr txBox="1"/>
          <p:nvPr/>
        </p:nvSpPr>
        <p:spPr>
          <a:xfrm>
            <a:off x="5989320" y="224028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8" name="Text 6"/>
          <p:cNvSpPr txBox="1"/>
          <p:nvPr/>
        </p:nvSpPr>
        <p:spPr>
          <a:xfrm>
            <a:off x="6812280" y="2221992"/>
            <a:ext cx="4846320" cy="731520"/>
          </a:xfrm>
          <a:prstGeom prst="rect">
            <a:avLst/>
          </a:prstGeom>
          <a:noFill/>
          <a:ln/>
        </p:spPr>
        <p:txBody>
          <a:bodyPr wrap="square" lIns="0" tIns="0" rIns="0" bIns="0" rtlCol="0" anchor="t"/>
          <a:lstStyle/>
          <a:p>
            <a:pPr indent="0" marL="0">
              <a:buNone/>
            </a:pPr>
            <a:r>
              <a:rPr lang="en-US" sz="1900" b="1" dirty="0">
                <a:solidFill>
                  <a:srgbClr val="1C191A"/>
                </a:solidFill>
                <a:latin typeface="Georgia" pitchFamily="34" charset="0"/>
                <a:ea typeface="Georgia" pitchFamily="34" charset="-122"/>
                <a:cs typeface="Georgia" pitchFamily="34" charset="-120"/>
              </a:rPr>
              <a:t>Can the stopping fine be predicted?</a:t>
            </a:r>
            <a:endParaRPr lang="en-US" sz="1900" dirty="0"/>
          </a:p>
        </p:txBody>
      </p:sp>
      <p:sp>
        <p:nvSpPr>
          <p:cNvPr id="9" name="Text 7"/>
          <p:cNvSpPr txBox="1"/>
          <p:nvPr/>
        </p:nvSpPr>
        <p:spPr>
          <a:xfrm>
            <a:off x="6812280" y="2971800"/>
            <a:ext cx="4846320" cy="8686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Can we compute it before trying it?</a:t>
            </a:r>
            <a:endParaRPr lang="en-US" sz="1400" dirty="0"/>
          </a:p>
        </p:txBody>
      </p:sp>
      <p:sp>
        <p:nvSpPr>
          <p:cNvPr id="10" name="Text 8"/>
          <p:cNvSpPr txBox="1"/>
          <p:nvPr/>
        </p:nvSpPr>
        <p:spPr>
          <a:xfrm>
            <a:off x="5989320" y="356616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11" name="Text 9"/>
          <p:cNvSpPr txBox="1"/>
          <p:nvPr/>
        </p:nvSpPr>
        <p:spPr>
          <a:xfrm>
            <a:off x="6812280" y="3547872"/>
            <a:ext cx="4846320" cy="731520"/>
          </a:xfrm>
          <a:prstGeom prst="rect">
            <a:avLst/>
          </a:prstGeom>
          <a:noFill/>
          <a:ln/>
        </p:spPr>
        <p:txBody>
          <a:bodyPr wrap="square" lIns="0" tIns="0" rIns="0" bIns="0" rtlCol="0" anchor="t"/>
          <a:lstStyle/>
          <a:p>
            <a:pPr indent="0" marL="0">
              <a:buNone/>
            </a:pPr>
            <a:r>
              <a:rPr lang="en-US" sz="1900" b="1" dirty="0">
                <a:solidFill>
                  <a:srgbClr val="1C191A"/>
                </a:solidFill>
                <a:latin typeface="Georgia" pitchFamily="34" charset="0"/>
                <a:ea typeface="Georgia" pitchFamily="34" charset="-122"/>
                <a:cs typeface="Georgia" pitchFamily="34" charset="-120"/>
              </a:rPr>
              <a:t>Do language models follow the same rule?</a:t>
            </a:r>
            <a:endParaRPr lang="en-US" sz="1900" dirty="0"/>
          </a:p>
        </p:txBody>
      </p:sp>
      <p:sp>
        <p:nvSpPr>
          <p:cNvPr id="12" name="Text 10"/>
          <p:cNvSpPr txBox="1"/>
          <p:nvPr/>
        </p:nvSpPr>
        <p:spPr>
          <a:xfrm>
            <a:off x="6812280" y="4297680"/>
            <a:ext cx="4846320" cy="8686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Do they stop where the prediction says?</a:t>
            </a:r>
            <a:endParaRPr lang="en-US" sz="140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algn="ctr" indent="0" marL="0">
              <a:lnSpc>
                <a:spcPct val="95000"/>
              </a:lnSpc>
              <a:buNone/>
            </a:pPr>
            <a:r>
              <a:rPr lang="en-US" sz="3200" b="1" dirty="0">
                <a:solidFill>
                  <a:srgbClr val="062746"/>
                </a:solidFill>
                <a:latin typeface="Georgia" pitchFamily="34" charset="0"/>
                <a:ea typeface="Georgia" pitchFamily="34" charset="-122"/>
                <a:cs typeface="Georgia" pitchFamily="34" charset="-120"/>
              </a:rPr>
              <a:t>How One Round Works</a:t>
            </a:r>
            <a:endParaRPr lang="en-US" sz="3200" dirty="0"/>
          </a:p>
        </p:txBody>
      </p:sp>
      <p:pic>
        <p:nvPicPr>
          <p:cNvPr id="3" name="Image 0" descr="fig1_game_step.png">    </p:cNvPr>
          <p:cNvPicPr>
            <a:picLocks noChangeAspect="1"/>
          </p:cNvPicPr>
          <p:nvPr/>
        </p:nvPicPr>
        <p:blipFill>
          <a:blip r:embed="rId1"/>
          <a:stretch>
            <a:fillRect/>
          </a:stretch>
        </p:blipFill>
        <p:spPr>
          <a:xfrm>
            <a:off x="1659818" y="1234440"/>
            <a:ext cx="8872059"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Agents request a share; the reviewer scales all requests by one factor; agents take their allowance or more; the resource regrows; random audits check a few agents.</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algn="ctr" indent="0" marL="0">
              <a:buNone/>
            </a:pPr>
            <a:r>
              <a:rPr lang="en-US" sz="1700" b="1" dirty="0">
                <a:solidFill>
                  <a:srgbClr val="062746"/>
                </a:solidFill>
                <a:latin typeface="Georgia" pitchFamily="34" charset="0"/>
                <a:ea typeface="Georgia" pitchFamily="34" charset="-122"/>
                <a:cs typeface="Georgia" pitchFamily="34" charset="-120"/>
              </a:rPr>
              <a:t>Harm = the resource below half capacity, the maximum-sustainable-yield level</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5852160"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How I Test It</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49961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01</a:t>
            </a:r>
            <a:endParaRPr lang="en-US" sz="2200" dirty="0"/>
          </a:p>
        </p:txBody>
      </p:sp>
      <p:sp>
        <p:nvSpPr>
          <p:cNvPr id="5" name="Text 3"/>
          <p:cNvSpPr txBox="1"/>
          <p:nvPr/>
        </p:nvSpPr>
        <p:spPr>
          <a:xfrm>
            <a:off x="1280160" y="151790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Measure the gain</a:t>
            </a:r>
            <a:endParaRPr lang="en-US" sz="1600" dirty="0"/>
          </a:p>
        </p:txBody>
      </p:sp>
      <p:sp>
        <p:nvSpPr>
          <p:cNvPr id="6" name="Text 4"/>
          <p:cNvSpPr txBox="1"/>
          <p:nvPr/>
        </p:nvSpPr>
        <p:spPr>
          <a:xfrm>
            <a:off x="1280160" y="186537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Play games without fines and record what one round of over-taking gains an agent.</a:t>
            </a:r>
            <a:endParaRPr lang="en-US" sz="1300" dirty="0"/>
          </a:p>
        </p:txBody>
      </p:sp>
      <p:sp>
        <p:nvSpPr>
          <p:cNvPr id="7" name="Text 5"/>
          <p:cNvSpPr txBox="1"/>
          <p:nvPr/>
        </p:nvSpPr>
        <p:spPr>
          <a:xfrm>
            <a:off x="548640" y="259689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02</a:t>
            </a:r>
            <a:endParaRPr lang="en-US" sz="2200" dirty="0"/>
          </a:p>
        </p:txBody>
      </p:sp>
      <p:sp>
        <p:nvSpPr>
          <p:cNvPr id="8" name="Text 6"/>
          <p:cNvSpPr txBox="1"/>
          <p:nvPr/>
        </p:nvSpPr>
        <p:spPr>
          <a:xfrm>
            <a:off x="1280160" y="261518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Predict the stopping fine</a:t>
            </a:r>
            <a:endParaRPr lang="en-US" sz="1600" dirty="0"/>
          </a:p>
        </p:txBody>
      </p:sp>
      <p:sp>
        <p:nvSpPr>
          <p:cNvPr id="9" name="Text 7"/>
          <p:cNvSpPr txBox="1"/>
          <p:nvPr/>
        </p:nvSpPr>
        <p:spPr>
          <a:xfrm>
            <a:off x="1280160" y="296265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Over-taking should stop once the expected fine exceeds that gain.</a:t>
            </a:r>
            <a:endParaRPr lang="en-US" sz="1300" dirty="0"/>
          </a:p>
        </p:txBody>
      </p:sp>
      <p:sp>
        <p:nvSpPr>
          <p:cNvPr id="10" name="Text 8"/>
          <p:cNvSpPr txBox="1"/>
          <p:nvPr/>
        </p:nvSpPr>
        <p:spPr>
          <a:xfrm>
            <a:off x="548640" y="369417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03</a:t>
            </a:r>
            <a:endParaRPr lang="en-US" sz="2200" dirty="0"/>
          </a:p>
        </p:txBody>
      </p:sp>
      <p:sp>
        <p:nvSpPr>
          <p:cNvPr id="11" name="Text 9"/>
          <p:cNvSpPr txBox="1"/>
          <p:nvPr/>
        </p:nvSpPr>
        <p:spPr>
          <a:xfrm>
            <a:off x="1280160" y="371246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Freeze the prediction</a:t>
            </a:r>
            <a:endParaRPr lang="en-US" sz="1600" dirty="0"/>
          </a:p>
        </p:txBody>
      </p:sp>
      <p:sp>
        <p:nvSpPr>
          <p:cNvPr id="12" name="Text 10"/>
          <p:cNvSpPr txBox="1"/>
          <p:nvPr/>
        </p:nvSpPr>
        <p:spPr>
          <a:xfrm>
            <a:off x="1280160" y="405993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Record it before any game with that fine is played.</a:t>
            </a:r>
            <a:endParaRPr lang="en-US" sz="1300" dirty="0"/>
          </a:p>
        </p:txBody>
      </p:sp>
      <p:sp>
        <p:nvSpPr>
          <p:cNvPr id="13" name="Text 11"/>
          <p:cNvSpPr txBox="1"/>
          <p:nvPr/>
        </p:nvSpPr>
        <p:spPr>
          <a:xfrm>
            <a:off x="548640" y="4791456"/>
            <a:ext cx="640080" cy="411480"/>
          </a:xfrm>
          <a:prstGeom prst="rect">
            <a:avLst/>
          </a:prstGeom>
          <a:noFill/>
          <a:ln/>
        </p:spPr>
        <p:txBody>
          <a:bodyPr wrap="square" lIns="0" tIns="0" rIns="0" bIns="0" rtlCol="0" anchor="t"/>
          <a:lstStyle/>
          <a:p>
            <a:pPr indent="0" marL="0">
              <a:buNone/>
            </a:pPr>
            <a:r>
              <a:rPr lang="en-US" sz="2200" dirty="0">
                <a:solidFill>
                  <a:srgbClr val="8F8F8F"/>
                </a:solidFill>
                <a:latin typeface="Calibri Light" pitchFamily="34" charset="0"/>
                <a:ea typeface="Calibri Light" pitchFamily="34" charset="-122"/>
                <a:cs typeface="Calibri Light" pitchFamily="34" charset="-120"/>
              </a:rPr>
              <a:t>04</a:t>
            </a:r>
            <a:endParaRPr lang="en-US" sz="2200" dirty="0"/>
          </a:p>
        </p:txBody>
      </p:sp>
      <p:sp>
        <p:nvSpPr>
          <p:cNvPr id="14" name="Text 12"/>
          <p:cNvSpPr txBox="1"/>
          <p:nvPr/>
        </p:nvSpPr>
        <p:spPr>
          <a:xfrm>
            <a:off x="1280160" y="4809744"/>
            <a:ext cx="512064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Test on new games</a:t>
            </a:r>
            <a:endParaRPr lang="en-US" sz="1600" dirty="0"/>
          </a:p>
        </p:txBody>
      </p:sp>
      <p:sp>
        <p:nvSpPr>
          <p:cNvPr id="15" name="Text 13"/>
          <p:cNvSpPr txBox="1"/>
          <p:nvPr/>
        </p:nvSpPr>
        <p:spPr>
          <a:xfrm>
            <a:off x="1280160" y="5157216"/>
            <a:ext cx="5120640" cy="685800"/>
          </a:xfrm>
          <a:prstGeom prst="rect">
            <a:avLst/>
          </a:prstGeom>
          <a:noFill/>
          <a:ln/>
        </p:spPr>
        <p:txBody>
          <a:bodyPr wrap="square" lIns="0" tIns="0" rIns="0" bIns="0" rtlCol="0" anchor="t"/>
          <a:lstStyle/>
          <a:p>
            <a:pPr indent="0" marL="0">
              <a:buNone/>
            </a:pPr>
            <a:r>
              <a:rPr lang="en-US" sz="1300" dirty="0">
                <a:solidFill>
                  <a:srgbClr val="1C191A"/>
                </a:solidFill>
                <a:latin typeface="Calibri" pitchFamily="34" charset="0"/>
                <a:ea typeface="Calibri" pitchFamily="34" charset="-122"/>
                <a:cs typeface="Calibri" pitchFamily="34" charset="-120"/>
              </a:rPr>
              <a:t>Run the predicted fine and its neighbours on unseen games, and report the outcome either way.</a:t>
            </a:r>
            <a:endParaRPr lang="en-US" sz="1300" dirty="0"/>
          </a:p>
        </p:txBody>
      </p:sp>
      <p:sp>
        <p:nvSpPr>
          <p:cNvPr id="16" name="Shape 14"/>
          <p:cNvSpPr/>
          <p:nvPr/>
        </p:nvSpPr>
        <p:spPr>
          <a:xfrm>
            <a:off x="6858000" y="1120140"/>
            <a:ext cx="4785055" cy="4617720"/>
          </a:xfrm>
          <a:prstGeom prst="roundRect">
            <a:avLst>
              <a:gd name="adj" fmla="val 1584"/>
            </a:avLst>
          </a:prstGeom>
          <a:solidFill>
            <a:srgbClr val="FFFFFF"/>
          </a:solidFill>
          <a:ln w="9525">
            <a:solidFill>
              <a:srgbClr val="E9E7E3"/>
            </a:solidFill>
            <a:prstDash val="solid"/>
          </a:ln>
          <a:effectLst>
            <a:outerShdw sx="100000" sy="100000" kx="0" ky="0" algn="bl" rotWithShape="0" blurRad="76200" dist="25400" dir="5400000">
              <a:srgbClr val="000000">
                <a:alpha val="8000"/>
              </a:srgbClr>
            </a:outerShdw>
          </a:effectLst>
        </p:spPr>
      </p:sp>
      <p:sp>
        <p:nvSpPr>
          <p:cNvPr id="17" name="Text 15"/>
          <p:cNvSpPr txBox="1"/>
          <p:nvPr/>
        </p:nvSpPr>
        <p:spPr>
          <a:xfrm>
            <a:off x="7132320" y="1348740"/>
            <a:ext cx="4236415" cy="365760"/>
          </a:xfrm>
          <a:prstGeom prst="rect">
            <a:avLst/>
          </a:prstGeom>
          <a:noFill/>
          <a:ln/>
        </p:spPr>
        <p:txBody>
          <a:bodyPr wrap="square" lIns="0" tIns="0" rIns="0" bIns="0" rtlCol="0" anchor="ctr"/>
          <a:lstStyle/>
          <a:p>
            <a:pPr indent="0" marL="0">
              <a:buNone/>
            </a:pPr>
            <a:r>
              <a:rPr lang="en-US" sz="1600" b="1" dirty="0">
                <a:solidFill>
                  <a:srgbClr val="062746"/>
                </a:solidFill>
                <a:latin typeface="Georgia" pitchFamily="34" charset="0"/>
                <a:ea typeface="Georgia" pitchFamily="34" charset="-122"/>
                <a:cs typeface="Georgia" pitchFamily="34" charset="-120"/>
              </a:rPr>
              <a:t>Key quantities</a:t>
            </a:r>
            <a:endParaRPr lang="en-US" sz="1600" dirty="0"/>
          </a:p>
        </p:txBody>
      </p:sp>
      <p:sp>
        <p:nvSpPr>
          <p:cNvPr id="18" name="Text 16"/>
          <p:cNvSpPr txBox="1"/>
          <p:nvPr/>
        </p:nvSpPr>
        <p:spPr>
          <a:xfrm>
            <a:off x="7132320" y="1897380"/>
            <a:ext cx="1417320" cy="548640"/>
          </a:xfrm>
          <a:prstGeom prst="rect">
            <a:avLst/>
          </a:prstGeom>
          <a:noFill/>
          <a:ln/>
        </p:spPr>
        <p:txBody>
          <a:bodyPr wrap="square" lIns="0" tIns="0" rIns="0" bIns="0" rtlCol="0" anchor="t"/>
          <a:lstStyle/>
          <a:p>
            <a:pPr indent="0" marL="0">
              <a:buNone/>
            </a:pPr>
            <a:r>
              <a:rPr lang="en-US" sz="1700" i="1" dirty="0">
                <a:solidFill>
                  <a:srgbClr val="1C191A"/>
                </a:solidFill>
                <a:latin typeface="Georgia" pitchFamily="34" charset="0"/>
                <a:ea typeface="Georgia" pitchFamily="34" charset="-122"/>
                <a:cs typeface="Georgia" pitchFamily="34" charset="-120"/>
              </a:rPr>
              <a:t>q</a:t>
            </a:r>
            <a:endParaRPr lang="en-US" sz="1700" dirty="0"/>
          </a:p>
        </p:txBody>
      </p:sp>
      <p:sp>
        <p:nvSpPr>
          <p:cNvPr id="19" name="Text 17"/>
          <p:cNvSpPr txBox="1"/>
          <p:nvPr/>
        </p:nvSpPr>
        <p:spPr>
          <a:xfrm>
            <a:off x="8641080" y="1915668"/>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audit probability per agent and round (1 in 6 for the language models)</a:t>
            </a:r>
            <a:endParaRPr lang="en-US" sz="1250" dirty="0"/>
          </a:p>
        </p:txBody>
      </p:sp>
      <p:sp>
        <p:nvSpPr>
          <p:cNvPr id="20" name="Text 18"/>
          <p:cNvSpPr txBox="1"/>
          <p:nvPr/>
        </p:nvSpPr>
        <p:spPr>
          <a:xfrm>
            <a:off x="7132320" y="2647188"/>
            <a:ext cx="1417320" cy="548640"/>
          </a:xfrm>
          <a:prstGeom prst="rect">
            <a:avLst/>
          </a:prstGeom>
          <a:noFill/>
          <a:ln/>
        </p:spPr>
        <p:txBody>
          <a:bodyPr wrap="square" lIns="0" tIns="0" rIns="0" bIns="0" rtlCol="0" anchor="t"/>
          <a:lstStyle/>
          <a:p>
            <a:pPr indent="0" marL="0">
              <a:buNone/>
            </a:pPr>
            <a:r>
              <a:rPr lang="en-US" sz="1700" i="1" dirty="0">
                <a:solidFill>
                  <a:srgbClr val="1C191A"/>
                </a:solidFill>
                <a:latin typeface="Georgia" pitchFamily="34" charset="0"/>
                <a:ea typeface="Georgia" pitchFamily="34" charset="-122"/>
                <a:cs typeface="Georgia" pitchFamily="34" charset="-120"/>
              </a:rPr>
              <a:t>F</a:t>
            </a:r>
            <a:endParaRPr lang="en-US" sz="1700" dirty="0"/>
          </a:p>
        </p:txBody>
      </p:sp>
      <p:sp>
        <p:nvSpPr>
          <p:cNvPr id="21" name="Text 19"/>
          <p:cNvSpPr txBox="1"/>
          <p:nvPr/>
        </p:nvSpPr>
        <p:spPr>
          <a:xfrm>
            <a:off x="8641080" y="2665476"/>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fine paid when an audit catches over-taking</a:t>
            </a:r>
            <a:endParaRPr lang="en-US" sz="1250" dirty="0"/>
          </a:p>
        </p:txBody>
      </p:sp>
      <p:sp>
        <p:nvSpPr>
          <p:cNvPr id="22" name="Text 20"/>
          <p:cNvSpPr txBox="1"/>
          <p:nvPr/>
        </p:nvSpPr>
        <p:spPr>
          <a:xfrm>
            <a:off x="7132320" y="3396996"/>
            <a:ext cx="1417320" cy="548640"/>
          </a:xfrm>
          <a:prstGeom prst="rect">
            <a:avLst/>
          </a:prstGeom>
          <a:noFill/>
          <a:ln/>
        </p:spPr>
        <p:txBody>
          <a:bodyPr wrap="square" lIns="0" tIns="0" rIns="0" bIns="0" rtlCol="0" anchor="t"/>
          <a:lstStyle/>
          <a:p>
            <a:pPr indent="0" marL="0">
              <a:buNone/>
            </a:pPr>
            <a:r>
              <a:rPr lang="en-US" sz="1700" dirty="0">
                <a:solidFill>
                  <a:srgbClr val="1C191A"/>
                </a:solidFill>
                <a:latin typeface="Georgia" pitchFamily="34" charset="0"/>
                <a:ea typeface="Georgia" pitchFamily="34" charset="-122"/>
                <a:cs typeface="Georgia" pitchFamily="34" charset="-120"/>
              </a:rPr>
              <a:t>e = q × F</a:t>
            </a:r>
            <a:endParaRPr lang="en-US" sz="1700" dirty="0"/>
          </a:p>
        </p:txBody>
      </p:sp>
      <p:sp>
        <p:nvSpPr>
          <p:cNvPr id="23" name="Text 21"/>
          <p:cNvSpPr txBox="1"/>
          <p:nvPr/>
        </p:nvSpPr>
        <p:spPr>
          <a:xfrm>
            <a:off x="8641080" y="3415284"/>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expected fine per round of over-taking</a:t>
            </a:r>
            <a:endParaRPr lang="en-US" sz="1250" dirty="0"/>
          </a:p>
        </p:txBody>
      </p:sp>
      <p:sp>
        <p:nvSpPr>
          <p:cNvPr id="24" name="Text 22"/>
          <p:cNvSpPr txBox="1"/>
          <p:nvPr/>
        </p:nvSpPr>
        <p:spPr>
          <a:xfrm>
            <a:off x="7132320" y="4146804"/>
            <a:ext cx="1417320" cy="548640"/>
          </a:xfrm>
          <a:prstGeom prst="rect">
            <a:avLst/>
          </a:prstGeom>
          <a:noFill/>
          <a:ln/>
        </p:spPr>
        <p:txBody>
          <a:bodyPr wrap="square" lIns="0" tIns="0" rIns="0" bIns="0" rtlCol="0" anchor="t"/>
          <a:lstStyle/>
          <a:p>
            <a:pPr indent="0" marL="0">
              <a:buNone/>
            </a:pPr>
            <a:r>
              <a:rPr lang="en-US" sz="1700" i="1" dirty="0">
                <a:solidFill>
                  <a:srgbClr val="1C191A"/>
                </a:solidFill>
                <a:latin typeface="Georgia" pitchFamily="34" charset="0"/>
                <a:ea typeface="Georgia" pitchFamily="34" charset="-122"/>
                <a:cs typeface="Georgia" pitchFamily="34" charset="-120"/>
              </a:rPr>
              <a:t>g</a:t>
            </a:r>
            <a:endParaRPr lang="en-US" sz="1700" dirty="0"/>
          </a:p>
        </p:txBody>
      </p:sp>
      <p:sp>
        <p:nvSpPr>
          <p:cNvPr id="25" name="Text 23"/>
          <p:cNvSpPr txBox="1"/>
          <p:nvPr/>
        </p:nvSpPr>
        <p:spPr>
          <a:xfrm>
            <a:off x="8641080" y="4165092"/>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gain from one round of over-taking</a:t>
            </a:r>
            <a:endParaRPr lang="en-US" sz="1250" dirty="0"/>
          </a:p>
        </p:txBody>
      </p:sp>
      <p:sp>
        <p:nvSpPr>
          <p:cNvPr id="26" name="Text 24"/>
          <p:cNvSpPr txBox="1"/>
          <p:nvPr/>
        </p:nvSpPr>
        <p:spPr>
          <a:xfrm>
            <a:off x="7132320" y="4896612"/>
            <a:ext cx="1417320" cy="548640"/>
          </a:xfrm>
          <a:prstGeom prst="rect">
            <a:avLst/>
          </a:prstGeom>
          <a:noFill/>
          <a:ln/>
        </p:spPr>
        <p:txBody>
          <a:bodyPr wrap="square" lIns="0" tIns="0" rIns="0" bIns="0" rtlCol="0" anchor="t"/>
          <a:lstStyle/>
          <a:p>
            <a:pPr indent="0" marL="0">
              <a:buNone/>
            </a:pPr>
            <a:r>
              <a:rPr lang="en-US" sz="1700" b="1" dirty="0">
                <a:solidFill>
                  <a:srgbClr val="062746"/>
                </a:solidFill>
                <a:latin typeface="Georgia" pitchFamily="34" charset="0"/>
                <a:ea typeface="Georgia" pitchFamily="34" charset="-122"/>
                <a:cs typeface="Georgia" pitchFamily="34" charset="-120"/>
              </a:rPr>
              <a:t>e &gt; g</a:t>
            </a:r>
            <a:endParaRPr lang="en-US" sz="1700" dirty="0"/>
          </a:p>
        </p:txBody>
      </p:sp>
      <p:sp>
        <p:nvSpPr>
          <p:cNvPr id="27" name="Text 25"/>
          <p:cNvSpPr txBox="1"/>
          <p:nvPr/>
        </p:nvSpPr>
        <p:spPr>
          <a:xfrm>
            <a:off x="8641080" y="4914900"/>
            <a:ext cx="2727655" cy="658368"/>
          </a:xfrm>
          <a:prstGeom prst="rect">
            <a:avLst/>
          </a:prstGeom>
          <a:noFill/>
          <a:ln/>
        </p:spPr>
        <p:txBody>
          <a:bodyPr wrap="square" lIns="0" tIns="0" rIns="0" bIns="0" rtlCol="0" anchor="t"/>
          <a:lstStyle/>
          <a:p>
            <a:pPr indent="0" marL="0">
              <a:buNone/>
            </a:pPr>
            <a:r>
              <a:rPr lang="en-US" sz="1250" dirty="0">
                <a:solidFill>
                  <a:srgbClr val="1C191A"/>
                </a:solidFill>
                <a:latin typeface="Calibri" pitchFamily="34" charset="0"/>
                <a:ea typeface="Calibri" pitchFamily="34" charset="-122"/>
                <a:cs typeface="Calibri" pitchFamily="34" charset="-120"/>
              </a:rPr>
              <a:t>prediction: over-taking stops (Becker 1968)</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Finding 1: A Catch Needs a Consequence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Setup</a:t>
            </a:r>
            <a:endParaRPr lang="en-US" sz="1700" dirty="0"/>
          </a:p>
        </p:txBody>
      </p:sp>
      <p:sp>
        <p:nvSpPr>
          <p:cNvPr id="5" name="Text 3"/>
          <p:cNvSpPr txBox="1"/>
          <p:nvPr/>
        </p:nvSpPr>
        <p:spPr>
          <a:xfrm>
            <a:off x="548640" y="1929384"/>
            <a:ext cx="4572000" cy="297180"/>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Some agents under-report what they will take.</a:t>
            </a:r>
            <a:endParaRPr lang="en-US" sz="1400" dirty="0"/>
          </a:p>
        </p:txBody>
      </p:sp>
      <p:sp>
        <p:nvSpPr>
          <p:cNvPr id="6" name="Text 4"/>
          <p:cNvSpPr txBox="1"/>
          <p:nvPr/>
        </p:nvSpPr>
        <p:spPr>
          <a:xfrm>
            <a:off x="548640" y="239115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Audits without memory</a:t>
            </a:r>
            <a:endParaRPr lang="en-US" sz="1700" dirty="0"/>
          </a:p>
        </p:txBody>
      </p:sp>
      <p:sp>
        <p:nvSpPr>
          <p:cNvPr id="7" name="Text 5"/>
          <p:cNvSpPr txBox="1"/>
          <p:nvPr/>
        </p:nvSpPr>
        <p:spPr>
          <a:xfrm>
            <a:off x="548640" y="2775204"/>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Correcting only the caught round removed 10–46% of the harm.</a:t>
            </a:r>
            <a:endParaRPr lang="en-US" sz="1400" dirty="0"/>
          </a:p>
        </p:txBody>
      </p:sp>
      <p:sp>
        <p:nvSpPr>
          <p:cNvPr id="8" name="Text 6"/>
          <p:cNvSpPr txBox="1"/>
          <p:nvPr/>
        </p:nvSpPr>
        <p:spPr>
          <a:xfrm>
            <a:off x="548640" y="3461004"/>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Audits with memory</a:t>
            </a:r>
            <a:endParaRPr lang="en-US" sz="1700" dirty="0"/>
          </a:p>
        </p:txBody>
      </p:sp>
      <p:sp>
        <p:nvSpPr>
          <p:cNvPr id="9" name="Text 7"/>
          <p:cNvSpPr txBox="1"/>
          <p:nvPr/>
        </p:nvSpPr>
        <p:spPr>
          <a:xfrm>
            <a:off x="548640" y="3845052"/>
            <a:ext cx="4572000" cy="745236"/>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Remembering each caught lie reduced harm in 12 of 12 settings. In Fishery, rounds below half capacity fell from 43–99% to under 3%.</a:t>
            </a:r>
            <a:endParaRPr lang="en-US" sz="1400" dirty="0"/>
          </a:p>
        </p:txBody>
      </p:sp>
      <p:pic>
        <p:nvPicPr>
          <p:cNvPr id="10" name="Image 0" descr="fig3_audits_memory.png">    </p:cNvPr>
          <p:cNvPicPr>
            <a:picLocks noChangeAspect="1"/>
          </p:cNvPicPr>
          <p:nvPr/>
        </p:nvPicPr>
        <p:blipFill>
          <a:blip r:embed="rId1"/>
          <a:stretch>
            <a:fillRect/>
          </a:stretch>
        </p:blipFill>
        <p:spPr>
          <a:xfrm>
            <a:off x="5532120" y="2086674"/>
            <a:ext cx="6110935" cy="2766948"/>
          </a:xfrm>
          <a:prstGeom prst="rect">
            <a:avLst/>
          </a:prstGeom>
        </p:spPr>
      </p:pic>
      <p:sp>
        <p:nvSpPr>
          <p:cNvPr id="11" name="Text 8"/>
          <p:cNvSpPr txBox="1"/>
          <p:nvPr/>
        </p:nvSpPr>
        <p:spPr>
          <a:xfrm>
            <a:off x="5532120" y="4963350"/>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Rounds below half capacity with under-reporting agents. Dark: no audits. Light: audits without memory. Green: audits with memory. 2g/4g = 2 or 4 misbehaving agents; 1.0/0.85 = regrowth rate.</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r" indent="0" marL="0">
              <a:lnSpc>
                <a:spcPct val="95000"/>
              </a:lnSpc>
              <a:buNone/>
            </a:pPr>
            <a:r>
              <a:rPr lang="en-US" sz="3400" b="1" dirty="0">
                <a:solidFill>
                  <a:srgbClr val="062746"/>
                </a:solidFill>
                <a:latin typeface="Georgia" pitchFamily="34" charset="0"/>
                <a:ea typeface="Georgia" pitchFamily="34" charset="-122"/>
                <a:cs typeface="Georgia" pitchFamily="34" charset="-120"/>
              </a:rPr>
              <a:t>Finding 2: A Predictable Threshold</a:t>
            </a:r>
            <a:endParaRPr lang="en-US" sz="3400" dirty="0"/>
          </a:p>
        </p:txBody>
      </p:sp>
      <p:sp>
        <p:nvSpPr>
          <p:cNvPr id="3" name="Shape 1"/>
          <p:cNvSpPr/>
          <p:nvPr/>
        </p:nvSpPr>
        <p:spPr>
          <a:xfrm>
            <a:off x="8351215"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7071055"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Prediction</a:t>
            </a:r>
            <a:endParaRPr lang="en-US" sz="1700" dirty="0"/>
          </a:p>
        </p:txBody>
      </p:sp>
      <p:sp>
        <p:nvSpPr>
          <p:cNvPr id="5" name="Text 3"/>
          <p:cNvSpPr txBox="1"/>
          <p:nvPr/>
        </p:nvSpPr>
        <p:spPr>
          <a:xfrm>
            <a:off x="7071055" y="1929384"/>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From games without audits, we predicted the expected fine at which programmed cheaters would stop.</a:t>
            </a:r>
            <a:endParaRPr lang="en-US" sz="1400" dirty="0"/>
          </a:p>
        </p:txBody>
      </p:sp>
      <p:sp>
        <p:nvSpPr>
          <p:cNvPr id="6" name="Text 4"/>
          <p:cNvSpPr txBox="1"/>
          <p:nvPr/>
        </p:nvSpPr>
        <p:spPr>
          <a:xfrm>
            <a:off x="7071055" y="2615184"/>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Result</a:t>
            </a:r>
            <a:endParaRPr lang="en-US" sz="1700" dirty="0"/>
          </a:p>
        </p:txBody>
      </p:sp>
      <p:sp>
        <p:nvSpPr>
          <p:cNvPr id="7" name="Text 5"/>
          <p:cNvSpPr txBox="1"/>
          <p:nvPr/>
        </p:nvSpPr>
        <p:spPr>
          <a:xfrm>
            <a:off x="7071055" y="2999232"/>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5 of 5 new settings landed within one step of the prediction.</a:t>
            </a:r>
            <a:endParaRPr lang="en-US" sz="1400" dirty="0"/>
          </a:p>
        </p:txBody>
      </p:sp>
      <p:sp>
        <p:nvSpPr>
          <p:cNvPr id="8" name="Text 6"/>
          <p:cNvSpPr txBox="1"/>
          <p:nvPr/>
        </p:nvSpPr>
        <p:spPr>
          <a:xfrm>
            <a:off x="7071055" y="3685032"/>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Caveat</a:t>
            </a:r>
            <a:endParaRPr lang="en-US" sz="1700" dirty="0"/>
          </a:p>
        </p:txBody>
      </p:sp>
      <p:sp>
        <p:nvSpPr>
          <p:cNvPr id="9" name="Text 7"/>
          <p:cNvSpPr txBox="1"/>
          <p:nvPr/>
        </p:nvSpPr>
        <p:spPr>
          <a:xfrm>
            <a:off x="7071055" y="4069080"/>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These agents optimise by design, so this validates the method before it is used on language models.</a:t>
            </a:r>
            <a:endParaRPr lang="en-US" sz="1400" dirty="0"/>
          </a:p>
        </p:txBody>
      </p:sp>
      <p:pic>
        <p:nvPicPr>
          <p:cNvPr id="10" name="Image 0" descr="fig3_audits_threshold.png">    </p:cNvPr>
          <p:cNvPicPr>
            <a:picLocks noChangeAspect="1"/>
          </p:cNvPicPr>
          <p:nvPr/>
        </p:nvPicPr>
        <p:blipFill>
          <a:blip r:embed="rId1"/>
          <a:stretch>
            <a:fillRect/>
          </a:stretch>
        </p:blipFill>
        <p:spPr>
          <a:xfrm>
            <a:off x="548640" y="1512279"/>
            <a:ext cx="6110935" cy="4098618"/>
          </a:xfrm>
          <a:prstGeom prst="rect">
            <a:avLst/>
          </a:prstGeom>
        </p:spPr>
      </p:pic>
      <p:sp>
        <p:nvSpPr>
          <p:cNvPr id="11" name="Text 8"/>
          <p:cNvSpPr txBox="1"/>
          <p:nvPr/>
        </p:nvSpPr>
        <p:spPr>
          <a:xfrm>
            <a:off x="548640" y="5720625"/>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Observed against predicted stopping point. Filled: new settings, predicted first. Open: audit probability or detection varied.</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algn="ctr" indent="0" marL="0">
              <a:lnSpc>
                <a:spcPct val="95000"/>
              </a:lnSpc>
              <a:buNone/>
            </a:pPr>
            <a:r>
              <a:rPr lang="en-US" sz="3200" b="1" dirty="0">
                <a:solidFill>
                  <a:srgbClr val="062746"/>
                </a:solidFill>
                <a:latin typeface="Georgia" pitchFamily="34" charset="0"/>
                <a:ea typeface="Georgia" pitchFamily="34" charset="-122"/>
                <a:cs typeface="Georgia" pitchFamily="34" charset="-120"/>
              </a:rPr>
              <a:t>Finding 3: Two Shortcuts That Backfire</a:t>
            </a:r>
            <a:endParaRPr lang="en-US" sz="3200" dirty="0"/>
          </a:p>
        </p:txBody>
      </p:sp>
      <p:pic>
        <p:nvPicPr>
          <p:cNvPr id="3" name="Image 0" descr="fig3_audits_rules.png">    </p:cNvPr>
          <p:cNvPicPr>
            <a:picLocks noChangeAspect="1"/>
          </p:cNvPicPr>
          <p:nvPr/>
        </p:nvPicPr>
        <p:blipFill>
          <a:blip r:embed="rId1"/>
          <a:stretch>
            <a:fillRect/>
          </a:stretch>
        </p:blipFill>
        <p:spPr>
          <a:xfrm>
            <a:off x="548640" y="1356875"/>
            <a:ext cx="5364328" cy="3504170"/>
          </a:xfrm>
          <a:prstGeom prst="rect">
            <a:avLst/>
          </a:prstGeom>
        </p:spPr>
      </p:pic>
      <p:sp>
        <p:nvSpPr>
          <p:cNvPr id="4" name="Text 1"/>
          <p:cNvSpPr txBox="1"/>
          <p:nvPr/>
        </p:nvSpPr>
        <p:spPr>
          <a:xfrm>
            <a:off x="548640" y="4952485"/>
            <a:ext cx="5364328"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Cutting everyone's allowance to absorb cheaters: cheaters gained more than with no audits (142 vs 113).</a:t>
            </a:r>
            <a:endParaRPr lang="en-US" sz="1100" dirty="0"/>
          </a:p>
        </p:txBody>
      </p:sp>
      <p:pic>
        <p:nvPicPr>
          <p:cNvPr id="5" name="Image 1" descr="fig3_audits_targeting.png">    </p:cNvPr>
          <p:cNvPicPr>
            <a:picLocks noChangeAspect="1"/>
          </p:cNvPicPr>
          <p:nvPr/>
        </p:nvPicPr>
        <p:blipFill>
          <a:blip r:embed="rId2"/>
          <a:stretch>
            <a:fillRect/>
          </a:stretch>
        </p:blipFill>
        <p:spPr>
          <a:xfrm>
            <a:off x="6278728" y="1371723"/>
            <a:ext cx="5364328" cy="3474474"/>
          </a:xfrm>
          <a:prstGeom prst="rect">
            <a:avLst/>
          </a:prstGeom>
        </p:spPr>
      </p:pic>
      <p:sp>
        <p:nvSpPr>
          <p:cNvPr id="6" name="Text 2"/>
          <p:cNvSpPr txBox="1"/>
          <p:nvPr/>
        </p:nvSpPr>
        <p:spPr>
          <a:xfrm>
            <a:off x="6278728" y="4937637"/>
            <a:ext cx="5364328"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Always auditing the largest report: 25% of liars caught, against 100% with random audits.</a:t>
            </a:r>
            <a:endParaRPr lang="en-US" sz="1100" dirty="0"/>
          </a:p>
        </p:txBody>
      </p:sp>
      <p:sp>
        <p:nvSpPr>
          <p:cNvPr id="7" name="Text 3"/>
          <p:cNvSpPr txBox="1"/>
          <p:nvPr/>
        </p:nvSpPr>
        <p:spPr>
          <a:xfrm>
            <a:off x="1005840" y="5897880"/>
            <a:ext cx="10180015" cy="411480"/>
          </a:xfrm>
          <a:prstGeom prst="rect">
            <a:avLst/>
          </a:prstGeom>
          <a:noFill/>
          <a:ln/>
        </p:spPr>
        <p:txBody>
          <a:bodyPr wrap="square" lIns="0" tIns="0" rIns="0" bIns="0" rtlCol="0" anchor="ctr"/>
          <a:lstStyle/>
          <a:p>
            <a:pPr algn="ctr" indent="0" marL="0">
              <a:buNone/>
            </a:pPr>
            <a:r>
              <a:rPr lang="en-US" sz="1700" b="1" dirty="0">
                <a:solidFill>
                  <a:srgbClr val="062746"/>
                </a:solidFill>
                <a:latin typeface="Georgia" pitchFamily="34" charset="0"/>
                <a:ea typeface="Georgia" pitchFamily="34" charset="-122"/>
                <a:cs typeface="Georgia" pitchFamily="34" charset="-120"/>
              </a:rPr>
              <a:t>Shortcuts that save audits create blind spots</a:t>
            </a:r>
            <a:endParaRPr lang="en-US" sz="1700" dirty="0"/>
          </a:p>
        </p:txBody>
      </p:sp>
      <p:sp>
        <p:nvSpPr>
          <p:cNvPr id="8"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11094415" cy="822960"/>
          </a:xfrm>
          <a:prstGeom prst="rect">
            <a:avLst/>
          </a:prstGeom>
          <a:noFill/>
          <a:ln/>
        </p:spPr>
        <p:txBody>
          <a:bodyPr wrap="square" lIns="0" tIns="0" rIns="0" bIns="0" rtlCol="0" anchor="b"/>
          <a:lstStyle/>
          <a:p>
            <a:pPr algn="ctr" indent="0" marL="0">
              <a:lnSpc>
                <a:spcPct val="95000"/>
              </a:lnSpc>
              <a:buNone/>
            </a:pPr>
            <a:r>
              <a:rPr lang="en-US" sz="3200" b="1" dirty="0">
                <a:solidFill>
                  <a:srgbClr val="062746"/>
                </a:solidFill>
                <a:latin typeface="Georgia" pitchFamily="34" charset="0"/>
                <a:ea typeface="Georgia" pitchFamily="34" charset="-122"/>
                <a:cs typeface="Georgia" pitchFamily="34" charset="-120"/>
              </a:rPr>
              <a:t>Finding 4: Language Models Stop Where Predicted</a:t>
            </a:r>
            <a:endParaRPr lang="en-US" sz="3200" dirty="0"/>
          </a:p>
        </p:txBody>
      </p:sp>
      <p:pic>
        <p:nvPicPr>
          <p:cNvPr id="3" name="Image 0" descr="fig4_llm_main.png">    </p:cNvPr>
          <p:cNvPicPr>
            <a:picLocks noChangeAspect="1"/>
          </p:cNvPicPr>
          <p:nvPr/>
        </p:nvPicPr>
        <p:blipFill>
          <a:blip r:embed="rId1"/>
          <a:stretch>
            <a:fillRect/>
          </a:stretch>
        </p:blipFill>
        <p:spPr>
          <a:xfrm>
            <a:off x="1757583" y="1234440"/>
            <a:ext cx="8676530" cy="3977640"/>
          </a:xfrm>
          <a:prstGeom prst="rect">
            <a:avLst/>
          </a:prstGeom>
        </p:spPr>
      </p:pic>
      <p:sp>
        <p:nvSpPr>
          <p:cNvPr id="4" name="Text 1"/>
          <p:cNvSpPr txBox="1"/>
          <p:nvPr/>
        </p:nvSpPr>
        <p:spPr>
          <a:xfrm>
            <a:off x="1463040" y="5303520"/>
            <a:ext cx="926561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Four open language models each ran four of six fishers (520 games; audit probability 1 in 6). Left: over-taking by fine; triangles mark the predicted (open) and observed (filled) stopping fine. Right: catch left for the two rule-following fishers.</a:t>
            </a:r>
            <a:endParaRPr lang="en-US" sz="1100" dirty="0"/>
          </a:p>
        </p:txBody>
      </p:sp>
      <p:sp>
        <p:nvSpPr>
          <p:cNvPr id="5" name="Text 2"/>
          <p:cNvSpPr txBox="1"/>
          <p:nvPr/>
        </p:nvSpPr>
        <p:spPr>
          <a:xfrm>
            <a:off x="1005840" y="5897880"/>
            <a:ext cx="10180015" cy="411480"/>
          </a:xfrm>
          <a:prstGeom prst="rect">
            <a:avLst/>
          </a:prstGeom>
          <a:noFill/>
          <a:ln/>
        </p:spPr>
        <p:txBody>
          <a:bodyPr wrap="square" lIns="0" tIns="0" rIns="0" bIns="0" rtlCol="0" anchor="ctr"/>
          <a:lstStyle/>
          <a:p>
            <a:pPr algn="ctr" indent="0" marL="0">
              <a:buNone/>
            </a:pPr>
            <a:r>
              <a:rPr lang="en-US" sz="1700" b="1" dirty="0">
                <a:solidFill>
                  <a:srgbClr val="062746"/>
                </a:solidFill>
                <a:latin typeface="Georgia" pitchFamily="34" charset="0"/>
                <a:ea typeface="Georgia" pitchFamily="34" charset="-122"/>
                <a:cs typeface="Georgia" pitchFamily="34" charset="-120"/>
              </a:rPr>
              <a:t>Predicted before testing: 30 t. Observed: 30 t (Nemotron 3 Super), 24 t (gpt-oss-120b)</a:t>
            </a:r>
            <a:endParaRPr lang="en-US" sz="1700" dirty="0"/>
          </a:p>
        </p:txBody>
      </p:sp>
      <p:sp>
        <p:nvSpPr>
          <p:cNvPr id="6" name="Text 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Finding 5: One Round's Gain Matters</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What predicted the stop</a:t>
            </a:r>
            <a:endParaRPr lang="en-US" sz="1700" dirty="0"/>
          </a:p>
        </p:txBody>
      </p:sp>
      <p:sp>
        <p:nvSpPr>
          <p:cNvPr id="5" name="Text 3"/>
          <p:cNvSpPr txBox="1"/>
          <p:nvPr/>
        </p:nvSpPr>
        <p:spPr>
          <a:xfrm>
            <a:off x="548640" y="1929384"/>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The gain from one round of over-taking: 4.5–4.7 t.</a:t>
            </a:r>
            <a:endParaRPr lang="en-US" sz="1400" dirty="0"/>
          </a:p>
        </p:txBody>
      </p:sp>
      <p:sp>
        <p:nvSpPr>
          <p:cNvPr id="6" name="Text 4"/>
          <p:cNvSpPr txBox="1"/>
          <p:nvPr/>
        </p:nvSpPr>
        <p:spPr>
          <a:xfrm>
            <a:off x="548640" y="2615184"/>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What did not</a:t>
            </a:r>
            <a:endParaRPr lang="en-US" sz="1700" dirty="0"/>
          </a:p>
        </p:txBody>
      </p:sp>
      <p:sp>
        <p:nvSpPr>
          <p:cNvPr id="7" name="Text 5"/>
          <p:cNvSpPr txBox="1"/>
          <p:nvPr/>
        </p:nvSpPr>
        <p:spPr>
          <a:xfrm>
            <a:off x="548640" y="2999232"/>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The gain over the whole game, which was near zero or negative.</a:t>
            </a:r>
            <a:endParaRPr lang="en-US" sz="1400" dirty="0"/>
          </a:p>
        </p:txBody>
      </p:sp>
      <p:sp>
        <p:nvSpPr>
          <p:cNvPr id="8" name="Text 6"/>
          <p:cNvSpPr txBox="1"/>
          <p:nvPr/>
        </p:nvSpPr>
        <p:spPr>
          <a:xfrm>
            <a:off x="548640" y="3685032"/>
            <a:ext cx="457200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Against a perfect optimiser</a:t>
            </a:r>
            <a:endParaRPr lang="en-US" sz="1700" dirty="0"/>
          </a:p>
        </p:txBody>
      </p:sp>
      <p:sp>
        <p:nvSpPr>
          <p:cNvPr id="9" name="Text 7"/>
          <p:cNvSpPr txBox="1"/>
          <p:nvPr/>
        </p:nvSpPr>
        <p:spPr>
          <a:xfrm>
            <a:off x="548640" y="4069080"/>
            <a:ext cx="4572000" cy="521208"/>
          </a:xfrm>
          <a:prstGeom prst="rect">
            <a:avLst/>
          </a:prstGeom>
          <a:noFill/>
          <a:ln/>
        </p:spPr>
        <p:txBody>
          <a:bodyPr wrap="square" lIns="0" tIns="0" rIns="0" bIns="0" rtlCol="0" anchor="t"/>
          <a:lstStyle/>
          <a:p>
            <a:pPr algn="just" indent="0" marL="0">
              <a:buNone/>
            </a:pPr>
            <a:r>
              <a:rPr lang="en-US" sz="1400" dirty="0">
                <a:solidFill>
                  <a:srgbClr val="1C191A"/>
                </a:solidFill>
                <a:latin typeface="Calibri" pitchFamily="34" charset="0"/>
                <a:ea typeface="Calibri" pitchFamily="34" charset="-122"/>
                <a:cs typeface="Calibri" pitchFamily="34" charset="-120"/>
              </a:rPr>
              <a:t>It would keep over-taking until 36 t. Both models stopped earlier, and gradually.</a:t>
            </a:r>
            <a:endParaRPr lang="en-US" sz="1400" dirty="0"/>
          </a:p>
        </p:txBody>
      </p:sp>
      <p:pic>
        <p:nvPicPr>
          <p:cNvPr id="10" name="Image 0" descr="fig5_spine.png">    </p:cNvPr>
          <p:cNvPicPr>
            <a:picLocks noChangeAspect="1"/>
          </p:cNvPicPr>
          <p:nvPr/>
        </p:nvPicPr>
        <p:blipFill>
          <a:blip r:embed="rId1"/>
          <a:stretch>
            <a:fillRect/>
          </a:stretch>
        </p:blipFill>
        <p:spPr>
          <a:xfrm>
            <a:off x="6219407" y="1499616"/>
            <a:ext cx="4736362" cy="4123944"/>
          </a:xfrm>
          <a:prstGeom prst="rect">
            <a:avLst/>
          </a:prstGeom>
        </p:spPr>
      </p:pic>
      <p:sp>
        <p:nvSpPr>
          <p:cNvPr id="11" name="Text 8"/>
          <p:cNvSpPr txBox="1"/>
          <p:nvPr/>
        </p:nvSpPr>
        <p:spPr>
          <a:xfrm>
            <a:off x="5532120" y="5733288"/>
            <a:ext cx="611093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Predicted against observed stopping fine; points on the dashed line were predicted exactly.</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Memory Protects the Lake Without a Fine</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402336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Same audits, no fine</a:t>
            </a:r>
            <a:endParaRPr lang="en-US" sz="1700" dirty="0"/>
          </a:p>
        </p:txBody>
      </p:sp>
      <p:sp>
        <p:nvSpPr>
          <p:cNvPr id="5" name="Text 3"/>
          <p:cNvSpPr txBox="1"/>
          <p:nvPr/>
        </p:nvSpPr>
        <p:spPr>
          <a:xfrm>
            <a:off x="548640" y="1929384"/>
            <a:ext cx="4023360" cy="745236"/>
          </a:xfrm>
          <a:prstGeom prst="rect">
            <a:avLst/>
          </a:prstGeom>
          <a:noFill/>
          <a:ln/>
        </p:spPr>
        <p:txBody>
          <a:bodyPr wrap="square" lIns="0" tIns="0" rIns="0" bIns="0" rtlCol="0" anchor="t"/>
          <a:lstStyle/>
          <a:p>
            <a:pPr algn="l" indent="0" marL="0">
              <a:buNone/>
            </a:pPr>
            <a:r>
              <a:rPr lang="en-US" sz="1400" dirty="0">
                <a:solidFill>
                  <a:srgbClr val="1C191A"/>
                </a:solidFill>
                <a:latin typeface="Calibri" pitchFamily="34" charset="0"/>
                <a:ea typeface="Calibri" pitchFamily="34" charset="-122"/>
                <a:cs typeface="Calibri" pitchFamily="34" charset="-120"/>
              </a:rPr>
              <a:t>Audit probability 1 in 6 in both conditions. With memory, a caught model's later allowances drop by what it over-took.</a:t>
            </a:r>
            <a:endParaRPr lang="en-US" sz="1400" dirty="0"/>
          </a:p>
        </p:txBody>
      </p:sp>
      <p:sp>
        <p:nvSpPr>
          <p:cNvPr id="6" name="Text 4"/>
          <p:cNvSpPr txBox="1"/>
          <p:nvPr/>
        </p:nvSpPr>
        <p:spPr>
          <a:xfrm>
            <a:off x="548640" y="2839212"/>
            <a:ext cx="402336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Over-taking fell, but didn't stop</a:t>
            </a:r>
            <a:endParaRPr lang="en-US" sz="1700" dirty="0"/>
          </a:p>
        </p:txBody>
      </p:sp>
      <p:sp>
        <p:nvSpPr>
          <p:cNvPr id="7" name="Text 5"/>
          <p:cNvSpPr txBox="1"/>
          <p:nvPr/>
        </p:nvSpPr>
        <p:spPr>
          <a:xfrm>
            <a:off x="548640" y="3223260"/>
            <a:ext cx="4023360" cy="521208"/>
          </a:xfrm>
          <a:prstGeom prst="rect">
            <a:avLst/>
          </a:prstGeom>
          <a:noFill/>
          <a:ln/>
        </p:spPr>
        <p:txBody>
          <a:bodyPr wrap="square" lIns="0" tIns="0" rIns="0" bIns="0" rtlCol="0" anchor="t"/>
          <a:lstStyle/>
          <a:p>
            <a:pPr algn="l" indent="0" marL="0">
              <a:buNone/>
            </a:pPr>
            <a:r>
              <a:rPr lang="en-US" sz="1400" dirty="0">
                <a:solidFill>
                  <a:srgbClr val="1C191A"/>
                </a:solidFill>
                <a:latin typeface="Calibri" pitchFamily="34" charset="0"/>
                <a:ea typeface="Calibri" pitchFamily="34" charset="-122"/>
                <a:cs typeface="Calibri" pitchFamily="34" charset="-120"/>
              </a:rPr>
              <a:t>Both models still over-took in a fifth to a third of their decisions.</a:t>
            </a:r>
            <a:endParaRPr lang="en-US" sz="1400" dirty="0"/>
          </a:p>
        </p:txBody>
      </p:sp>
      <p:sp>
        <p:nvSpPr>
          <p:cNvPr id="8" name="Text 6"/>
          <p:cNvSpPr txBox="1"/>
          <p:nvPr/>
        </p:nvSpPr>
        <p:spPr>
          <a:xfrm>
            <a:off x="548640" y="3909060"/>
            <a:ext cx="4023360" cy="365760"/>
          </a:xfrm>
          <a:prstGeom prst="rect">
            <a:avLst/>
          </a:prstGeom>
          <a:noFill/>
          <a:ln/>
        </p:spPr>
        <p:txBody>
          <a:bodyPr wrap="square" lIns="0" tIns="0" rIns="0" bIns="0" rtlCol="0" anchor="t"/>
          <a:lstStyle/>
          <a:p>
            <a:pPr indent="0" marL="0">
              <a:buNone/>
            </a:pPr>
            <a:r>
              <a:rPr lang="en-US" sz="1700" b="1" dirty="0">
                <a:solidFill>
                  <a:srgbClr val="1C191A"/>
                </a:solidFill>
                <a:latin typeface="Georgia" pitchFamily="34" charset="0"/>
                <a:ea typeface="Georgia" pitchFamily="34" charset="-122"/>
                <a:cs typeface="Georgia" pitchFamily="34" charset="-120"/>
              </a:rPr>
              <a:t>The lake recovered</a:t>
            </a:r>
            <a:endParaRPr lang="en-US" sz="1700" dirty="0"/>
          </a:p>
        </p:txBody>
      </p:sp>
      <p:sp>
        <p:nvSpPr>
          <p:cNvPr id="9" name="Text 7"/>
          <p:cNvSpPr txBox="1"/>
          <p:nvPr/>
        </p:nvSpPr>
        <p:spPr>
          <a:xfrm>
            <a:off x="548640" y="4293108"/>
            <a:ext cx="4023360" cy="745236"/>
          </a:xfrm>
          <a:prstGeom prst="rect">
            <a:avLst/>
          </a:prstGeom>
          <a:noFill/>
          <a:ln/>
        </p:spPr>
        <p:txBody>
          <a:bodyPr wrap="square" lIns="0" tIns="0" rIns="0" bIns="0" rtlCol="0" anchor="t"/>
          <a:lstStyle/>
          <a:p>
            <a:pPr algn="l" indent="0" marL="0">
              <a:buNone/>
            </a:pPr>
            <a:r>
              <a:rPr lang="en-US" sz="1400" dirty="0">
                <a:solidFill>
                  <a:srgbClr val="1C191A"/>
                </a:solidFill>
                <a:latin typeface="Calibri" pitchFamily="34" charset="0"/>
                <a:ea typeface="Calibri" pitchFamily="34" charset="-122"/>
                <a:cs typeface="Calibri" pitchFamily="34" charset="-120"/>
              </a:rPr>
              <a:t>No lake collapsed with memory (without: 5 and 1 of 10). Rule-following fishers caught 29 to 32 t, against 8 to 9 t.</a:t>
            </a:r>
            <a:endParaRPr lang="en-US" sz="1400" dirty="0"/>
          </a:p>
        </p:txBody>
      </p:sp>
      <p:pic>
        <p:nvPicPr>
          <p:cNvPr id="10" name="Image 0" descr="memory_llm.png">    </p:cNvPr>
          <p:cNvPicPr>
            <a:picLocks noChangeAspect="1"/>
          </p:cNvPicPr>
          <p:nvPr/>
        </p:nvPicPr>
        <p:blipFill>
          <a:blip r:embed="rId1"/>
          <a:stretch>
            <a:fillRect/>
          </a:stretch>
        </p:blipFill>
        <p:spPr>
          <a:xfrm>
            <a:off x="4983480" y="1885590"/>
            <a:ext cx="6659575" cy="3169116"/>
          </a:xfrm>
          <a:prstGeom prst="rect">
            <a:avLst/>
          </a:prstGeom>
        </p:spPr>
      </p:pic>
      <p:sp>
        <p:nvSpPr>
          <p:cNvPr id="11" name="Text 8"/>
          <p:cNvSpPr txBox="1"/>
          <p:nvPr/>
        </p:nvSpPr>
        <p:spPr>
          <a:xfrm>
            <a:off x="4983480" y="5164434"/>
            <a:ext cx="6659575" cy="502920"/>
          </a:xfrm>
          <a:prstGeom prst="rect">
            <a:avLst/>
          </a:prstGeom>
          <a:noFill/>
          <a:ln/>
        </p:spPr>
        <p:txBody>
          <a:bodyPr wrap="square" lIns="0" tIns="0" rIns="0" bIns="0" rtlCol="0" anchor="t"/>
          <a:lstStyle/>
          <a:p>
            <a:pPr algn="ctr" indent="0" marL="0">
              <a:buNone/>
            </a:pPr>
            <a:r>
              <a:rPr lang="en-US" sz="1100" i="1" dirty="0">
                <a:solidFill>
                  <a:srgbClr val="55524E"/>
                </a:solidFill>
                <a:latin typeface="Calibri" pitchFamily="34" charset="0"/>
                <a:ea typeface="Calibri" pitchFamily="34" charset="-122"/>
                <a:cs typeface="Calibri" pitchFamily="34" charset="-120"/>
              </a:rPr>
              <a:t>10 games per model and condition; bars are means over games with 95% intervals. Left: share of a model's decisions above its allowance. Right: share of rounds the lake ended below half capacity (50 of 100 t).</a:t>
            </a:r>
            <a:endParaRPr lang="en-US" sz="110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Running Now (Results Soon)</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1545336"/>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Expected fine, or fine size?</a:t>
            </a:r>
            <a:endParaRPr lang="en-US" sz="1600" dirty="0"/>
          </a:p>
        </p:txBody>
      </p:sp>
      <p:sp>
        <p:nvSpPr>
          <p:cNvPr id="5" name="Text 3"/>
          <p:cNvSpPr txBox="1"/>
          <p:nvPr/>
        </p:nvSpPr>
        <p:spPr>
          <a:xfrm>
            <a:off x="548640" y="1874520"/>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Same expected fine, made up differently: audit probability 1 in 3, 1 in 6 or 1 in 12 (gpt-oss, 20 games each).</a:t>
            </a:r>
            <a:endParaRPr lang="en-US" sz="1250" dirty="0"/>
          </a:p>
        </p:txBody>
      </p:sp>
      <p:sp>
        <p:nvSpPr>
          <p:cNvPr id="6" name="Shape 4"/>
          <p:cNvSpPr/>
          <p:nvPr/>
        </p:nvSpPr>
        <p:spPr>
          <a:xfrm>
            <a:off x="6080760" y="1545336"/>
            <a:ext cx="5562295" cy="1026414"/>
          </a:xfrm>
          <a:prstGeom prst="roundRect">
            <a:avLst>
              <a:gd name="adj" fmla="val 5345"/>
            </a:avLst>
          </a:prstGeom>
          <a:solidFill>
            <a:srgbClr val="FFFFFF"/>
          </a:solidFill>
          <a:ln w="12700">
            <a:solidFill>
              <a:srgbClr val="C9C6C1"/>
            </a:solidFill>
            <a:prstDash val="dash"/>
          </a:ln>
        </p:spPr>
      </p:sp>
      <p:sp>
        <p:nvSpPr>
          <p:cNvPr id="7" name="Text 5"/>
          <p:cNvSpPr txBox="1"/>
          <p:nvPr/>
        </p:nvSpPr>
        <p:spPr>
          <a:xfrm>
            <a:off x="6217920" y="1618488"/>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8" name="Text 6"/>
          <p:cNvSpPr txBox="1"/>
          <p:nvPr/>
        </p:nvSpPr>
        <p:spPr>
          <a:xfrm>
            <a:off x="548640" y="2736342"/>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Does the prediction transfer?</a:t>
            </a:r>
            <a:endParaRPr lang="en-US" sz="1600" dirty="0"/>
          </a:p>
        </p:txBody>
      </p:sp>
      <p:sp>
        <p:nvSpPr>
          <p:cNvPr id="9" name="Text 7"/>
          <p:cNvSpPr txBox="1"/>
          <p:nvPr/>
        </p:nvSpPr>
        <p:spPr>
          <a:xfrm>
            <a:off x="548640" y="3065526"/>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Frozen prediction (30 t) tested on 10 new games and with reworded rules.</a:t>
            </a:r>
            <a:endParaRPr lang="en-US" sz="1250" dirty="0"/>
          </a:p>
        </p:txBody>
      </p:sp>
      <p:sp>
        <p:nvSpPr>
          <p:cNvPr id="10" name="Shape 8"/>
          <p:cNvSpPr/>
          <p:nvPr/>
        </p:nvSpPr>
        <p:spPr>
          <a:xfrm>
            <a:off x="6080760" y="2736342"/>
            <a:ext cx="5562295" cy="1026414"/>
          </a:xfrm>
          <a:prstGeom prst="roundRect">
            <a:avLst>
              <a:gd name="adj" fmla="val 5345"/>
            </a:avLst>
          </a:prstGeom>
          <a:solidFill>
            <a:srgbClr val="FFFFFF"/>
          </a:solidFill>
          <a:ln w="12700">
            <a:solidFill>
              <a:srgbClr val="C9C6C1"/>
            </a:solidFill>
            <a:prstDash val="dash"/>
          </a:ln>
        </p:spPr>
      </p:sp>
      <p:sp>
        <p:nvSpPr>
          <p:cNvPr id="11" name="Text 9"/>
          <p:cNvSpPr txBox="1"/>
          <p:nvPr/>
        </p:nvSpPr>
        <p:spPr>
          <a:xfrm>
            <a:off x="6217920" y="2809494"/>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12" name="Text 10"/>
          <p:cNvSpPr txBox="1"/>
          <p:nvPr/>
        </p:nvSpPr>
        <p:spPr>
          <a:xfrm>
            <a:off x="548640" y="3927348"/>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What if nobody audits?</a:t>
            </a:r>
            <a:endParaRPr lang="en-US" sz="1600" dirty="0"/>
          </a:p>
        </p:txBody>
      </p:sp>
      <p:sp>
        <p:nvSpPr>
          <p:cNvPr id="13" name="Text 11"/>
          <p:cNvSpPr txBox="1"/>
          <p:nvPr/>
        </p:nvSpPr>
        <p:spPr>
          <a:xfrm>
            <a:off x="548640" y="4256532"/>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Rules that never mention audits, against audits with no fine.</a:t>
            </a:r>
            <a:endParaRPr lang="en-US" sz="1250" dirty="0"/>
          </a:p>
        </p:txBody>
      </p:sp>
      <p:sp>
        <p:nvSpPr>
          <p:cNvPr id="14" name="Shape 12"/>
          <p:cNvSpPr/>
          <p:nvPr/>
        </p:nvSpPr>
        <p:spPr>
          <a:xfrm>
            <a:off x="6080760" y="3927348"/>
            <a:ext cx="5562295" cy="1026414"/>
          </a:xfrm>
          <a:prstGeom prst="roundRect">
            <a:avLst>
              <a:gd name="adj" fmla="val 5345"/>
            </a:avLst>
          </a:prstGeom>
          <a:solidFill>
            <a:srgbClr val="FFFFFF"/>
          </a:solidFill>
          <a:ln w="12700">
            <a:solidFill>
              <a:srgbClr val="C9C6C1"/>
            </a:solidFill>
            <a:prstDash val="dash"/>
          </a:ln>
        </p:spPr>
      </p:sp>
      <p:sp>
        <p:nvSpPr>
          <p:cNvPr id="15" name="Text 13"/>
          <p:cNvSpPr txBox="1"/>
          <p:nvPr/>
        </p:nvSpPr>
        <p:spPr>
          <a:xfrm>
            <a:off x="6217920" y="4000500"/>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16" name="Text 14"/>
          <p:cNvSpPr txBox="1"/>
          <p:nvPr/>
        </p:nvSpPr>
        <p:spPr>
          <a:xfrm>
            <a:off x="548640" y="5118354"/>
            <a:ext cx="5212080" cy="347472"/>
          </a:xfrm>
          <a:prstGeom prst="rect">
            <a:avLst/>
          </a:prstGeom>
          <a:noFill/>
          <a:ln/>
        </p:spPr>
        <p:txBody>
          <a:bodyPr wrap="square" lIns="0" tIns="0" rIns="0" bIns="0" rtlCol="0" anchor="t"/>
          <a:lstStyle/>
          <a:p>
            <a:pPr indent="0" marL="0">
              <a:buNone/>
            </a:pPr>
            <a:r>
              <a:rPr lang="en-US" sz="1600" b="1" dirty="0">
                <a:solidFill>
                  <a:srgbClr val="1C191A"/>
                </a:solidFill>
                <a:latin typeface="Georgia" pitchFamily="34" charset="0"/>
                <a:ea typeface="Georgia" pitchFamily="34" charset="-122"/>
                <a:cs typeface="Georgia" pitchFamily="34" charset="-120"/>
              </a:rPr>
              <a:t>Does over-taking spread?</a:t>
            </a:r>
            <a:endParaRPr lang="en-US" sz="1600" dirty="0"/>
          </a:p>
        </p:txBody>
      </p:sp>
      <p:sp>
        <p:nvSpPr>
          <p:cNvPr id="17" name="Text 15"/>
          <p:cNvSpPr txBox="1"/>
          <p:nvPr/>
        </p:nvSpPr>
        <p:spPr>
          <a:xfrm>
            <a:off x="548640" y="5447538"/>
            <a:ext cx="5212080" cy="733806"/>
          </a:xfrm>
          <a:prstGeom prst="rect">
            <a:avLst/>
          </a:prstGeom>
          <a:noFill/>
          <a:ln/>
        </p:spPr>
        <p:txBody>
          <a:bodyPr wrap="square" lIns="0" tIns="0" rIns="0" bIns="0" rtlCol="0" anchor="t"/>
          <a:lstStyle/>
          <a:p>
            <a:pPr indent="0" marL="0">
              <a:buNone/>
            </a:pPr>
            <a:r>
              <a:rPr lang="en-US" sz="1250" dirty="0">
                <a:solidFill>
                  <a:srgbClr val="55524E"/>
                </a:solidFill>
                <a:latin typeface="Calibri" pitchFamily="34" charset="0"/>
                <a:ea typeface="Calibri" pitchFamily="34" charset="-122"/>
                <a:cs typeface="Calibri" pitchFamily="34" charset="-120"/>
              </a:rPr>
              <a:t>Forest: one programmed over-taker among five language-model agents; neighbours' cuts hidden or visible.</a:t>
            </a:r>
            <a:endParaRPr lang="en-US" sz="1250" dirty="0"/>
          </a:p>
        </p:txBody>
      </p:sp>
      <p:sp>
        <p:nvSpPr>
          <p:cNvPr id="18" name="Shape 16"/>
          <p:cNvSpPr/>
          <p:nvPr/>
        </p:nvSpPr>
        <p:spPr>
          <a:xfrm>
            <a:off x="6080760" y="5118354"/>
            <a:ext cx="5562295" cy="1026414"/>
          </a:xfrm>
          <a:prstGeom prst="roundRect">
            <a:avLst>
              <a:gd name="adj" fmla="val 5345"/>
            </a:avLst>
          </a:prstGeom>
          <a:solidFill>
            <a:srgbClr val="FFFFFF"/>
          </a:solidFill>
          <a:ln w="12700">
            <a:solidFill>
              <a:srgbClr val="C9C6C1"/>
            </a:solidFill>
            <a:prstDash val="dash"/>
          </a:ln>
        </p:spPr>
      </p:sp>
      <p:sp>
        <p:nvSpPr>
          <p:cNvPr id="19" name="Text 17"/>
          <p:cNvSpPr txBox="1"/>
          <p:nvPr/>
        </p:nvSpPr>
        <p:spPr>
          <a:xfrm>
            <a:off x="6217920" y="5191506"/>
            <a:ext cx="5287975" cy="274320"/>
          </a:xfrm>
          <a:prstGeom prst="rect">
            <a:avLst/>
          </a:prstGeom>
          <a:noFill/>
          <a:ln/>
        </p:spPr>
        <p:txBody>
          <a:bodyPr wrap="square" lIns="0" tIns="0" rIns="0" bIns="0" rtlCol="0" anchor="t"/>
          <a:lstStyle/>
          <a:p>
            <a:pPr indent="0" marL="0">
              <a:buNone/>
            </a:pPr>
            <a:r>
              <a:rPr lang="en-US" sz="1100" i="1" dirty="0">
                <a:solidFill>
                  <a:srgbClr val="8F8F8F"/>
                </a:solidFill>
                <a:latin typeface="Calibri" pitchFamily="34" charset="0"/>
                <a:ea typeface="Calibri" pitchFamily="34" charset="-122"/>
                <a:cs typeface="Calibri" pitchFamily="34" charset="-120"/>
              </a:rPr>
              <a:t>Result (to fill in):</a:t>
            </a:r>
            <a:endParaRPr lang="en-US" sz="110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b"/>
          <a:lstStyle/>
          <a:p>
            <a:pPr algn="l" indent="0" marL="0">
              <a:lnSpc>
                <a:spcPct val="95000"/>
              </a:lnSpc>
              <a:buNone/>
            </a:pPr>
            <a:r>
              <a:rPr lang="en-US" sz="3400" b="1" dirty="0">
                <a:solidFill>
                  <a:srgbClr val="062746"/>
                </a:solidFill>
                <a:latin typeface="Georgia" pitchFamily="34" charset="0"/>
                <a:ea typeface="Georgia" pitchFamily="34" charset="-122"/>
                <a:cs typeface="Georgia" pitchFamily="34" charset="-120"/>
              </a:rPr>
              <a:t>Where This Is Going</a:t>
            </a:r>
            <a:endParaRPr lang="en-US" sz="3400" dirty="0"/>
          </a:p>
        </p:txBody>
      </p:sp>
      <p:sp>
        <p:nvSpPr>
          <p:cNvPr id="3" name="Shape 1"/>
          <p:cNvSpPr/>
          <p:nvPr/>
        </p:nvSpPr>
        <p:spPr>
          <a:xfrm>
            <a:off x="548640" y="1271016"/>
            <a:ext cx="3291840" cy="91440"/>
          </a:xfrm>
          <a:prstGeom prst="rect">
            <a:avLst/>
          </a:prstGeom>
          <a:solidFill>
            <a:srgbClr val="131B28"/>
          </a:solidFill>
          <a:ln w="12700">
            <a:solidFill>
              <a:srgbClr val="131B28"/>
            </a:solidFill>
            <a:prstDash val="solid"/>
          </a:ln>
        </p:spPr>
      </p:sp>
      <p:sp>
        <p:nvSpPr>
          <p:cNvPr id="4" name="Shape 2"/>
          <p:cNvSpPr/>
          <p:nvPr/>
        </p:nvSpPr>
        <p:spPr>
          <a:xfrm>
            <a:off x="1935442" y="3017520"/>
            <a:ext cx="8320811" cy="0"/>
          </a:xfrm>
          <a:prstGeom prst="line">
            <a:avLst/>
          </a:prstGeom>
          <a:noFill/>
          <a:ln w="25400">
            <a:solidFill>
              <a:srgbClr val="C9C6C1"/>
            </a:solidFill>
            <a:prstDash val="solid"/>
          </a:ln>
        </p:spPr>
      </p:sp>
      <p:sp>
        <p:nvSpPr>
          <p:cNvPr id="5" name="Shape 3"/>
          <p:cNvSpPr/>
          <p:nvPr/>
        </p:nvSpPr>
        <p:spPr>
          <a:xfrm>
            <a:off x="1779994" y="2862072"/>
            <a:ext cx="310896" cy="310896"/>
          </a:xfrm>
          <a:prstGeom prst="ellipse">
            <a:avLst/>
          </a:prstGeom>
          <a:solidFill>
            <a:srgbClr val="062746"/>
          </a:solidFill>
          <a:ln w="19050">
            <a:solidFill>
              <a:srgbClr val="062746"/>
            </a:solidFill>
            <a:prstDash val="solid"/>
          </a:ln>
        </p:spPr>
      </p:sp>
      <p:sp>
        <p:nvSpPr>
          <p:cNvPr id="6" name="Text 4"/>
          <p:cNvSpPr txBox="1"/>
          <p:nvPr/>
        </p:nvSpPr>
        <p:spPr>
          <a:xfrm>
            <a:off x="640080"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Sep – 8 Oct</a:t>
            </a:r>
            <a:endParaRPr lang="en-US" sz="1500" dirty="0"/>
          </a:p>
        </p:txBody>
      </p:sp>
      <p:sp>
        <p:nvSpPr>
          <p:cNvPr id="7" name="Text 5"/>
          <p:cNvSpPr txBox="1"/>
          <p:nvPr/>
        </p:nvSpPr>
        <p:spPr>
          <a:xfrm>
            <a:off x="658368"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Programmed agents in three settings; language models in Fishery</a:t>
            </a:r>
            <a:endParaRPr lang="en-US" sz="1300" dirty="0"/>
          </a:p>
        </p:txBody>
      </p:sp>
      <p:sp>
        <p:nvSpPr>
          <p:cNvPr id="8" name="Shape 6"/>
          <p:cNvSpPr/>
          <p:nvPr/>
        </p:nvSpPr>
        <p:spPr>
          <a:xfrm>
            <a:off x="4553598" y="2862072"/>
            <a:ext cx="310896" cy="310896"/>
          </a:xfrm>
          <a:prstGeom prst="ellipse">
            <a:avLst/>
          </a:prstGeom>
          <a:solidFill>
            <a:srgbClr val="FFFFFF"/>
          </a:solidFill>
          <a:ln w="19050">
            <a:solidFill>
              <a:srgbClr val="062746"/>
            </a:solidFill>
            <a:prstDash val="solid"/>
          </a:ln>
        </p:spPr>
      </p:sp>
      <p:sp>
        <p:nvSpPr>
          <p:cNvPr id="9" name="Text 7"/>
          <p:cNvSpPr txBox="1"/>
          <p:nvPr/>
        </p:nvSpPr>
        <p:spPr>
          <a:xfrm>
            <a:off x="3413684"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12 – 14 Oct</a:t>
            </a:r>
            <a:endParaRPr lang="en-US" sz="1500" dirty="0"/>
          </a:p>
        </p:txBody>
      </p:sp>
      <p:sp>
        <p:nvSpPr>
          <p:cNvPr id="10" name="Text 8"/>
          <p:cNvSpPr txBox="1"/>
          <p:nvPr/>
        </p:nvSpPr>
        <p:spPr>
          <a:xfrm>
            <a:off x="3431972"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Follow-up tests from two outside reviews</a:t>
            </a:r>
            <a:endParaRPr lang="en-US" sz="1300" dirty="0"/>
          </a:p>
        </p:txBody>
      </p:sp>
      <p:sp>
        <p:nvSpPr>
          <p:cNvPr id="11" name="Shape 9"/>
          <p:cNvSpPr/>
          <p:nvPr/>
        </p:nvSpPr>
        <p:spPr>
          <a:xfrm>
            <a:off x="7327202" y="2862072"/>
            <a:ext cx="310896" cy="310896"/>
          </a:xfrm>
          <a:prstGeom prst="ellipse">
            <a:avLst/>
          </a:prstGeom>
          <a:solidFill>
            <a:srgbClr val="FFFFFF"/>
          </a:solidFill>
          <a:ln w="19050">
            <a:solidFill>
              <a:srgbClr val="062746"/>
            </a:solidFill>
            <a:prstDash val="solid"/>
          </a:ln>
        </p:spPr>
      </p:sp>
      <p:sp>
        <p:nvSpPr>
          <p:cNvPr id="12" name="Text 10"/>
          <p:cNvSpPr txBox="1"/>
          <p:nvPr/>
        </p:nvSpPr>
        <p:spPr>
          <a:xfrm>
            <a:off x="6187288"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20 Nov</a:t>
            </a:r>
            <a:endParaRPr lang="en-US" sz="1500" dirty="0"/>
          </a:p>
        </p:txBody>
      </p:sp>
      <p:sp>
        <p:nvSpPr>
          <p:cNvPr id="13" name="Text 11"/>
          <p:cNvSpPr txBox="1"/>
          <p:nvPr/>
        </p:nvSpPr>
        <p:spPr>
          <a:xfrm>
            <a:off x="6205576"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AAAI-27 workshop and arXiv</a:t>
            </a:r>
            <a:endParaRPr lang="en-US" sz="1300" dirty="0"/>
          </a:p>
        </p:txBody>
      </p:sp>
      <p:sp>
        <p:nvSpPr>
          <p:cNvPr id="14" name="Shape 12"/>
          <p:cNvSpPr/>
          <p:nvPr/>
        </p:nvSpPr>
        <p:spPr>
          <a:xfrm>
            <a:off x="10100805" y="2862072"/>
            <a:ext cx="310896" cy="310896"/>
          </a:xfrm>
          <a:prstGeom prst="ellipse">
            <a:avLst/>
          </a:prstGeom>
          <a:solidFill>
            <a:srgbClr val="FFFFFF"/>
          </a:solidFill>
          <a:ln w="19050">
            <a:solidFill>
              <a:srgbClr val="062746"/>
            </a:solidFill>
            <a:prstDash val="solid"/>
          </a:ln>
        </p:spPr>
      </p:sp>
      <p:sp>
        <p:nvSpPr>
          <p:cNvPr id="15" name="Text 13"/>
          <p:cNvSpPr txBox="1"/>
          <p:nvPr/>
        </p:nvSpPr>
        <p:spPr>
          <a:xfrm>
            <a:off x="8960891" y="3310128"/>
            <a:ext cx="2590724" cy="365760"/>
          </a:xfrm>
          <a:prstGeom prst="rect">
            <a:avLst/>
          </a:prstGeom>
          <a:noFill/>
          <a:ln/>
        </p:spPr>
        <p:txBody>
          <a:bodyPr wrap="square" lIns="0" tIns="0" rIns="0" bIns="0" rtlCol="0" anchor="ctr"/>
          <a:lstStyle/>
          <a:p>
            <a:pPr algn="ctr" indent="0" marL="0">
              <a:buNone/>
            </a:pPr>
            <a:r>
              <a:rPr lang="en-US" sz="1500" b="1" dirty="0">
                <a:solidFill>
                  <a:srgbClr val="062746"/>
                </a:solidFill>
                <a:latin typeface="Georgia" pitchFamily="34" charset="0"/>
                <a:ea typeface="Georgia" pitchFamily="34" charset="-122"/>
                <a:cs typeface="Georgia" pitchFamily="34" charset="-120"/>
              </a:rPr>
              <a:t>Jan 2027</a:t>
            </a:r>
            <a:endParaRPr lang="en-US" sz="1500" dirty="0"/>
          </a:p>
        </p:txBody>
      </p:sp>
      <p:sp>
        <p:nvSpPr>
          <p:cNvPr id="16" name="Text 14"/>
          <p:cNvSpPr txBox="1"/>
          <p:nvPr/>
        </p:nvSpPr>
        <p:spPr>
          <a:xfrm>
            <a:off x="8979179" y="3703320"/>
            <a:ext cx="2554148" cy="2194560"/>
          </a:xfrm>
          <a:prstGeom prst="rect">
            <a:avLst/>
          </a:prstGeom>
          <a:noFill/>
          <a:ln/>
        </p:spPr>
        <p:txBody>
          <a:bodyPr wrap="square" lIns="0" tIns="0" rIns="0" bIns="0" rtlCol="0" anchor="t"/>
          <a:lstStyle/>
          <a:p>
            <a:pPr algn="ctr" indent="0" marL="0">
              <a:buNone/>
            </a:pPr>
            <a:r>
              <a:rPr lang="en-US" sz="1300" dirty="0">
                <a:solidFill>
                  <a:srgbClr val="1C191A"/>
                </a:solidFill>
                <a:latin typeface="Calibri" pitchFamily="34" charset="0"/>
                <a:ea typeface="Calibri" pitchFamily="34" charset="-122"/>
                <a:cs typeface="Calibri" pitchFamily="34" charset="-120"/>
              </a:rPr>
              <a:t>Main conference (IJCAI or ICML)</a:t>
            </a:r>
            <a:endParaRPr lang="en-US" sz="1300" dirty="0"/>
          </a:p>
        </p:txBody>
      </p:sp>
      <p:sp>
        <p:nvSpPr>
          <p:cNvPr id="17" name="Text 15"/>
          <p:cNvSpPr txBox="1"/>
          <p:nvPr/>
        </p:nvSpPr>
        <p:spPr>
          <a:xfrm>
            <a:off x="548640" y="5852160"/>
            <a:ext cx="11094415" cy="457200"/>
          </a:xfrm>
          <a:prstGeom prst="rect">
            <a:avLst/>
          </a:prstGeom>
          <a:noFill/>
          <a:ln/>
        </p:spPr>
        <p:txBody>
          <a:bodyPr wrap="square" lIns="0" tIns="0" rIns="0" bIns="0" rtlCol="0" anchor="ctr"/>
          <a:lstStyle/>
          <a:p>
            <a:pPr algn="ctr" indent="0" marL="0">
              <a:buNone/>
            </a:pPr>
            <a:r>
              <a:rPr lang="en-US" sz="1200" i="1" dirty="0">
                <a:solidFill>
                  <a:srgbClr val="55524E"/>
                </a:solidFill>
                <a:latin typeface="Calibri" pitchFamily="34" charset="0"/>
                <a:ea typeface="Calibri" pitchFamily="34" charset="-122"/>
                <a:cs typeface="Calibri" pitchFamily="34" charset="-120"/>
              </a:rPr>
              <a:t>Every study was pre-registered locally before its code; failed predictions are reported.</a:t>
            </a:r>
            <a:endParaRPr lang="en-US" sz="1200" dirty="0"/>
          </a:p>
        </p:txBody>
      </p:sp>
      <p:sp>
        <p:nvSpPr>
          <p:cNvPr id="18" name="Text 1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6613855" y="365760"/>
            <a:ext cx="5029200" cy="1188720"/>
          </a:xfrm>
          <a:prstGeom prst="rect">
            <a:avLst/>
          </a:prstGeom>
          <a:noFill/>
          <a:ln/>
        </p:spPr>
        <p:txBody>
          <a:bodyPr wrap="square" lIns="0" tIns="0" rIns="0" bIns="0" rtlCol="0" anchor="b"/>
          <a:lstStyle/>
          <a:p>
            <a:pPr algn="r" indent="0" marL="0">
              <a:lnSpc>
                <a:spcPct val="95000"/>
              </a:lnSpc>
              <a:buNone/>
            </a:pPr>
            <a:r>
              <a:rPr lang="en-US" sz="3600" b="1" dirty="0">
                <a:solidFill>
                  <a:srgbClr val="062746"/>
                </a:solidFill>
                <a:latin typeface="Georgia" pitchFamily="34" charset="0"/>
                <a:ea typeface="Georgia" pitchFamily="34" charset="-122"/>
                <a:cs typeface="Georgia" pitchFamily="34" charset="-120"/>
              </a:rPr>
              <a:t>Questions for You</a:t>
            </a:r>
            <a:endParaRPr lang="en-US" sz="3600" dirty="0"/>
          </a:p>
        </p:txBody>
      </p:sp>
      <p:sp>
        <p:nvSpPr>
          <p:cNvPr id="3" name="Shape 1"/>
          <p:cNvSpPr/>
          <p:nvPr/>
        </p:nvSpPr>
        <p:spPr>
          <a:xfrm>
            <a:off x="8351215" y="1682496"/>
            <a:ext cx="3291840" cy="91440"/>
          </a:xfrm>
          <a:prstGeom prst="rect">
            <a:avLst/>
          </a:prstGeom>
          <a:solidFill>
            <a:srgbClr val="131B28"/>
          </a:solidFill>
          <a:ln w="12700">
            <a:solidFill>
              <a:srgbClr val="131B28"/>
            </a:solidFill>
            <a:prstDash val="solid"/>
          </a:ln>
        </p:spPr>
      </p:sp>
      <p:sp>
        <p:nvSpPr>
          <p:cNvPr id="4" name="Text 2"/>
          <p:cNvSpPr txBox="1"/>
          <p:nvPr/>
        </p:nvSpPr>
        <p:spPr>
          <a:xfrm>
            <a:off x="548640" y="214884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01</a:t>
            </a:r>
            <a:endParaRPr lang="en-US" sz="2600" dirty="0"/>
          </a:p>
        </p:txBody>
      </p:sp>
      <p:sp>
        <p:nvSpPr>
          <p:cNvPr id="5" name="Text 3"/>
          <p:cNvSpPr txBox="1"/>
          <p:nvPr/>
        </p:nvSpPr>
        <p:spPr>
          <a:xfrm>
            <a:off x="1417320" y="216712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Is over-taking an allowance a fair stand-in for AI misbehaviour?</a:t>
            </a:r>
            <a:endParaRPr lang="en-US" sz="1800" dirty="0"/>
          </a:p>
        </p:txBody>
      </p:sp>
      <p:sp>
        <p:nvSpPr>
          <p:cNvPr id="6" name="Text 4"/>
          <p:cNvSpPr txBox="1"/>
          <p:nvPr/>
        </p:nvSpPr>
        <p:spPr>
          <a:xfrm>
            <a:off x="548640" y="320040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02</a:t>
            </a:r>
            <a:endParaRPr lang="en-US" sz="2600" dirty="0"/>
          </a:p>
        </p:txBody>
      </p:sp>
      <p:sp>
        <p:nvSpPr>
          <p:cNvPr id="7" name="Text 5"/>
          <p:cNvSpPr txBox="1"/>
          <p:nvPr/>
        </p:nvSpPr>
        <p:spPr>
          <a:xfrm>
            <a:off x="1417320" y="321868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If a fine works under one wording of the rules, would you trust it under another?</a:t>
            </a:r>
            <a:endParaRPr lang="en-US" sz="1800" dirty="0"/>
          </a:p>
        </p:txBody>
      </p:sp>
      <p:sp>
        <p:nvSpPr>
          <p:cNvPr id="8" name="Text 6"/>
          <p:cNvSpPr txBox="1"/>
          <p:nvPr/>
        </p:nvSpPr>
        <p:spPr>
          <a:xfrm>
            <a:off x="548640" y="425196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03</a:t>
            </a:r>
            <a:endParaRPr lang="en-US" sz="2600" dirty="0"/>
          </a:p>
        </p:txBody>
      </p:sp>
      <p:sp>
        <p:nvSpPr>
          <p:cNvPr id="9" name="Text 7"/>
          <p:cNvSpPr txBox="1"/>
          <p:nvPr/>
        </p:nvSpPr>
        <p:spPr>
          <a:xfrm>
            <a:off x="1417320" y="427024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Which would convince you more: more models, or more settings?</a:t>
            </a:r>
            <a:endParaRPr lang="en-US" sz="1800" dirty="0"/>
          </a:p>
        </p:txBody>
      </p:sp>
      <p:sp>
        <p:nvSpPr>
          <p:cNvPr id="10" name="Text 8"/>
          <p:cNvSpPr txBox="1"/>
          <p:nvPr/>
        </p:nvSpPr>
        <p:spPr>
          <a:xfrm>
            <a:off x="548640" y="5303520"/>
            <a:ext cx="731520" cy="457200"/>
          </a:xfrm>
          <a:prstGeom prst="rect">
            <a:avLst/>
          </a:prstGeom>
          <a:noFill/>
          <a:ln/>
        </p:spPr>
        <p:txBody>
          <a:bodyPr wrap="square" lIns="0" tIns="0" rIns="0" bIns="0" rtlCol="0" anchor="t"/>
          <a:lstStyle/>
          <a:p>
            <a:pPr indent="0" marL="0">
              <a:buNone/>
            </a:pPr>
            <a:r>
              <a:rPr lang="en-US" sz="2600" dirty="0">
                <a:solidFill>
                  <a:srgbClr val="8F8F8F"/>
                </a:solidFill>
                <a:latin typeface="Calibri Light" pitchFamily="34" charset="0"/>
                <a:ea typeface="Calibri Light" pitchFamily="34" charset="-122"/>
                <a:cs typeface="Calibri Light" pitchFamily="34" charset="-120"/>
              </a:rPr>
              <a:t>04</a:t>
            </a:r>
            <a:endParaRPr lang="en-US" sz="2600" dirty="0"/>
          </a:p>
        </p:txBody>
      </p:sp>
      <p:sp>
        <p:nvSpPr>
          <p:cNvPr id="11" name="Text 9"/>
          <p:cNvSpPr txBox="1"/>
          <p:nvPr/>
        </p:nvSpPr>
        <p:spPr>
          <a:xfrm>
            <a:off x="1417320" y="5321808"/>
            <a:ext cx="10180015" cy="914400"/>
          </a:xfrm>
          <a:prstGeom prst="rect">
            <a:avLst/>
          </a:prstGeom>
          <a:noFill/>
          <a:ln/>
        </p:spPr>
        <p:txBody>
          <a:bodyPr wrap="square" lIns="0" tIns="0" rIns="0" bIns="0" rtlCol="0" anchor="t"/>
          <a:lstStyle/>
          <a:p>
            <a:pPr indent="0" marL="0">
              <a:buNone/>
            </a:pPr>
            <a:r>
              <a:rPr lang="en-US" sz="1800" dirty="0">
                <a:solidFill>
                  <a:srgbClr val="1C191A"/>
                </a:solidFill>
                <a:latin typeface="Georgia" pitchFamily="34" charset="0"/>
                <a:ea typeface="Georgia" pitchFamily="34" charset="-122"/>
                <a:cs typeface="Georgia" pitchFamily="34" charset="-120"/>
              </a:rPr>
              <a:t>Where in your work does someone audit only a sample, and what follows a catch?</a:t>
            </a:r>
            <a:endParaRPr lang="en-US" sz="1800" dirty="0"/>
          </a:p>
        </p:txBody>
      </p:sp>
      <p:sp>
        <p:nvSpPr>
          <p:cNvPr id="12" name="Text 1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1C191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9343A"/>
        </a:solidFill>
      </p:bgPr>
    </p:bg>
    <p:spTree>
      <p:nvGrpSpPr>
        <p:cNvPr id="1" name=""/>
        <p:cNvGrpSpPr/>
        <p:nvPr/>
      </p:nvGrpSpPr>
      <p:grpSpPr>
        <a:xfrm>
          <a:off x="0" y="0"/>
          <a:ext cx="0" cy="0"/>
          <a:chOff x="0" y="0"/>
          <a:chExt cx="0" cy="0"/>
        </a:xfrm>
      </p:grpSpPr>
      <p:sp>
        <p:nvSpPr>
          <p:cNvPr id="2" name="Text 0"/>
          <p:cNvSpPr txBox="1"/>
          <p:nvPr/>
        </p:nvSpPr>
        <p:spPr>
          <a:xfrm>
            <a:off x="1828800" y="1828800"/>
            <a:ext cx="8534095" cy="2194560"/>
          </a:xfrm>
          <a:prstGeom prst="rect">
            <a:avLst/>
          </a:prstGeom>
          <a:noFill/>
          <a:ln/>
        </p:spPr>
        <p:txBody>
          <a:bodyPr wrap="square" lIns="0" tIns="0" rIns="0" bIns="0" rtlCol="0" anchor="b"/>
          <a:lstStyle/>
          <a:p>
            <a:pPr algn="ctr" indent="0" marL="0">
              <a:lnSpc>
                <a:spcPct val="90000"/>
              </a:lnSpc>
              <a:buNone/>
            </a:pPr>
            <a:r>
              <a:rPr lang="en-US" sz="7200" dirty="0">
                <a:solidFill>
                  <a:srgbClr val="F0F0F0"/>
                </a:solidFill>
                <a:latin typeface="Calibri" pitchFamily="34" charset="0"/>
                <a:ea typeface="Calibri" pitchFamily="34" charset="-122"/>
                <a:cs typeface="Calibri" pitchFamily="34" charset="-120"/>
              </a:rPr>
              <a:t>Thank You</a:t>
            </a:r>
            <a:endParaRPr lang="en-US" sz="7200" dirty="0"/>
          </a:p>
        </p:txBody>
      </p:sp>
      <p:sp>
        <p:nvSpPr>
          <p:cNvPr id="3" name="Shape 1"/>
          <p:cNvSpPr/>
          <p:nvPr/>
        </p:nvSpPr>
        <p:spPr>
          <a:xfrm>
            <a:off x="4312768" y="4297680"/>
            <a:ext cx="3566160" cy="118872"/>
          </a:xfrm>
          <a:prstGeom prst="rect">
            <a:avLst/>
          </a:prstGeom>
          <a:solidFill>
            <a:srgbClr val="B09E88"/>
          </a:solidFill>
          <a:ln w="12700">
            <a:solidFill>
              <a:srgbClr val="B09E88"/>
            </a:solidFill>
            <a:prstDash val="solid"/>
          </a:ln>
        </p:spPr>
      </p:sp>
      <p:sp>
        <p:nvSpPr>
          <p:cNvPr id="4" name="Text 2"/>
          <p:cNvSpPr txBox="1"/>
          <p:nvPr/>
        </p:nvSpPr>
        <p:spPr>
          <a:xfrm rot="5400000">
            <a:off x="9631375" y="2971800"/>
            <a:ext cx="3200400" cy="457200"/>
          </a:xfrm>
          <a:prstGeom prst="rect">
            <a:avLst/>
          </a:prstGeom>
          <a:noFill/>
          <a:ln/>
        </p:spPr>
        <p:txBody>
          <a:bodyPr wrap="square" lIns="0" tIns="0" rIns="0" bIns="0" rtlCol="0" anchor="ctr"/>
          <a:lstStyle/>
          <a:p>
            <a:pPr algn="ctr" indent="0" marL="0">
              <a:buNone/>
            </a:pPr>
            <a:r>
              <a:rPr lang="en-US" sz="1400" dirty="0">
                <a:solidFill>
                  <a:srgbClr val="F0F0F0"/>
                </a:solidFill>
                <a:latin typeface="Calibri" pitchFamily="34" charset="0"/>
                <a:ea typeface="Calibri" pitchFamily="34" charset="-122"/>
                <a:cs typeface="Calibri" pitchFamily="34" charset="-120"/>
              </a:rPr>
              <a:t>13 October 2026</a:t>
            </a:r>
            <a:endParaRPr lang="en-US" sz="1400" dirty="0"/>
          </a:p>
        </p:txBody>
      </p:sp>
      <p:sp>
        <p:nvSpPr>
          <p:cNvPr id="5" name="Text 3"/>
          <p:cNvSpPr txBox="1"/>
          <p:nvPr/>
        </p:nvSpPr>
        <p:spPr>
          <a:xfrm>
            <a:off x="548640" y="5760720"/>
            <a:ext cx="4572000" cy="548640"/>
          </a:xfrm>
          <a:prstGeom prst="rect">
            <a:avLst/>
          </a:prstGeom>
          <a:noFill/>
          <a:ln/>
        </p:spPr>
        <p:txBody>
          <a:bodyPr wrap="square" lIns="0" tIns="0" rIns="0" bIns="0" rtlCol="0" anchor="b"/>
          <a:lstStyle/>
          <a:p>
            <a:pPr indent="0" marL="0">
              <a:buNone/>
            </a:pPr>
            <a:r>
              <a:rPr lang="en-US" sz="1100" dirty="0">
                <a:solidFill>
                  <a:srgbClr val="F0F0F0"/>
                </a:solidFill>
                <a:latin typeface="Calibri" pitchFamily="34" charset="0"/>
                <a:ea typeface="Calibri" pitchFamily="34" charset="-122"/>
                <a:cs typeface="Calibri" pitchFamily="34" charset="-120"/>
              </a:rPr>
              <a:t>Ameer Alhashemi</a:t>
            </a:r>
            <a:endParaRPr lang="en-US" sz="1100" dirty="0"/>
          </a:p>
          <a:p>
            <a:pPr indent="0" marL="0">
              <a:buNone/>
            </a:pPr>
            <a:r>
              <a:rPr lang="en-US" sz="1100" dirty="0">
                <a:solidFill>
                  <a:srgbClr val="F0F0F0"/>
                </a:solidFill>
                <a:latin typeface="Calibri" pitchFamily="34" charset="0"/>
                <a:ea typeface="Calibri" pitchFamily="34" charset="-122"/>
                <a:cs typeface="Calibri" pitchFamily="34" charset="-120"/>
              </a:rPr>
              <a:t>k26108758@kcl.ac.uk</a:t>
            </a:r>
            <a:endParaRPr lang="en-US" sz="1100" dirty="0"/>
          </a:p>
        </p:txBody>
      </p:sp>
      <p:sp>
        <p:nvSpPr>
          <p:cNvPr id="6"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F0F0F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Penalties Sized to the Gain: PhD catch-up</dc:title>
  <dc:subject>PptxGenJS Presentation</dc:subject>
  <dc:creator>Ameer Alhashemi</dc:creator>
  <cp:lastModifiedBy>Ameer Alhashemi</cp:lastModifiedBy>
  <cp:revision>1</cp:revision>
  <dcterms:created xsi:type="dcterms:W3CDTF">2026-10-12T23:07:14Z</dcterms:created>
  <dcterms:modified xsi:type="dcterms:W3CDTF">2026-10-12T23:07:14Z</dcterms:modified>
</cp:coreProperties>
</file>