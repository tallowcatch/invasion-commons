
<file path=[Content_Types].xml><?xml version="1.0" encoding="utf-8"?>
<Types xmlns="http://schemas.openxmlformats.org/package/2006/content-types">
  <Default Extension="xml" ContentType="application/xml"/>
  <Default Extension="rels" ContentType="application/vnd.openxmlformats-package.relationships+xml"/>
  <Default Extension="jpeg" ContentType="image/jpeg"/>
  <Default Extension="jpg" ContentType="image/jpg"/>
  <Default Extension="svg" ContentType="image/svg+xml"/>
  <Default Extension="png" ContentType="image/png"/>
  <Default Extension="gif" ContentType="image/gif"/>
  <Default Extension="m4v" ContentType="video/mp4"/>
  <Default Extension="mp4" ContentType="video/mp4"/>
  <Default Extension="vml" ContentType="application/vnd.openxmlformats-officedocument.vmlDrawing"/>
  <Default Extension="xlsx" ContentType="application/vnd.openxmlformats-officedocument.spreadsheetml.sheet"/>
  <Override PartName="/ppt/presentation.xml" ContentType="application/vnd.openxmlformats-officedocument.presentationml.presentation.main+xml"/>
  <Override PartName="/ppt/notesMasters/notesMaster1.xml" ContentType="application/vnd.openxmlformats-officedocument.presentationml.notesMaster+xml"/>
  <Override PartName="/ppt/slideMasters/slideMaster1.xml" ContentType="application/vnd.openxmlformats-officedocument.presentationml.slideMaster+xml"/>
  <Override PartName="/ppt/slides/slide1.xml" ContentType="application/vnd.openxmlformats-officedocument.presentationml.slide+xml"/>
  <Override PartName="/ppt/slideMasters/slideMaster2.xml" ContentType="application/vnd.openxmlformats-officedocument.presentationml.slideMaster+xml"/>
  <Override PartName="/ppt/slides/slide2.xml" ContentType="application/vnd.openxmlformats-officedocument.presentationml.slide+xml"/>
  <Override PartName="/ppt/slideMasters/slideMaster3.xml" ContentType="application/vnd.openxmlformats-officedocument.presentationml.slideMaster+xml"/>
  <Override PartName="/ppt/slides/slide3.xml" ContentType="application/vnd.openxmlformats-officedocument.presentationml.slide+xml"/>
  <Override PartName="/ppt/slideMasters/slideMaster4.xml" ContentType="application/vnd.openxmlformats-officedocument.presentationml.slideMaster+xml"/>
  <Override PartName="/ppt/slides/slide4.xml" ContentType="application/vnd.openxmlformats-officedocument.presentationml.slide+xml"/>
  <Override PartName="/ppt/slideMasters/slideMaster5.xml" ContentType="application/vnd.openxmlformats-officedocument.presentationml.slideMaster+xml"/>
  <Override PartName="/ppt/slides/slide5.xml" ContentType="application/vnd.openxmlformats-officedocument.presentationml.slide+xml"/>
  <Override PartName="/ppt/slideMasters/slideMaster6.xml" ContentType="application/vnd.openxmlformats-officedocument.presentationml.slideMaster+xml"/>
  <Override PartName="/ppt/slides/slide6.xml" ContentType="application/vnd.openxmlformats-officedocument.presentationml.slide+xml"/>
  <Override PartName="/ppt/slideMasters/slideMaster7.xml" ContentType="application/vnd.openxmlformats-officedocument.presentationml.slideMaster+xml"/>
  <Override PartName="/ppt/slides/slide7.xml" ContentType="application/vnd.openxmlformats-officedocument.presentationml.slide+xml"/>
  <Override PartName="/ppt/slideMasters/slideMaster8.xml" ContentType="application/vnd.openxmlformats-officedocument.presentationml.slideMaster+xml"/>
  <Override PartName="/ppt/slides/slide8.xml" ContentType="application/vnd.openxmlformats-officedocument.presentationml.slide+xml"/>
  <Override PartName="/ppt/slideMasters/slideMaster9.xml" ContentType="application/vnd.openxmlformats-officedocument.presentationml.slideMaster+xml"/>
  <Override PartName="/ppt/slides/slide9.xml" ContentType="application/vnd.openxmlformats-officedocument.presentationml.slide+xml"/>
  <Override PartName="/ppt/slideMasters/slideMaster10.xml" ContentType="application/vnd.openxmlformats-officedocument.presentationml.slideMaster+xml"/>
  <Override PartName="/ppt/slides/slide10.xml" ContentType="application/vnd.openxmlformats-officedocument.presentationml.slide+xml"/>
  <Override PartName="/ppt/slideMasters/slideMaster11.xml" ContentType="application/vnd.openxmlformats-officedocument.presentationml.slideMaster+xml"/>
  <Override PartName="/ppt/slides/slide11.xml" ContentType="application/vnd.openxmlformats-officedocument.presentationml.slide+xml"/>
  <Override PartName="/ppt/slideMasters/slideMaster12.xml" ContentType="application/vnd.openxmlformats-officedocument.presentationml.slideMaster+xml"/>
  <Override PartName="/ppt/slides/slide12.xml" ContentType="application/vnd.openxmlformats-officedocument.presentationml.slide+xml"/>
  <Override PartName="/ppt/slideMasters/slideMaster13.xml" ContentType="application/vnd.openxmlformats-officedocument.presentationml.slideMaster+xml"/>
  <Override PartName="/ppt/slides/slide13.xml" ContentType="application/vnd.openxmlformats-officedocument.presentationml.slide+xml"/>
  <Override PartName="/ppt/slideMasters/slideMaster14.xml" ContentType="application/vnd.openxmlformats-officedocument.presentationml.slideMaster+xml"/>
  <Override PartName="/ppt/slides/slide14.xml" ContentType="application/vnd.openxmlformats-officedocument.presentationml.slide+xml"/>
  <Override PartName="/ppt/slideMasters/slideMaster15.xml" ContentType="application/vnd.openxmlformats-officedocument.presentationml.slideMaster+xml"/>
  <Override PartName="/ppt/slides/slide15.xml" ContentType="application/vnd.openxmlformats-officedocument.presentationml.slide+xml"/>
  <Override PartName="/ppt/slideMasters/slideMaster16.xml" ContentType="application/vnd.openxmlformats-officedocument.presentationml.slideMaster+xml"/>
  <Override PartName="/ppt/slides/slide16.xml" ContentType="application/vnd.openxmlformats-officedocument.presentationml.slide+xml"/>
  <Override PartName="/ppt/presProps.xml" ContentType="application/vnd.openxmlformats-officedocument.presentationml.presProps+xml"/>
  <Override PartName="/ppt/viewProps.xml" ContentType="application/vnd.openxmlformats-officedocument.presentationml.viewProps+xml"/>
  <Override PartName="/ppt/theme/theme1.xml" ContentType="application/vnd.openxmlformats-officedocument.theme+xml"/>
  <Override PartName="/ppt/tableStyles.xml" ContentType="application/vnd.openxmlformats-officedocument.presentationml.tableStyles+xml"/>
  <Override PartName="/ppt/slideLayouts/slideLayout1.xml" ContentType="application/vnd.openxmlformats-officedocument.presentationml.slideLayout+xml"/>
  <Override PartName="/ppt/slideLayouts/slideLayout2.xml" ContentType="application/vnd.openxmlformats-officedocument.presentationml.slideLayout+xml"/>
  <Override PartName="/ppt/notesSlides/notesSlide1.xml" ContentType="application/vnd.openxmlformats-officedocument.presentationml.notesSlide+xml"/>
  <Override PartName="/ppt/notesSlides/notesSlide2.xml" ContentType="application/vnd.openxmlformats-officedocument.presentationml.notesSlide+xml"/>
  <Override PartName="/ppt/notesSlides/notesSlide3.xml" ContentType="application/vnd.openxmlformats-officedocument.presentationml.notesSlide+xml"/>
  <Override PartName="/ppt/notesSlides/notesSlide4.xml" ContentType="application/vnd.openxmlformats-officedocument.presentationml.notesSlide+xml"/>
  <Override PartName="/ppt/notesSlides/notesSlide5.xml" ContentType="application/vnd.openxmlformats-officedocument.presentationml.notesSlide+xml"/>
  <Override PartName="/ppt/notesSlides/notesSlide6.xml" ContentType="application/vnd.openxmlformats-officedocument.presentationml.notesSlide+xml"/>
  <Override PartName="/ppt/notesSlides/notesSlide7.xml" ContentType="application/vnd.openxmlformats-officedocument.presentationml.notesSlide+xml"/>
  <Override PartName="/ppt/notesSlides/notesSlide8.xml" ContentType="application/vnd.openxmlformats-officedocument.presentationml.notesSlide+xml"/>
  <Override PartName="/ppt/notesSlides/notesSlide9.xml" ContentType="application/vnd.openxmlformats-officedocument.presentationml.notesSlide+xml"/>
  <Override PartName="/ppt/notesSlides/notesSlide10.xml" ContentType="application/vnd.openxmlformats-officedocument.presentationml.notesSlide+xml"/>
  <Override PartName="/ppt/notesSlides/notesSlide11.xml" ContentType="application/vnd.openxmlformats-officedocument.presentationml.notesSlide+xml"/>
  <Override PartName="/ppt/notesSlides/notesSlide12.xml" ContentType="application/vnd.openxmlformats-officedocument.presentationml.notesSlide+xml"/>
  <Override PartName="/ppt/notesSlides/notesSlide13.xml" ContentType="application/vnd.openxmlformats-officedocument.presentationml.notesSlide+xml"/>
  <Override PartName="/ppt/notesSlides/notesSlide14.xml" ContentType="application/vnd.openxmlformats-officedocument.presentationml.notesSlide+xml"/>
  <Override PartName="/ppt/notesSlides/notesSlide15.xml" ContentType="application/vnd.openxmlformats-officedocument.presentationml.notesSlide+xml"/>
  <Override PartName="/ppt/notesSlides/notesSlide16.xml" ContentType="application/vnd.openxmlformats-officedocument.presentationml.notesSlide+xml"/>
  <Override PartName="/docProps/core.xml" ContentType="application/vnd.openxmlformats-package.core-properties+xml"/>
  <Override PartName="/docProps/app.xml" ContentType="application/vnd.openxmlformats-officedocument.extended-properties+xml"/>
</Types>
</file>

<file path=_rels/.rels><?xml version="1.0" encoding="UTF-8" standalone="yes"?>
<Relationships xmlns="http://schemas.openxmlformats.org/package/2006/relationships">
		<Relationship Id="rId1" Type="http://schemas.openxmlformats.org/officeDocument/2006/relationships/extended-properties" Target="docProps/app.xml"/>
		<Relationship Id="rId2" Type="http://schemas.openxmlformats.org/package/2006/relationships/metadata/core-properties" Target="docProps/core.xml"/>
		<Relationship Id="rId3" Type="http://schemas.openxmlformats.org/officeDocument/2006/relationships/officeDocument" Target="ppt/presentation.xml"/>
		</Relationships>
</file>

<file path=ppt/presentation.xml><?xml version="1.0" encoding="utf-8"?>
<p:presentation xmlns:a="http://schemas.openxmlformats.org/drawingml/2006/main" xmlns:r="http://schemas.openxmlformats.org/officeDocument/2006/relationships" xmlns:p="http://schemas.openxmlformats.org/presentationml/2006/main" saveSubsetFonts="1" autoCompressPictures="0">
  <p:sldMasterIdLst>
    <p:sldMasterId id="2147483648" r:id="rId1"/>
  </p:sldMasterIdLst>
  <p:sldIdLst>
    <p:sldId id="256" r:id="rId2"/>
    <p:sldId id="257" r:id="rId3"/>
    <p:sldId id="258" r:id="rId4"/>
    <p:sldId id="259" r:id="rId5"/>
    <p:sldId id="260" r:id="rId6"/>
    <p:sldId id="261" r:id="rId7"/>
    <p:sldId id="262" r:id="rId8"/>
    <p:sldId id="263" r:id="rId9"/>
    <p:sldId id="264" r:id="rId10"/>
    <p:sldId id="265" r:id="rId11"/>
    <p:sldId id="266" r:id="rId12"/>
    <p:sldId id="267" r:id="rId13"/>
    <p:sldId id="268" r:id="rId14"/>
    <p:sldId id="269" r:id="rId15"/>
    <p:sldId id="270" r:id="rId16"/>
    <p:sldId id="271" r:id="rId17"/>
  </p:sldIdLst>
  <p:notesMasterIdLst>
    <p:notesMasterId r:id="rId18"/>
  </p:notesMasterIdLst>
  <p:sldSz cx="12192000" cy="6858000"/>
  <p:notesSz cx="6858000" cy="12192000"/>
  <p:defaultTextStyle>
    <a:lvl1pPr marL="0" algn="l" defTabSz="914400" rtl="0" eaLnBrk="1" latinLnBrk="0" hangingPunct="1">
      <a:defRPr sz="1800" kern="1200">
        <a:solidFill>
          <a:schemeClr val="tx1"/>
        </a:solidFill>
        <a:latin typeface="+mn-lt"/>
        <a:ea typeface="+mn-ea"/>
        <a:cs typeface="+mn-cs"/>
      </a:defRPr>
    </a:lvl1pPr>
    <a:lvl2pPr marL="457200" algn="l" defTabSz="914400" rtl="0" eaLnBrk="1" latinLnBrk="0" hangingPunct="1">
      <a:defRPr sz="1800" kern="1200">
        <a:solidFill>
          <a:schemeClr val="tx1"/>
        </a:solidFill>
        <a:latin typeface="+mn-lt"/>
        <a:ea typeface="+mn-ea"/>
        <a:cs typeface="+mn-cs"/>
      </a:defRPr>
    </a:lvl2pPr>
    <a:lvl3pPr marL="914400" algn="l" defTabSz="914400" rtl="0" eaLnBrk="1" latinLnBrk="0" hangingPunct="1">
      <a:defRPr sz="1800" kern="1200">
        <a:solidFill>
          <a:schemeClr val="tx1"/>
        </a:solidFill>
        <a:latin typeface="+mn-lt"/>
        <a:ea typeface="+mn-ea"/>
        <a:cs typeface="+mn-cs"/>
      </a:defRPr>
    </a:lvl3pPr>
    <a:lvl4pPr marL="1371600" algn="l" defTabSz="914400" rtl="0" eaLnBrk="1" latinLnBrk="0" hangingPunct="1">
      <a:defRPr sz="1800" kern="1200">
        <a:solidFill>
          <a:schemeClr val="tx1"/>
        </a:solidFill>
        <a:latin typeface="+mn-lt"/>
        <a:ea typeface="+mn-ea"/>
        <a:cs typeface="+mn-cs"/>
      </a:defRPr>
    </a:lvl4pPr>
    <a:lvl5pPr marL="1828800" algn="l" defTabSz="914400" rtl="0" eaLnBrk="1" latinLnBrk="0" hangingPunct="1">
      <a:defRPr sz="1800" kern="1200">
        <a:solidFill>
          <a:schemeClr val="tx1"/>
        </a:solidFill>
        <a:latin typeface="+mn-lt"/>
        <a:ea typeface="+mn-ea"/>
        <a:cs typeface="+mn-cs"/>
      </a:defRPr>
    </a:lvl5pPr>
    <a:lvl6pPr marL="2286000" algn="l" defTabSz="914400" rtl="0" eaLnBrk="1" latinLnBrk="0" hangingPunct="1">
      <a:defRPr sz="1800" kern="1200">
        <a:solidFill>
          <a:schemeClr val="tx1"/>
        </a:solidFill>
        <a:latin typeface="+mn-lt"/>
        <a:ea typeface="+mn-ea"/>
        <a:cs typeface="+mn-cs"/>
      </a:defRPr>
    </a:lvl6pPr>
    <a:lvl7pPr marL="2743200" algn="l" defTabSz="914400" rtl="0" eaLnBrk="1" latinLnBrk="0" hangingPunct="1">
      <a:defRPr sz="1800" kern="1200">
        <a:solidFill>
          <a:schemeClr val="tx1"/>
        </a:solidFill>
        <a:latin typeface="+mn-lt"/>
        <a:ea typeface="+mn-ea"/>
        <a:cs typeface="+mn-cs"/>
      </a:defRPr>
    </a:lvl7pPr>
    <a:lvl8pPr marL="3200400" algn="l" defTabSz="914400" rtl="0" eaLnBrk="1" latinLnBrk="0" hangingPunct="1">
      <a:defRPr sz="1800" kern="1200">
        <a:solidFill>
          <a:schemeClr val="tx1"/>
        </a:solidFill>
        <a:latin typeface="+mn-lt"/>
        <a:ea typeface="+mn-ea"/>
        <a:cs typeface="+mn-cs"/>
      </a:defRPr>
    </a:lvl8pPr>
    <a:lvl9pPr marL="3657600" algn="l" defTabSz="914400" rtl="0" eaLnBrk="1" latinLnBrk="0" hangingPunct="1">
      <a:defRPr sz="1800" kern="1200">
        <a:solidFill>
          <a:schemeClr val="tx1"/>
        </a:solidFill>
        <a:latin typeface="+mn-lt"/>
        <a:ea typeface="+mn-ea"/>
        <a:cs typeface="+mn-cs"/>
      </a:defRPr>
    </a:lvl9pPr>
  </p:defaultTextStyle>
</p:presentation>
</file>

<file path=ppt/presProps.xml><?xml version="1.0" encoding="utf-8"?>
<p:presentationPr xmlns:a="http://schemas.openxmlformats.org/drawingml/2006/main" xmlns:r="http://schemas.openxmlformats.org/officeDocument/2006/relationships" xmlns:p="http://schemas.openxmlformats.org/presentationml/2006/main"/>
</file>

<file path=ppt/tableStyles.xml><?xml version="1.0" encoding="utf-8"?>
<a:tblStyleLst xmlns:a="http://schemas.openxmlformats.org/drawingml/2006/main" def="{5C22544A-7EE6-4342-B048-85BDC9FD1C3A}"/>
</file>

<file path=ppt/viewProps.xml><?xml version="1.0" encoding="utf-8"?>
<p:viewPr xmlns:a="http://schemas.openxmlformats.org/drawingml/2006/main" xmlns:r="http://schemas.openxmlformats.org/officeDocument/2006/relationships" xmlns:p="http://schemas.openxmlformats.org/presentationml/2006/main">
  <p:normalViewPr horzBarState="maximized">
    <p:restoredLeft sz="15611"/>
    <p:restoredTop sz="94610"/>
  </p:normalViewPr>
  <p:slideViewPr>
    <p:cSldViewPr snapToGrid="0" snapToObjects="1">
      <p:cViewPr varScale="1">
        <p:scale>
          <a:sx n="136" d="100"/>
          <a:sy n="136" d="100"/>
        </p:scale>
        <p:origin x="216" y="312"/>
      </p:cViewPr>
      <p:guideLst/>
    </p:cSldViewPr>
  </p:slideViewPr>
  <p:notesTextViewPr>
    <p:cViewPr>
      <p:scale>
        <a:sx n="1" d="1"/>
        <a:sy n="1" d="1"/>
      </p:scale>
      <p:origin x="0" y="0"/>
    </p:cViewPr>
  </p:notesTextViewPr>
  <p:gridSpacing cx="76200" cy="76200"/>
</p:viewPr>
</file>

<file path=ppt/_rels/presentation.xml.rels><?xml version="1.0" encoding="UTF-8" standalone="yes"?>
<Relationships xmlns="http://schemas.openxmlformats.org/package/2006/relationships"><Relationship Id="rId1" Type="http://schemas.openxmlformats.org/officeDocument/2006/relationships/slideMaster" Target="slideMasters/slideMaster1.xml"/><Relationship Id="rId2" Type="http://schemas.openxmlformats.org/officeDocument/2006/relationships/slide" Target="slides/slide1.xml"/><Relationship Id="rId3" Type="http://schemas.openxmlformats.org/officeDocument/2006/relationships/slide" Target="slides/slide2.xml"/><Relationship Id="rId4" Type="http://schemas.openxmlformats.org/officeDocument/2006/relationships/slide" Target="slides/slide3.xml"/><Relationship Id="rId5" Type="http://schemas.openxmlformats.org/officeDocument/2006/relationships/slide" Target="slides/slide4.xml"/><Relationship Id="rId6" Type="http://schemas.openxmlformats.org/officeDocument/2006/relationships/slide" Target="slides/slide5.xml"/><Relationship Id="rId7" Type="http://schemas.openxmlformats.org/officeDocument/2006/relationships/slide" Target="slides/slide6.xml"/><Relationship Id="rId8" Type="http://schemas.openxmlformats.org/officeDocument/2006/relationships/slide" Target="slides/slide7.xml"/><Relationship Id="rId9" Type="http://schemas.openxmlformats.org/officeDocument/2006/relationships/slide" Target="slides/slide8.xml"/><Relationship Id="rId10" Type="http://schemas.openxmlformats.org/officeDocument/2006/relationships/slide" Target="slides/slide9.xml"/><Relationship Id="rId11" Type="http://schemas.openxmlformats.org/officeDocument/2006/relationships/slide" Target="slides/slide10.xml"/><Relationship Id="rId12" Type="http://schemas.openxmlformats.org/officeDocument/2006/relationships/slide" Target="slides/slide11.xml"/><Relationship Id="rId13" Type="http://schemas.openxmlformats.org/officeDocument/2006/relationships/slide" Target="slides/slide12.xml"/><Relationship Id="rId14" Type="http://schemas.openxmlformats.org/officeDocument/2006/relationships/slide" Target="slides/slide13.xml"/><Relationship Id="rId15" Type="http://schemas.openxmlformats.org/officeDocument/2006/relationships/slide" Target="slides/slide14.xml"/><Relationship Id="rId16" Type="http://schemas.openxmlformats.org/officeDocument/2006/relationships/slide" Target="slides/slide15.xml"/><Relationship Id="rId17" Type="http://schemas.openxmlformats.org/officeDocument/2006/relationships/slide" Target="slides/slide16.xml"/><Relationship Id="rId18" Type="http://schemas.openxmlformats.org/officeDocument/2006/relationships/notesMaster" Target="notesMasters/notesMaster1.xml"/><Relationship Id="rId19" Type="http://schemas.openxmlformats.org/officeDocument/2006/relationships/presProps" Target="presProps.xml"/><Relationship Id="rId20" Type="http://schemas.openxmlformats.org/officeDocument/2006/relationships/viewProps" Target="viewProps.xml"/><Relationship Id="rId21" Type="http://schemas.openxmlformats.org/officeDocument/2006/relationships/theme" Target="theme/theme1.xml"/><Relationship Id="rId22" Type="http://schemas.openxmlformats.org/officeDocument/2006/relationships/tableStyles" Target="tableStyles.xml"/></Relationships>
</file>

<file path=ppt/notesMasters/_rels/notesMaster1.xml.rels><?xml version="1.0" encoding="UTF-8" standalone="yes"?>
<Relationships xmlns="http://schemas.openxmlformats.org/package/2006/relationships">
		<Relationship Id="rId1" Type="http://schemas.openxmlformats.org/officeDocument/2006/relationships/theme" Target="../theme/theme1.xml"/>
		</Relationships>
</file>

<file path=ppt/notesMasters/notesMaster1.xml><?xml version="1.0" encoding="utf-8"?>
<p:notesMaster xmlns:a="http://schemas.openxmlformats.org/drawingml/2006/main" xmlns:r="http://schemas.openxmlformats.org/officeDocument/2006/relationships" xmlns:p="http://schemas.openxmlformats.org/presentationml/2006/main">
  <p:cSld>
    <p:bg>
      <p:bgRef idx="1001">
        <a:schemeClr val="bg1"/>
      </p:bgRef>
    </p:bg>
    <p:spTree>
      <p:nvGrpSpPr>
        <p:cNvPr id="1" name=""/>
        <p:cNvGrpSpPr/>
        <p:nvPr/>
      </p:nvGrpSpPr>
      <p:grpSpPr>
        <a:xfrm>
          <a:off x="0" y="0"/>
          <a:ext cx="0" cy="0"/>
          <a:chOff x="0" y="0"/>
          <a:chExt cx="0" cy="0"/>
        </a:xfrm>
      </p:grpSpPr>
      <p:sp>
        <p:nvSpPr>
          <p:cNvPr id="2" name="Header Placeholder 1"/>
          <p:cNvSpPr>
            <a:spLocks noGrp="1"/>
          </p:cNvSpPr>
          <p:nvPr>
            <p:ph type="hdr" sz="quarter"/>
          </p:nvPr>
        </p:nvSpPr>
        <p:spPr>
          <a:xfrm>
            <a:off x="0" y="0"/>
            <a:ext cx="2971800" cy="458788"/>
          </a:xfrm>
          <a:prstGeom prst="rect">
            <a:avLst/>
          </a:prstGeom>
        </p:spPr>
        <p:txBody>
          <a:bodyPr vert="horz" lIns="91440" tIns="45720" rIns="91440" bIns="45720" rtlCol="0"/>
          <a:lstStyle>
            <a:lvl1pPr algn="l">
              <a:defRPr sz="1200"/>
            </a:lvl1pPr>
          </a:lstStyle>
          <a:p>
            <a:endParaRPr lang="en-US"/>
          </a:p>
        </p:txBody>
      </p:sp>
      <p:sp>
        <p:nvSpPr>
          <p:cNvPr id="3" name="Date Placeholder 2"/>
          <p:cNvSpPr>
            <a:spLocks noGrp="1"/>
          </p:cNvSpPr>
          <p:nvPr>
            <p:ph type="dt" idx="1"/>
          </p:nvPr>
        </p:nvSpPr>
        <p:spPr>
          <a:xfrm>
            <a:off x="3884613" y="0"/>
            <a:ext cx="2971800" cy="458788"/>
          </a:xfrm>
          <a:prstGeom prst="rect">
            <a:avLst/>
          </a:prstGeom>
        </p:spPr>
        <p:txBody>
          <a:bodyPr vert="horz" lIns="91440" tIns="45720" rIns="91440" bIns="45720" rtlCol="0"/>
          <a:lstStyle>
            <a:lvl1pPr algn="r">
              <a:defRPr sz="1200"/>
            </a:lvl1pPr>
          </a:lstStyle>
          <a:p>
            <a:fld id="{5282F153-3F37-0F45-9E97-73ACFA13230C}" type="datetimeFigureOut">
              <a:rPr lang="en-US"/>
              <a:t>7/23/19</a:t>
            </a:fld>
            <a:endParaRPr lang="en-US"/>
          </a:p>
        </p:txBody>
      </p:sp>
      <p:sp>
        <p:nvSpPr>
          <p:cNvPr id="4" name="Slide Image Placeholder 3"/>
          <p:cNvSpPr>
            <a:spLocks noGrp="1" noRot="1" noChangeAspect="1"/>
          </p:cNvSpPr>
          <p:nvPr>
            <p:ph type="sldImg" idx="2"/>
          </p:nvPr>
        </p:nvSpPr>
        <p:spPr>
          <a:xfrm>
            <a:off x="685800" y="1143000"/>
            <a:ext cx="5486400" cy="3086100"/>
          </a:xfrm>
          <a:prstGeom prst="rect">
            <a:avLst/>
          </a:prstGeom>
          <a:noFill/>
          <a:ln w="12700">
            <a:solidFill>
              <a:prstClr val="black"/>
            </a:solidFill>
          </a:ln>
        </p:spPr>
        <p:txBody>
          <a:bodyPr vert="horz" lIns="91440" tIns="45720" rIns="91440" bIns="45720" rtlCol="0" anchor="ctr"/>
          <a:lstStyle/>
          <a:p>
            <a:endParaRPr lang="en-US"/>
          </a:p>
        </p:txBody>
      </p:sp>
      <p:sp>
        <p:nvSpPr>
          <p:cNvPr id="5" name="Notes Placeholder 4"/>
          <p:cNvSpPr>
            <a:spLocks noGrp="1"/>
          </p:cNvSpPr>
          <p:nvPr>
            <p:ph type="body" sz="quarter" idx="3"/>
          </p:nvPr>
        </p:nvSpPr>
        <p:spPr>
          <a:xfrm>
            <a:off x="685800" y="4400550"/>
            <a:ext cx="5486400" cy="3600450"/>
          </a:xfrm>
          <a:prstGeom prst="rect">
            <a:avLst/>
          </a:prstGeom>
        </p:spPr>
        <p:txBody>
          <a:bodyPr vert="horz" lIns="91440" tIns="45720" rIns="91440" bIns="45720" rtlCol="0"/>
          <a:lstStyle/>
          <a:p>
            <a:pPr lvl="0"/>
            <a:r>
              <a:rPr lang="en-US"/>
              <a:t>Click to edit Master text styles</a:t>
            </a:r>
          </a:p>
          <a:p>
            <a:pPr lvl="1"/>
            <a:r>
              <a:rPr lang="en-US"/>
              <a:t>Second level</a:t>
            </a:r>
          </a:p>
          <a:p>
            <a:pPr lvl="2"/>
            <a:r>
              <a:rPr lang="en-US"/>
              <a:t>Third level</a:t>
            </a:r>
          </a:p>
          <a:p>
            <a:pPr lvl="3"/>
            <a:r>
              <a:rPr lang="en-US"/>
              <a:t>Fourth level</a:t>
            </a:r>
          </a:p>
          <a:p>
            <a:pPr lvl="4"/>
            <a:r>
              <a:rPr lang="en-US"/>
              <a:t>Fifth level</a:t>
            </a:r>
          </a:p>
        </p:txBody>
      </p:sp>
      <p:sp>
        <p:nvSpPr>
          <p:cNvPr id="6" name="Footer Placeholder 5"/>
          <p:cNvSpPr>
            <a:spLocks noGrp="1"/>
          </p:cNvSpPr>
          <p:nvPr>
            <p:ph type="ftr" sz="quarter" idx="4"/>
          </p:nvPr>
        </p:nvSpPr>
        <p:spPr>
          <a:xfrm>
            <a:off x="0" y="8685213"/>
            <a:ext cx="2971800" cy="458787"/>
          </a:xfrm>
          <a:prstGeom prst="rect">
            <a:avLst/>
          </a:prstGeom>
        </p:spPr>
        <p:txBody>
          <a:bodyPr vert="horz" lIns="91440" tIns="45720" rIns="91440" bIns="45720" rtlCol="0" anchor="b"/>
          <a:lstStyle>
            <a:lvl1pPr algn="l">
              <a:defRPr sz="1200"/>
            </a:lvl1pPr>
          </a:lstStyle>
          <a:p>
            <a:endParaRPr lang="en-US"/>
          </a:p>
        </p:txBody>
      </p:sp>
      <p:sp>
        <p:nvSpPr>
          <p:cNvPr id="7" name="Slide Number Placeholder 6"/>
          <p:cNvSpPr>
            <a:spLocks noGrp="1"/>
          </p:cNvSpPr>
          <p:nvPr>
            <p:ph type="sldNum" sz="quarter" idx="5"/>
          </p:nvPr>
        </p:nvSpPr>
        <p:spPr>
          <a:xfrm>
            <a:off x="3884613" y="8685213"/>
            <a:ext cx="2971800" cy="458787"/>
          </a:xfrm>
          <a:prstGeom prst="rect">
            <a:avLst/>
          </a:prstGeom>
        </p:spPr>
        <p:txBody>
          <a:bodyPr vert="horz" lIns="91440" tIns="45720" rIns="91440" bIns="45720" rtlCol="0" anchor="b"/>
          <a:lstStyle>
            <a:lvl1pPr algn="r">
              <a:defRPr sz="1200"/>
            </a:lvl1pPr>
          </a:lstStyle>
          <a:p>
            <a:fld id="{CE5E9CC1-C706-0F49-92D6-E571CC5EEA8F}" type="slidenum">
              <a:rPr lang="en-US"/>
              <a:t>‹#›</a:t>
            </a:fld>
            <a:endParaRPr lang="en-US"/>
          </a:p>
        </p:txBody>
      </p:sp>
    </p:spTree>
    <p:extLst>
      <p:ext uri="{BB962C8B-B14F-4D97-AF65-F5344CB8AC3E}">
        <p14:creationId xmlns:p14="http://schemas.microsoft.com/office/powerpoint/2010/main" val="1024086991"/>
      </p:ext>
    </p:extLst>
  </p:cSld>
  <p:clrMap bg1="lt1" tx1="dk1" bg2="lt2" tx2="dk2" accent1="accent1" accent2="accent2" accent3="accent3" accent4="accent4" accent5="accent5" accent6="accent6" hlink="hlink" folHlink="folHlink"/>
  <p:notesStyle>
    <a:lvl1pPr marL="0" algn="l" defTabSz="914400" rtl="0" eaLnBrk="1" latinLnBrk="0" hangingPunct="1">
      <a:defRPr sz="1200" kern="1200">
        <a:solidFill>
          <a:schemeClr val="tx1"/>
        </a:solidFill>
        <a:latin typeface="+mn-lt"/>
        <a:ea typeface="+mn-ea"/>
        <a:cs typeface="+mn-cs"/>
      </a:defRPr>
    </a:lvl1pPr>
    <a:lvl2pPr marL="457200" algn="l" defTabSz="914400" rtl="0" eaLnBrk="1" latinLnBrk="0" hangingPunct="1">
      <a:defRPr sz="1200" kern="1200">
        <a:solidFill>
          <a:schemeClr val="tx1"/>
        </a:solidFill>
        <a:latin typeface="+mn-lt"/>
        <a:ea typeface="+mn-ea"/>
        <a:cs typeface="+mn-cs"/>
      </a:defRPr>
    </a:lvl2pPr>
    <a:lvl3pPr marL="914400" algn="l" defTabSz="914400" rtl="0" eaLnBrk="1" latinLnBrk="0" hangingPunct="1">
      <a:defRPr sz="1200" kern="1200">
        <a:solidFill>
          <a:schemeClr val="tx1"/>
        </a:solidFill>
        <a:latin typeface="+mn-lt"/>
        <a:ea typeface="+mn-ea"/>
        <a:cs typeface="+mn-cs"/>
      </a:defRPr>
    </a:lvl3pPr>
    <a:lvl4pPr marL="1371600" algn="l" defTabSz="914400" rtl="0" eaLnBrk="1" latinLnBrk="0" hangingPunct="1">
      <a:defRPr sz="1200" kern="1200">
        <a:solidFill>
          <a:schemeClr val="tx1"/>
        </a:solidFill>
        <a:latin typeface="+mn-lt"/>
        <a:ea typeface="+mn-ea"/>
        <a:cs typeface="+mn-cs"/>
      </a:defRPr>
    </a:lvl4pPr>
    <a:lvl5pPr marL="1828800" algn="l" defTabSz="914400" rtl="0" eaLnBrk="1" latinLnBrk="0" hangingPunct="1">
      <a:defRPr sz="1200" kern="1200">
        <a:solidFill>
          <a:schemeClr val="tx1"/>
        </a:solidFill>
        <a:latin typeface="+mn-lt"/>
        <a:ea typeface="+mn-ea"/>
        <a:cs typeface="+mn-cs"/>
      </a:defRPr>
    </a:lvl5pPr>
    <a:lvl6pPr marL="2286000" algn="l" defTabSz="914400" rtl="0" eaLnBrk="1" latinLnBrk="0" hangingPunct="1">
      <a:defRPr sz="1200" kern="1200">
        <a:solidFill>
          <a:schemeClr val="tx1"/>
        </a:solidFill>
        <a:latin typeface="+mn-lt"/>
        <a:ea typeface="+mn-ea"/>
        <a:cs typeface="+mn-cs"/>
      </a:defRPr>
    </a:lvl6pPr>
    <a:lvl7pPr marL="2743200" algn="l" defTabSz="914400" rtl="0" eaLnBrk="1" latinLnBrk="0" hangingPunct="1">
      <a:defRPr sz="1200" kern="1200">
        <a:solidFill>
          <a:schemeClr val="tx1"/>
        </a:solidFill>
        <a:latin typeface="+mn-lt"/>
        <a:ea typeface="+mn-ea"/>
        <a:cs typeface="+mn-cs"/>
      </a:defRPr>
    </a:lvl7pPr>
    <a:lvl8pPr marL="3200400" algn="l" defTabSz="914400" rtl="0" eaLnBrk="1" latinLnBrk="0" hangingPunct="1">
      <a:defRPr sz="1200" kern="1200">
        <a:solidFill>
          <a:schemeClr val="tx1"/>
        </a:solidFill>
        <a:latin typeface="+mn-lt"/>
        <a:ea typeface="+mn-ea"/>
        <a:cs typeface="+mn-cs"/>
      </a:defRPr>
    </a:lvl8pPr>
    <a:lvl9pPr marL="3657600" algn="l" defTabSz="914400" rtl="0" eaLnBrk="1" latinLnBrk="0" hangingPunct="1">
      <a:defRPr sz="1200" kern="1200">
        <a:solidFill>
          <a:schemeClr val="tx1"/>
        </a:solidFill>
        <a:latin typeface="+mn-lt"/>
        <a:ea typeface="+mn-ea"/>
        <a:cs typeface="+mn-cs"/>
      </a:defRPr>
    </a:lvl9pPr>
  </p:notesStyle>
</p:notesMaster>
</file>

<file path=ppt/notesSlides/_rels/notesSlide1.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1.xml"/>
		</Relationships>
</file>

<file path=ppt/notesSlides/_rels/notesSlide2.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2.xml"/>
		</Relationships>
</file>

<file path=ppt/notesSlides/_rels/notesSlide3.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3.xml"/>
		</Relationships>
</file>

<file path=ppt/notesSlides/_rels/notesSlide4.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4.xml"/>
		</Relationships>
</file>

<file path=ppt/notesSlides/_rels/notesSlide5.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5.xml"/>
		</Relationships>
</file>

<file path=ppt/notesSlides/_rels/notesSlide6.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6.xml"/>
		</Relationships>
</file>

<file path=ppt/notesSlides/_rels/notesSlide7.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7.xml"/>
		</Relationships>
</file>

<file path=ppt/notesSlides/_rels/notesSlide8.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8.xml"/>
		</Relationships>
</file>

<file path=ppt/notesSlides/_rels/notesSlide9.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9.xml"/>
		</Relationships>
</file>

<file path=ppt/notesSlides/_rels/notesSlide10.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10.xml"/>
		</Relationships>
</file>

<file path=ppt/notesSlides/_rels/notesSlide11.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11.xml"/>
		</Relationships>
</file>

<file path=ppt/notesSlides/_rels/notesSlide12.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12.xml"/>
		</Relationships>
</file>

<file path=ppt/notesSlides/_rels/notesSlide13.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13.xml"/>
		</Relationships>
</file>

<file path=ppt/notesSlides/_rels/notesSlide14.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14.xml"/>
		</Relationships>
</file>

<file path=ppt/notesSlides/_rels/notesSlide15.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15.xml"/>
		</Relationships>
</file>

<file path=ppt/notesSlides/_rels/notesSlide16.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16.xml"/>
		</Relationships>
</file>

<file path=ppt/notesSlides/notesSlide1.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Hi all. My project asks one question: when do random audits stop AI agents from over-using a shared resource? And can we predict the fine that stops them?</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1</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2.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Quick overview first. AI agents increasingly share limited resources, like compute, energy and budgets, and an overseer can only audit a few of their actions. So I built an audited shared resource: six agents, a reviewer who sets each agent's allowance, and random audits every round. I tested two things: what a caught agent should face (a fine, a memory of the offence, or both), and whether the stopping fine can be predicted in advance. Short answer: audits only work through consequences, and the stopping fine is predictable from what an agent gains by over-taking.</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2</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3.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The core idea is an allowance: what an agent may take this round. Taking more, which I call over-taking, helps that agent and costs everyone else. Auditing everything is too costly, so a random few are audited, like tax inspections. I run this in three settings where harm spreads differently: one shared stock, damage to neighbours on a ring, and pollution that is only harmful in combination. If a result holds in all three, it doesn't hinge on one structure.</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3</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4.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So, three questions. What must follow a catch? Can we predict the stopping fine? And do language models follow the same rule?</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4</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5.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Here's one round. Agents request a share. The reviewer predicts the effect and scales everyone by the same factor if needed. Agents then take their allowance, or more. The resource regrows, and random audits check a few agents. Harm means the resource dropping below half capacity: the maximum-sustainable-yield level, where it regrows fastest.</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5</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6.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The method has four steps. Play without fines and measure the gain from one round of over-taking. Predict the fine that should stop it. Freeze that prediction. Then test it on new games. The rule is Becker's: the expected fine, which is the audit probability times the fine, should beat the gain. With a one-in-six audit chance and a 30-tonne fine, that's 5 tonnes expected, just above the roughly 4.5 tonnes the models gained.</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6</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7.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Finding one, with programmed agents that under-report. Audits that only correct the caught round remove just 10 to 46 percent of the harm. Add memory, so the reviewer remembers each caught lie and adjusts later allowances, and harm falls in all 12 settings. In Fishery it goes from up to 99 percent of rounds below half capacity to under 3. A catch needs a consequence.</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7</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8.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Finding two: the threshold is predictable. From games without audits I predicted where programmed cheaters would stop, and 5 of 5 new settings landed within one step. To be fair, these agents optimise by design, so this mainly validates the method.</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8</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9.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Finding three: two shortcuts backfire. Cutting everyone's allowance to absorb the cheaters actually let cheaters gain more than with no audits at all. And always auditing the largest report caught only a quarter of the liars, against all of them with random audits. Shortcuts that save audits create blind spots.</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9</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10.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Now language models. Four open models ran four of the six fishers, over 520 games. Two over-took on purpose: gpt-oss and Nemotron. Before testing, I predicted both would stop at 30 tonnes. Nemotron stopped at exactly 30, and gpt-oss one step early, at 24. A side note: a small fine made gpt-oss over-take more, as if the fine became a price.</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10</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11.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Finding five: what predicts the stop is the gain from one round, not the gain over the whole game, which was near zero or even negative. Both models also stopped earlier than a perfect optimiser would. That tells us what predicts the stop, not necessarily why they stop.</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11</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12.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Memory works for language models too. With audits and memory but no fine, over-taking fell from 55 to 20 percent, and no lake collapsed. Memory reduces over-taking but doesn't stop it; a large enough fine does, with no loss of efficiency.</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12</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13.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These are running now, so the boxes are blank. The big one: do models respond to the expected fine, or just to the size of the fine? I hold the expected fine fixed and change the mix of audit probability and fine. The others test whether the prediction transfers to new games and reworded rules, what happens with no audits at all, and whether over-taking spreads to neighbours.</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13</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14.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Next: a workshop paper and arXiv in November, then a main conference in January. Every study was pre-registered before its code, and I report the predictions that failed.</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14</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15.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I'd love your take on these.</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15</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16.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Thanks!</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16</a:t>
            </a:fld>
            <a:endParaRPr lang="en-US"/>
          </a:p>
        </p:txBody>
      </p:sp>
    </p:spTree>
    <p:extLst>
      <p:ext uri="{BB962C8B-B14F-4D97-AF65-F5344CB8AC3E}">
        <p14:creationId xmlns:p14="http://schemas.microsoft.com/office/powerpoint/2010/main" val="1024086991"/>
      </p:ext>
    </p:extLst>
  </p:cSld>
  <p:clrMapOvr>
    <a:masterClrMapping/>
  </p:clrMapOvr>
</p:notes>
</file>

<file path=ppt/slideLayouts/_rels/slideLayout1.xml.rels><?xml version="1.0" encoding="UTF-8" standalone="yes"?>
<Relationships xmlns="http://schemas.openxmlformats.org/package/2006/relationships"><Relationship Id="rId1" Type="http://schemas.openxmlformats.org/officeDocument/2006/relationships/slideMaster" Target="../slideMasters/slideMaster1.xml"/></Relationships>
</file>

<file path=ppt/slideLayouts/_rels/slideLayout2.xml.rels><?xml version="1.0" encoding="UTF-8" standalone="yes"?>
<Relationships xmlns="http://schemas.openxmlformats.org/package/2006/relationships"><Relationship Id="rId1" Type="http://schemas.openxmlformats.org/officeDocument/2006/relationships/slideMaster" Target="../slideMasters/slideMaster1.xml"/></Relationships>
</file>

<file path=ppt/slideLayouts/slideLayout1.xml><?xml version="1.0" encoding="utf-8"?>
<p:sldLayout xmlns:a="http://schemas.openxmlformats.org/drawingml/2006/main" xmlns:r="http://schemas.openxmlformats.org/officeDocument/2006/relationships" xmlns:p="http://schemas.openxmlformats.org/presentationml/2006/main" preserve="1">
  <p:cSld name="DEFAULT">
    <p:bg>
      <p:bgRef idx="1001">
        <a:schemeClr val="bg1"/>
      </p:bgRef>
    </p:bg>
    <p:spTree>
      <p:nvGrpSpPr>
        <p:cNvPr id="1" name=""/>
        <p:cNvGrpSpPr/>
        <p:nvPr/>
      </p:nvGrpSpPr>
      <p:grpSpPr>
        <a:xfrm>
          <a:off x="0" y="0"/>
          <a:ext cx="0" cy="0"/>
          <a:chOff x="0" y="0"/>
          <a:chExt cx="0" cy="0"/>
        </a:xfrm>
      </p:grpSpPr>
    </p:spTree>
  </p:cSld>
  <p:clrMapOvr>
    <a:masterClrMapping/>
  </p:clrMapOvr>
</p:sldLayout>
</file>

<file path=ppt/slideLayouts/slideLayout2.xml><?xml version="1.0" encoding="utf-8"?>
<p:sldLayout xmlns:a="http://schemas.openxmlformats.org/drawingml/2006/main" xmlns:r="http://schemas.openxmlformats.org/officeDocument/2006/relationships" xmlns:p="http://schemas.openxmlformats.org/presentationml/2006/main" preserve="1">
  <p:cSld name="LIGHT">
    <p:bg>
      <p:bgPr>
        <a:solidFill>
          <a:srgbClr val="F5F4F2"/>
        </a:solidFill>
      </p:bgPr>
    </p:bg>
    <p:spTree>
      <p:nvGrpSpPr>
        <p:cNvPr id="1" name=""/>
        <p:cNvGrpSpPr/>
        <p:nvPr/>
      </p:nvGrpSpPr>
      <p:grpSpPr>
        <a:xfrm>
          <a:off x="0" y="0"/>
          <a:ext cx="0" cy="0"/>
          <a:chOff x="0" y="0"/>
          <a:chExt cx="0" cy="0"/>
        </a:xfrm>
      </p:grpSpPr>
    </p:spTree>
  </p:cSld>
  <p:clrMapOvr>
    <a:masterClrMapping/>
  </p:clrMapOvr>
</p:sldLayout>
</file>

<file path=ppt/slideMasters/_rels/slideMaster1.xml.rels><?xml version="1.0" encoding="UTF-8" standalone="yes"?>
<Relationships xmlns="http://schemas.openxmlformats.org/package/2006/relationships"><Relationship Id="rId1" Type="http://schemas.openxmlformats.org/officeDocument/2006/relationships/slideLayout" Target="../slideLayouts/slideLayout1.xml"/><Relationship Id="rId2" Type="http://schemas.openxmlformats.org/officeDocument/2006/relationships/slideLayout" Target="../slideLayouts/slideLayout2.xml"/><Relationship Id="rId3" Type="http://schemas.openxmlformats.org/officeDocument/2006/relationships/theme" Target="../theme/theme1.xml"/></Relationships>
</file>

<file path=ppt/slideMasters/slideMaster1.xml><?xml version="1.0" encoding="utf-8"?>
<p:sldMaster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Tree>
  </p:cSld>
  <p:clrMap bg1="lt1" tx1="dk1" bg2="lt2" tx2="dk2" accent1="accent1" accent2="accent2" accent3="accent3" accent4="accent4" accent5="accent5" accent6="accent6" hlink="hlink" folHlink="folHlink"/>
  <p:sldLayoutIdLst>
    <p:sldLayoutId id="2147483649" r:id="rId1"/>
    <p:sldLayoutId id="2147483650" r:id="rId2"/>
  </p:sldLayoutIdLst>
  <p:hf sldNum="0" hdr="0" ftr="0" dt="0"/>
  <p:txStyles>
    <p:titleStyle>
      <a:lvl1pPr algn="ctr" defTabSz="914400" rtl="0" eaLnBrk="1" latinLnBrk="0" hangingPunct="1">
        <a:spcBef>
          <a:spcPct val="0"/>
        </a:spcBef>
        <a:buNone/>
        <a:defRPr sz="4400" kern="1200">
          <a:solidFill>
            <a:schemeClr val="tx1"/>
          </a:solidFill>
          <a:latin typeface="+mj-lt"/>
          <a:ea typeface="+mj-ea"/>
          <a:cs typeface="+mj-cs"/>
        </a:defRPr>
      </a:lvl1pPr>
    </p:titleStyle>
    <p:bodyStyle>
      <a:lvl1pPr marL="342900" indent="-342900" algn="l" defTabSz="914400" rtl="0" eaLnBrk="1" latinLnBrk="0" hangingPunct="1">
        <a:spcBef>
          <a:spcPct val="20000"/>
        </a:spcBef>
        <a:buFont typeface="Arial" pitchFamily="34" charset="0"/>
        <a:buChar char="•"/>
        <a:defRPr sz="3200" kern="1200">
          <a:solidFill>
            <a:schemeClr val="tx1"/>
          </a:solidFill>
          <a:latin typeface="+mn-lt"/>
          <a:ea typeface="+mn-ea"/>
          <a:cs typeface="+mn-cs"/>
        </a:defRPr>
      </a:lvl1pPr>
      <a:lvl2pPr marL="742950" indent="-285750" algn="l" defTabSz="914400" rtl="0" eaLnBrk="1" latinLnBrk="0" hangingPunct="1">
        <a:spcBef>
          <a:spcPct val="20000"/>
        </a:spcBef>
        <a:buFont typeface="Arial" pitchFamily="34" charset="0"/>
        <a:buChar char="–"/>
        <a:defRPr sz="2800" kern="1200">
          <a:solidFill>
            <a:schemeClr val="tx1"/>
          </a:solidFill>
          <a:latin typeface="+mn-lt"/>
          <a:ea typeface="+mn-ea"/>
          <a:cs typeface="+mn-cs"/>
        </a:defRPr>
      </a:lvl2pPr>
      <a:lvl3pPr marL="1143000" indent="-228600" algn="l" defTabSz="914400" rtl="0" eaLnBrk="1" latinLnBrk="0" hangingPunct="1">
        <a:spcBef>
          <a:spcPct val="20000"/>
        </a:spcBef>
        <a:buFont typeface="Arial" pitchFamily="34" charset="0"/>
        <a:buChar char="•"/>
        <a:defRPr sz="2400" kern="1200">
          <a:solidFill>
            <a:schemeClr val="tx1"/>
          </a:solidFill>
          <a:latin typeface="+mn-lt"/>
          <a:ea typeface="+mn-ea"/>
          <a:cs typeface="+mn-cs"/>
        </a:defRPr>
      </a:lvl3pPr>
      <a:lvl4pPr marL="1600200" indent="-228600" algn="l" defTabSz="914400" rtl="0" eaLnBrk="1" latinLnBrk="0" hangingPunct="1">
        <a:spcBef>
          <a:spcPct val="20000"/>
        </a:spcBef>
        <a:buFont typeface="Arial" pitchFamily="34" charset="0"/>
        <a:buChar char="–"/>
        <a:defRPr sz="2000" kern="1200">
          <a:solidFill>
            <a:schemeClr val="tx1"/>
          </a:solidFill>
          <a:latin typeface="+mn-lt"/>
          <a:ea typeface="+mn-ea"/>
          <a:cs typeface="+mn-cs"/>
        </a:defRPr>
      </a:lvl4pPr>
      <a:lvl5pPr marL="2057400" indent="-228600" algn="l" defTabSz="914400" rtl="0" eaLnBrk="1" latinLnBrk="0" hangingPunct="1">
        <a:spcBef>
          <a:spcPct val="20000"/>
        </a:spcBef>
        <a:buFont typeface="Arial" pitchFamily="34" charset="0"/>
        <a:buChar char="»"/>
        <a:defRPr sz="2000" kern="1200">
          <a:solidFill>
            <a:schemeClr val="tx1"/>
          </a:solidFill>
          <a:latin typeface="+mn-lt"/>
          <a:ea typeface="+mn-ea"/>
          <a:cs typeface="+mn-cs"/>
        </a:defRPr>
      </a:lvl5pPr>
      <a:lvl6pPr marL="2514600" indent="-228600" algn="l" defTabSz="914400" rtl="0" eaLnBrk="1" latinLnBrk="0" hangingPunct="1">
        <a:spcBef>
          <a:spcPct val="20000"/>
        </a:spcBef>
        <a:buFont typeface="Arial" pitchFamily="34" charset="0"/>
        <a:buChar char="•"/>
        <a:defRPr sz="2000" kern="1200">
          <a:solidFill>
            <a:schemeClr val="tx1"/>
          </a:solidFill>
          <a:latin typeface="+mn-lt"/>
          <a:ea typeface="+mn-ea"/>
          <a:cs typeface="+mn-cs"/>
        </a:defRPr>
      </a:lvl6pPr>
      <a:lvl7pPr marL="2971800" indent="-228600" algn="l" defTabSz="914400" rtl="0" eaLnBrk="1" latinLnBrk="0" hangingPunct="1">
        <a:spcBef>
          <a:spcPct val="20000"/>
        </a:spcBef>
        <a:buFont typeface="Arial" pitchFamily="34" charset="0"/>
        <a:buChar char="•"/>
        <a:defRPr sz="2000" kern="1200">
          <a:solidFill>
            <a:schemeClr val="tx1"/>
          </a:solidFill>
          <a:latin typeface="+mn-lt"/>
          <a:ea typeface="+mn-ea"/>
          <a:cs typeface="+mn-cs"/>
        </a:defRPr>
      </a:lvl7pPr>
      <a:lvl8pPr marL="3429000" indent="-228600" algn="l" defTabSz="914400" rtl="0" eaLnBrk="1" latinLnBrk="0" hangingPunct="1">
        <a:spcBef>
          <a:spcPct val="20000"/>
        </a:spcBef>
        <a:buFont typeface="Arial" pitchFamily="34" charset="0"/>
        <a:buChar char="•"/>
        <a:defRPr sz="2000" kern="1200">
          <a:solidFill>
            <a:schemeClr val="tx1"/>
          </a:solidFill>
          <a:latin typeface="+mn-lt"/>
          <a:ea typeface="+mn-ea"/>
          <a:cs typeface="+mn-cs"/>
        </a:defRPr>
      </a:lvl8pPr>
      <a:lvl9pPr marL="3886200" indent="-228600" algn="l" defTabSz="914400" rtl="0" eaLnBrk="1" latinLnBrk="0" hangingPunct="1">
        <a:spcBef>
          <a:spcPct val="20000"/>
        </a:spcBef>
        <a:buFont typeface="Arial" pitchFamily="34" charset="0"/>
        <a:buChar char="•"/>
        <a:defRPr sz="2000" kern="1200">
          <a:solidFill>
            <a:schemeClr val="tx1"/>
          </a:solidFill>
          <a:latin typeface="+mn-lt"/>
          <a:ea typeface="+mn-ea"/>
          <a:cs typeface="+mn-cs"/>
        </a:defRPr>
      </a:lvl9pPr>
    </p:bodyStyle>
    <p:otherStyle>
      <a:defPPr>
        <a:defRPr lang="en-US"/>
      </a:defPPr>
      <a:lvl1pPr marL="0" algn="l" defTabSz="914400" rtl="0" eaLnBrk="1" latinLnBrk="0" hangingPunct="1">
        <a:defRPr sz="1800" kern="1200">
          <a:solidFill>
            <a:schemeClr val="tx1"/>
          </a:solidFill>
          <a:latin typeface="+mn-lt"/>
          <a:ea typeface="+mn-ea"/>
          <a:cs typeface="+mn-cs"/>
        </a:defRPr>
      </a:lvl1pPr>
      <a:lvl2pPr marL="457200" algn="l" defTabSz="914400" rtl="0" eaLnBrk="1" latinLnBrk="0" hangingPunct="1">
        <a:defRPr sz="1800" kern="1200">
          <a:solidFill>
            <a:schemeClr val="tx1"/>
          </a:solidFill>
          <a:latin typeface="+mn-lt"/>
          <a:ea typeface="+mn-ea"/>
          <a:cs typeface="+mn-cs"/>
        </a:defRPr>
      </a:lvl2pPr>
      <a:lvl3pPr marL="914400" algn="l" defTabSz="914400" rtl="0" eaLnBrk="1" latinLnBrk="0" hangingPunct="1">
        <a:defRPr sz="1800" kern="1200">
          <a:solidFill>
            <a:schemeClr val="tx1"/>
          </a:solidFill>
          <a:latin typeface="+mn-lt"/>
          <a:ea typeface="+mn-ea"/>
          <a:cs typeface="+mn-cs"/>
        </a:defRPr>
      </a:lvl3pPr>
      <a:lvl4pPr marL="1371600" algn="l" defTabSz="914400" rtl="0" eaLnBrk="1" latinLnBrk="0" hangingPunct="1">
        <a:defRPr sz="1800" kern="1200">
          <a:solidFill>
            <a:schemeClr val="tx1"/>
          </a:solidFill>
          <a:latin typeface="+mn-lt"/>
          <a:ea typeface="+mn-ea"/>
          <a:cs typeface="+mn-cs"/>
        </a:defRPr>
      </a:lvl4pPr>
      <a:lvl5pPr marL="1828800" algn="l" defTabSz="914400" rtl="0" eaLnBrk="1" latinLnBrk="0" hangingPunct="1">
        <a:defRPr sz="1800" kern="1200">
          <a:solidFill>
            <a:schemeClr val="tx1"/>
          </a:solidFill>
          <a:latin typeface="+mn-lt"/>
          <a:ea typeface="+mn-ea"/>
          <a:cs typeface="+mn-cs"/>
        </a:defRPr>
      </a:lvl5pPr>
      <a:lvl6pPr marL="2286000" algn="l" defTabSz="914400" rtl="0" eaLnBrk="1" latinLnBrk="0" hangingPunct="1">
        <a:defRPr sz="1800" kern="1200">
          <a:solidFill>
            <a:schemeClr val="tx1"/>
          </a:solidFill>
          <a:latin typeface="+mn-lt"/>
          <a:ea typeface="+mn-ea"/>
          <a:cs typeface="+mn-cs"/>
        </a:defRPr>
      </a:lvl6pPr>
      <a:lvl7pPr marL="2743200" algn="l" defTabSz="914400" rtl="0" eaLnBrk="1" latinLnBrk="0" hangingPunct="1">
        <a:defRPr sz="1800" kern="1200">
          <a:solidFill>
            <a:schemeClr val="tx1"/>
          </a:solidFill>
          <a:latin typeface="+mn-lt"/>
          <a:ea typeface="+mn-ea"/>
          <a:cs typeface="+mn-cs"/>
        </a:defRPr>
      </a:lvl7pPr>
      <a:lvl8pPr marL="3200400" algn="l" defTabSz="914400" rtl="0" eaLnBrk="1" latinLnBrk="0" hangingPunct="1">
        <a:defRPr sz="1800" kern="1200">
          <a:solidFill>
            <a:schemeClr val="tx1"/>
          </a:solidFill>
          <a:latin typeface="+mn-lt"/>
          <a:ea typeface="+mn-ea"/>
          <a:cs typeface="+mn-cs"/>
        </a:defRPr>
      </a:lvl8pPr>
      <a:lvl9pPr marL="3657600" algn="l" defTabSz="914400" rtl="0" eaLnBrk="1" latinLnBrk="0" hangingPunct="1">
        <a:defRPr sz="1800" kern="1200">
          <a:solidFill>
            <a:schemeClr val="tx1"/>
          </a:solidFill>
          <a:latin typeface="+mn-lt"/>
          <a:ea typeface="+mn-ea"/>
          <a:cs typeface="+mn-cs"/>
        </a:defRPr>
      </a:lvl9pPr>
    </p:otherStyle>
  </p:txStyles>
</p:sldMaster>
</file>

<file path=ppt/slides/_rels/slide1.xml.rels><?xml version="1.0" encoding="UTF-8" standalone="yes"?>
<Relationships xmlns="http://schemas.openxmlformats.org/package/2006/relationships"><Relationship Id="rId1" Type="http://schemas.openxmlformats.org/officeDocument/2006/relationships/slideLayout" Target="../slideLayouts/slideLayout2.xml"/><Relationship Id="rId2" Type="http://schemas.openxmlformats.org/officeDocument/2006/relationships/notesSlide" Target="../notesSlides/notesSlide1.xml"/></Relationships>
</file>

<file path=ppt/slides/_rels/slide2.xml.rels><?xml version="1.0" encoding="UTF-8" standalone="yes"?>
<Relationships xmlns="http://schemas.openxmlformats.org/package/2006/relationships"><Relationship Id="rId1" Type="http://schemas.openxmlformats.org/officeDocument/2006/relationships/slideLayout" Target="../slideLayouts/slideLayout2.xml"/><Relationship Id="rId2" Type="http://schemas.openxmlformats.org/officeDocument/2006/relationships/notesSlide" Target="../notesSlides/notesSlide2.xml"/></Relationships>
</file>

<file path=ppt/slides/_rels/slide3.xml.rels><?xml version="1.0" encoding="UTF-8" standalone="yes"?>
<Relationships xmlns="http://schemas.openxmlformats.org/package/2006/relationships"><Relationship Id="rId1" Type="http://schemas.openxmlformats.org/officeDocument/2006/relationships/image" Target="../media/image-3-1.png"/><Relationship Id="rId2" Type="http://schemas.openxmlformats.org/officeDocument/2006/relationships/slideLayout" Target="../slideLayouts/slideLayout2.xml"/><Relationship Id="rId3" Type="http://schemas.openxmlformats.org/officeDocument/2006/relationships/notesSlide" Target="../notesSlides/notesSlide3.xml"/></Relationships>
</file>

<file path=ppt/slides/_rels/slide4.xml.rels><?xml version="1.0" encoding="UTF-8" standalone="yes"?>
<Relationships xmlns="http://schemas.openxmlformats.org/package/2006/relationships"><Relationship Id="rId1" Type="http://schemas.openxmlformats.org/officeDocument/2006/relationships/slideLayout" Target="../slideLayouts/slideLayout2.xml"/><Relationship Id="rId2" Type="http://schemas.openxmlformats.org/officeDocument/2006/relationships/notesSlide" Target="../notesSlides/notesSlide4.xml"/></Relationships>
</file>

<file path=ppt/slides/_rels/slide5.xml.rels><?xml version="1.0" encoding="UTF-8" standalone="yes"?>
<Relationships xmlns="http://schemas.openxmlformats.org/package/2006/relationships"><Relationship Id="rId1" Type="http://schemas.openxmlformats.org/officeDocument/2006/relationships/image" Target="../media/image-5-1.png"/><Relationship Id="rId2" Type="http://schemas.openxmlformats.org/officeDocument/2006/relationships/slideLayout" Target="../slideLayouts/slideLayout2.xml"/><Relationship Id="rId3" Type="http://schemas.openxmlformats.org/officeDocument/2006/relationships/notesSlide" Target="../notesSlides/notesSlide5.xml"/></Relationships>
</file>

<file path=ppt/slides/_rels/slide6.xml.rels><?xml version="1.0" encoding="UTF-8" standalone="yes"?>
<Relationships xmlns="http://schemas.openxmlformats.org/package/2006/relationships"><Relationship Id="rId1" Type="http://schemas.openxmlformats.org/officeDocument/2006/relationships/slideLayout" Target="../slideLayouts/slideLayout2.xml"/><Relationship Id="rId2" Type="http://schemas.openxmlformats.org/officeDocument/2006/relationships/notesSlide" Target="../notesSlides/notesSlide6.xml"/></Relationships>
</file>

<file path=ppt/slides/_rels/slide7.xml.rels><?xml version="1.0" encoding="UTF-8" standalone="yes"?>
<Relationships xmlns="http://schemas.openxmlformats.org/package/2006/relationships"><Relationship Id="rId1" Type="http://schemas.openxmlformats.org/officeDocument/2006/relationships/image" Target="../media/image-7-1.png"/><Relationship Id="rId2" Type="http://schemas.openxmlformats.org/officeDocument/2006/relationships/slideLayout" Target="../slideLayouts/slideLayout2.xml"/><Relationship Id="rId3" Type="http://schemas.openxmlformats.org/officeDocument/2006/relationships/notesSlide" Target="../notesSlides/notesSlide7.xml"/></Relationships>
</file>

<file path=ppt/slides/_rels/slide8.xml.rels><?xml version="1.0" encoding="UTF-8" standalone="yes"?>
<Relationships xmlns="http://schemas.openxmlformats.org/package/2006/relationships"><Relationship Id="rId1" Type="http://schemas.openxmlformats.org/officeDocument/2006/relationships/image" Target="../media/image-8-1.png"/><Relationship Id="rId2" Type="http://schemas.openxmlformats.org/officeDocument/2006/relationships/slideLayout" Target="../slideLayouts/slideLayout2.xml"/><Relationship Id="rId3" Type="http://schemas.openxmlformats.org/officeDocument/2006/relationships/notesSlide" Target="../notesSlides/notesSlide8.xml"/></Relationships>
</file>

<file path=ppt/slides/_rels/slide9.xml.rels><?xml version="1.0" encoding="UTF-8" standalone="yes"?>
<Relationships xmlns="http://schemas.openxmlformats.org/package/2006/relationships"><Relationship Id="rId1" Type="http://schemas.openxmlformats.org/officeDocument/2006/relationships/image" Target="../media/image-9-1.png"/><Relationship Id="rId2" Type="http://schemas.openxmlformats.org/officeDocument/2006/relationships/image" Target="../media/image-9-2.png"/><Relationship Id="rId3" Type="http://schemas.openxmlformats.org/officeDocument/2006/relationships/slideLayout" Target="../slideLayouts/slideLayout2.xml"/><Relationship Id="rId4" Type="http://schemas.openxmlformats.org/officeDocument/2006/relationships/notesSlide" Target="../notesSlides/notesSlide9.xml"/></Relationships>
</file>

<file path=ppt/slides/_rels/slide10.xml.rels><?xml version="1.0" encoding="UTF-8" standalone="yes"?>
<Relationships xmlns="http://schemas.openxmlformats.org/package/2006/relationships"><Relationship Id="rId1" Type="http://schemas.openxmlformats.org/officeDocument/2006/relationships/image" Target="../media/image-10-1.png"/><Relationship Id="rId2" Type="http://schemas.openxmlformats.org/officeDocument/2006/relationships/slideLayout" Target="../slideLayouts/slideLayout2.xml"/><Relationship Id="rId3" Type="http://schemas.openxmlformats.org/officeDocument/2006/relationships/notesSlide" Target="../notesSlides/notesSlide10.xml"/></Relationships>
</file>

<file path=ppt/slides/_rels/slide11.xml.rels><?xml version="1.0" encoding="UTF-8" standalone="yes"?>
<Relationships xmlns="http://schemas.openxmlformats.org/package/2006/relationships"><Relationship Id="rId1" Type="http://schemas.openxmlformats.org/officeDocument/2006/relationships/image" Target="../media/image-11-1.png"/><Relationship Id="rId2" Type="http://schemas.openxmlformats.org/officeDocument/2006/relationships/slideLayout" Target="../slideLayouts/slideLayout2.xml"/><Relationship Id="rId3" Type="http://schemas.openxmlformats.org/officeDocument/2006/relationships/notesSlide" Target="../notesSlides/notesSlide11.xml"/></Relationships>
</file>

<file path=ppt/slides/_rels/slide12.xml.rels><?xml version="1.0" encoding="UTF-8" standalone="yes"?>
<Relationships xmlns="http://schemas.openxmlformats.org/package/2006/relationships"><Relationship Id="rId1" Type="http://schemas.openxmlformats.org/officeDocument/2006/relationships/slideLayout" Target="../slideLayouts/slideLayout2.xml"/><Relationship Id="rId2" Type="http://schemas.openxmlformats.org/officeDocument/2006/relationships/notesSlide" Target="../notesSlides/notesSlide12.xml"/></Relationships>
</file>

<file path=ppt/slides/_rels/slide13.xml.rels><?xml version="1.0" encoding="UTF-8" standalone="yes"?>
<Relationships xmlns="http://schemas.openxmlformats.org/package/2006/relationships"><Relationship Id="rId1" Type="http://schemas.openxmlformats.org/officeDocument/2006/relationships/slideLayout" Target="../slideLayouts/slideLayout2.xml"/><Relationship Id="rId2" Type="http://schemas.openxmlformats.org/officeDocument/2006/relationships/notesSlide" Target="../notesSlides/notesSlide13.xml"/></Relationships>
</file>

<file path=ppt/slides/_rels/slide14.xml.rels><?xml version="1.0" encoding="UTF-8" standalone="yes"?>
<Relationships xmlns="http://schemas.openxmlformats.org/package/2006/relationships"><Relationship Id="rId1" Type="http://schemas.openxmlformats.org/officeDocument/2006/relationships/slideLayout" Target="../slideLayouts/slideLayout2.xml"/><Relationship Id="rId2" Type="http://schemas.openxmlformats.org/officeDocument/2006/relationships/notesSlide" Target="../notesSlides/notesSlide14.xml"/></Relationships>
</file>

<file path=ppt/slides/_rels/slide15.xml.rels><?xml version="1.0" encoding="UTF-8" standalone="yes"?>
<Relationships xmlns="http://schemas.openxmlformats.org/package/2006/relationships"><Relationship Id="rId1" Type="http://schemas.openxmlformats.org/officeDocument/2006/relationships/slideLayout" Target="../slideLayouts/slideLayout2.xml"/><Relationship Id="rId2" Type="http://schemas.openxmlformats.org/officeDocument/2006/relationships/notesSlide" Target="../notesSlides/notesSlide15.xml"/></Relationships>
</file>

<file path=ppt/slides/_rels/slide16.xml.rels><?xml version="1.0" encoding="UTF-8" standalone="yes"?>
<Relationships xmlns="http://schemas.openxmlformats.org/package/2006/relationships"><Relationship Id="rId1" Type="http://schemas.openxmlformats.org/officeDocument/2006/relationships/slideLayout" Target="../slideLayouts/slideLayout2.xml"/><Relationship Id="rId2" Type="http://schemas.openxmlformats.org/officeDocument/2006/relationships/notesSlide" Target="../notesSlides/notesSlide16.xml"/></Relationships>
</file>

<file path=ppt/slides/slide1.xml><?xml version="1.0" encoding="utf-8"?>
<p:sld xmlns:a="http://schemas.openxmlformats.org/drawingml/2006/main" xmlns:r="http://schemas.openxmlformats.org/officeDocument/2006/relationships" xmlns:p="http://schemas.openxmlformats.org/presentationml/2006/main">
  <p:cSld name="Slide 1">
    <p:spTree>
      <p:nvGrpSpPr>
        <p:cNvPr id="1" name=""/>
        <p:cNvGrpSpPr/>
        <p:nvPr/>
      </p:nvGrpSpPr>
      <p:grpSpPr>
        <a:xfrm>
          <a:off x="0" y="0"/>
          <a:ext cx="0" cy="0"/>
          <a:chOff x="0" y="0"/>
          <a:chExt cx="0" cy="0"/>
        </a:xfrm>
      </p:grpSpPr>
      <p:sp>
        <p:nvSpPr>
          <p:cNvPr id="2" name="Text 0"/>
          <p:cNvSpPr txBox="1"/>
          <p:nvPr/>
        </p:nvSpPr>
        <p:spPr>
          <a:xfrm>
            <a:off x="960120" y="2011680"/>
            <a:ext cx="10058400" cy="1188720"/>
          </a:xfrm>
          <a:prstGeom prst="rect">
            <a:avLst/>
          </a:prstGeom>
          <a:noFill/>
          <a:ln/>
        </p:spPr>
        <p:txBody>
          <a:bodyPr wrap="square" lIns="0" tIns="0" rIns="0" bIns="0" rtlCol="0" anchor="b"/>
          <a:lstStyle/>
          <a:p>
            <a:pPr indent="0" marL="0">
              <a:buNone/>
            </a:pPr>
            <a:r>
              <a:rPr lang="en-US" sz="5400" dirty="0">
                <a:solidFill>
                  <a:srgbClr val="2B2F33"/>
                </a:solidFill>
                <a:latin typeface="Calibri Light" pitchFamily="34" charset="0"/>
                <a:ea typeface="Calibri Light" pitchFamily="34" charset="-122"/>
                <a:cs typeface="Calibri Light" pitchFamily="34" charset="-120"/>
              </a:rPr>
              <a:t>Penalties Sized to the Gain</a:t>
            </a:r>
            <a:endParaRPr lang="en-US" sz="5400" dirty="0"/>
          </a:p>
        </p:txBody>
      </p:sp>
      <p:sp>
        <p:nvSpPr>
          <p:cNvPr id="3" name="Text 1"/>
          <p:cNvSpPr txBox="1"/>
          <p:nvPr/>
        </p:nvSpPr>
        <p:spPr>
          <a:xfrm>
            <a:off x="960120" y="3291840"/>
            <a:ext cx="7863840" cy="777240"/>
          </a:xfrm>
          <a:prstGeom prst="rect">
            <a:avLst/>
          </a:prstGeom>
          <a:noFill/>
          <a:ln/>
        </p:spPr>
        <p:txBody>
          <a:bodyPr wrap="square" lIns="0" tIns="0" rIns="0" bIns="0" rtlCol="0" anchor="t"/>
          <a:lstStyle/>
          <a:p>
            <a:pPr indent="0" marL="0">
              <a:buNone/>
            </a:pPr>
            <a:r>
              <a:rPr lang="en-US" sz="1900" i="1" dirty="0">
                <a:solidFill>
                  <a:srgbClr val="2B2F33"/>
                </a:solidFill>
                <a:latin typeface="Calibri" pitchFamily="34" charset="0"/>
                <a:ea typeface="Calibri" pitchFamily="34" charset="-122"/>
                <a:cs typeface="Calibri" pitchFamily="34" charset="-120"/>
              </a:rPr>
              <a:t>When do random audits stop AI agents from over-using a shared resource?</a:t>
            </a:r>
            <a:endParaRPr lang="en-US" sz="1900" dirty="0"/>
          </a:p>
        </p:txBody>
      </p:sp>
      <p:sp>
        <p:nvSpPr>
          <p:cNvPr id="4" name="Shape 2"/>
          <p:cNvSpPr/>
          <p:nvPr/>
        </p:nvSpPr>
        <p:spPr>
          <a:xfrm>
            <a:off x="960120" y="4206240"/>
            <a:ext cx="3383280" cy="109728"/>
          </a:xfrm>
          <a:prstGeom prst="rect">
            <a:avLst/>
          </a:prstGeom>
          <a:solidFill>
            <a:srgbClr val="131B28"/>
          </a:solidFill>
          <a:ln w="12700">
            <a:solidFill>
              <a:srgbClr val="131B28"/>
            </a:solidFill>
            <a:prstDash val="solid"/>
          </a:ln>
        </p:spPr>
      </p:sp>
      <p:sp>
        <p:nvSpPr>
          <p:cNvPr id="5" name="Text 3"/>
          <p:cNvSpPr txBox="1"/>
          <p:nvPr/>
        </p:nvSpPr>
        <p:spPr>
          <a:xfrm>
            <a:off x="6522415" y="5440680"/>
            <a:ext cx="4937760" cy="822960"/>
          </a:xfrm>
          <a:prstGeom prst="rect">
            <a:avLst/>
          </a:prstGeom>
          <a:noFill/>
          <a:ln/>
        </p:spPr>
        <p:txBody>
          <a:bodyPr wrap="square" lIns="0" tIns="0" rIns="0" bIns="0" rtlCol="0" anchor="b"/>
          <a:lstStyle/>
          <a:p>
            <a:pPr algn="r" indent="0" marL="0">
              <a:buNone/>
            </a:pPr>
            <a:r>
              <a:rPr lang="en-US" sz="1100" dirty="0">
                <a:solidFill>
                  <a:srgbClr val="1C191A"/>
                </a:solidFill>
                <a:latin typeface="Calibri" pitchFamily="34" charset="0"/>
                <a:ea typeface="Calibri" pitchFamily="34" charset="-122"/>
                <a:cs typeface="Calibri" pitchFamily="34" charset="-120"/>
              </a:rPr>
              <a:t>Ameer Alhashemi</a:t>
            </a:r>
            <a:endParaRPr lang="en-US" sz="1100" dirty="0"/>
          </a:p>
          <a:p>
            <a:pPr algn="r" indent="0" marL="0">
              <a:buNone/>
            </a:pPr>
            <a:r>
              <a:rPr lang="en-US" sz="1100" dirty="0">
                <a:solidFill>
                  <a:srgbClr val="1C191A"/>
                </a:solidFill>
                <a:latin typeface="Calibri" pitchFamily="34" charset="0"/>
                <a:ea typeface="Calibri" pitchFamily="34" charset="-122"/>
                <a:cs typeface="Calibri" pitchFamily="34" charset="-120"/>
              </a:rPr>
              <a:t>PhD catch-up</a:t>
            </a:r>
            <a:endParaRPr lang="en-US" sz="1100" dirty="0"/>
          </a:p>
          <a:p>
            <a:pPr algn="r" indent="0" marL="0">
              <a:buNone/>
            </a:pPr>
            <a:r>
              <a:rPr lang="en-US" sz="1100" dirty="0">
                <a:solidFill>
                  <a:srgbClr val="1C191A"/>
                </a:solidFill>
                <a:latin typeface="Calibri" pitchFamily="34" charset="0"/>
                <a:ea typeface="Calibri" pitchFamily="34" charset="-122"/>
                <a:cs typeface="Calibri" pitchFamily="34" charset="-120"/>
              </a:rPr>
              <a:t>King's College London, 13 October 2026</a:t>
            </a:r>
            <a:endParaRPr lang="en-US" sz="1100" dirty="0"/>
          </a:p>
        </p:txBody>
      </p:sp>
    </p:spTree>
  </p:cSld>
  <p:clrMapOvr>
    <a:masterClrMapping/>
  </p:clrMapOvr>
</p:sld>
</file>

<file path=ppt/slides/slide2.xml><?xml version="1.0" encoding="utf-8"?>
<p:sld xmlns:a="http://schemas.openxmlformats.org/drawingml/2006/main" xmlns:r="http://schemas.openxmlformats.org/officeDocument/2006/relationships" xmlns:p="http://schemas.openxmlformats.org/presentationml/2006/main">
  <p:cSld name="Slide 2">
    <p:spTree>
      <p:nvGrpSpPr>
        <p:cNvPr id="1" name=""/>
        <p:cNvGrpSpPr/>
        <p:nvPr/>
      </p:nvGrpSpPr>
      <p:grpSpPr>
        <a:xfrm>
          <a:off x="0" y="0"/>
          <a:ext cx="0" cy="0"/>
          <a:chOff x="0" y="0"/>
          <a:chExt cx="0" cy="0"/>
        </a:xfrm>
      </p:grpSpPr>
      <p:sp>
        <p:nvSpPr>
          <p:cNvPr id="2" name="Text 0"/>
          <p:cNvSpPr txBox="1"/>
          <p:nvPr/>
        </p:nvSpPr>
        <p:spPr>
          <a:xfrm>
            <a:off x="548640" y="365760"/>
            <a:ext cx="11094415" cy="777240"/>
          </a:xfrm>
          <a:prstGeom prst="rect">
            <a:avLst/>
          </a:prstGeom>
          <a:noFill/>
          <a:ln/>
        </p:spPr>
        <p:txBody>
          <a:bodyPr wrap="square" lIns="0" tIns="0" rIns="0" bIns="0" rtlCol="0" anchor="b"/>
          <a:lstStyle/>
          <a:p>
            <a:pPr algn="l" indent="0" marL="0">
              <a:lnSpc>
                <a:spcPct val="95000"/>
              </a:lnSpc>
              <a:buNone/>
            </a:pPr>
            <a:r>
              <a:rPr lang="en-US" sz="3400" b="1" dirty="0">
                <a:solidFill>
                  <a:srgbClr val="062746"/>
                </a:solidFill>
                <a:latin typeface="Georgia" pitchFamily="34" charset="0"/>
                <a:ea typeface="Georgia" pitchFamily="34" charset="-122"/>
                <a:cs typeface="Georgia" pitchFamily="34" charset="-120"/>
              </a:rPr>
              <a:t>The Project in One Slide</a:t>
            </a:r>
            <a:endParaRPr lang="en-US" sz="3400" dirty="0"/>
          </a:p>
        </p:txBody>
      </p:sp>
      <p:sp>
        <p:nvSpPr>
          <p:cNvPr id="3" name="Shape 1"/>
          <p:cNvSpPr/>
          <p:nvPr/>
        </p:nvSpPr>
        <p:spPr>
          <a:xfrm>
            <a:off x="548640" y="1271016"/>
            <a:ext cx="3291840" cy="91440"/>
          </a:xfrm>
          <a:prstGeom prst="rect">
            <a:avLst/>
          </a:prstGeom>
          <a:solidFill>
            <a:srgbClr val="131B28"/>
          </a:solidFill>
          <a:ln w="12700">
            <a:solidFill>
              <a:srgbClr val="131B28"/>
            </a:solidFill>
            <a:prstDash val="solid"/>
          </a:ln>
        </p:spPr>
      </p:sp>
      <p:sp>
        <p:nvSpPr>
          <p:cNvPr id="4" name="Shape 2"/>
          <p:cNvSpPr/>
          <p:nvPr/>
        </p:nvSpPr>
        <p:spPr>
          <a:xfrm>
            <a:off x="548640" y="1682496"/>
            <a:ext cx="2567864" cy="3758184"/>
          </a:xfrm>
          <a:prstGeom prst="roundRect">
            <a:avLst>
              <a:gd name="adj" fmla="val 2849"/>
            </a:avLst>
          </a:prstGeom>
          <a:solidFill>
            <a:srgbClr val="FFFFFF"/>
          </a:solidFill>
          <a:ln w="9525">
            <a:solidFill>
              <a:srgbClr val="E9E7E3"/>
            </a:solidFill>
            <a:prstDash val="solid"/>
          </a:ln>
          <a:effectLst>
            <a:outerShdw sx="100000" sy="100000" kx="0" ky="0" algn="bl" rotWithShape="0" blurRad="76200" dist="25400" dir="5400000">
              <a:srgbClr val="000000">
                <a:alpha val="8000"/>
              </a:srgbClr>
            </a:outerShdw>
          </a:effectLst>
        </p:spPr>
      </p:sp>
      <p:sp>
        <p:nvSpPr>
          <p:cNvPr id="5" name="Text 3"/>
          <p:cNvSpPr txBox="1"/>
          <p:nvPr/>
        </p:nvSpPr>
        <p:spPr>
          <a:xfrm>
            <a:off x="777240" y="1883664"/>
            <a:ext cx="2110664" cy="320040"/>
          </a:xfrm>
          <a:prstGeom prst="rect">
            <a:avLst/>
          </a:prstGeom>
          <a:noFill/>
          <a:ln/>
        </p:spPr>
        <p:txBody>
          <a:bodyPr wrap="square" lIns="0" tIns="0" rIns="0" bIns="0" rtlCol="0" anchor="ctr"/>
          <a:lstStyle/>
          <a:p>
            <a:pPr indent="0" marL="0">
              <a:buNone/>
            </a:pPr>
            <a:r>
              <a:rPr lang="en-US" sz="1300" spc="100" kern="0" dirty="0">
                <a:solidFill>
                  <a:srgbClr val="8F8F8F"/>
                </a:solidFill>
                <a:latin typeface="Calibri Light" pitchFamily="34" charset="0"/>
                <a:ea typeface="Calibri Light" pitchFamily="34" charset="-122"/>
                <a:cs typeface="Calibri Light" pitchFamily="34" charset="-120"/>
              </a:rPr>
              <a:t>01   WHY</a:t>
            </a:r>
            <a:endParaRPr lang="en-US" sz="1300" dirty="0"/>
          </a:p>
        </p:txBody>
      </p:sp>
      <p:sp>
        <p:nvSpPr>
          <p:cNvPr id="6" name="Text 4"/>
          <p:cNvSpPr txBox="1"/>
          <p:nvPr/>
        </p:nvSpPr>
        <p:spPr>
          <a:xfrm>
            <a:off x="777240" y="2276856"/>
            <a:ext cx="2110664" cy="676656"/>
          </a:xfrm>
          <a:prstGeom prst="rect">
            <a:avLst/>
          </a:prstGeom>
          <a:noFill/>
          <a:ln/>
        </p:spPr>
        <p:txBody>
          <a:bodyPr wrap="square" lIns="0" tIns="0" rIns="0" bIns="0" rtlCol="0" anchor="t"/>
          <a:lstStyle/>
          <a:p>
            <a:pPr indent="0" marL="0">
              <a:buNone/>
            </a:pPr>
            <a:r>
              <a:rPr lang="en-US" sz="1700" b="1" dirty="0">
                <a:solidFill>
                  <a:srgbClr val="062746"/>
                </a:solidFill>
                <a:latin typeface="Georgia" pitchFamily="34" charset="0"/>
                <a:ea typeface="Georgia" pitchFamily="34" charset="-122"/>
                <a:cs typeface="Georgia" pitchFamily="34" charset="-120"/>
              </a:rPr>
              <a:t>Oversight is sampled</a:t>
            </a:r>
            <a:endParaRPr lang="en-US" sz="1700" dirty="0"/>
          </a:p>
        </p:txBody>
      </p:sp>
      <p:sp>
        <p:nvSpPr>
          <p:cNvPr id="7" name="Text 5"/>
          <p:cNvSpPr txBox="1"/>
          <p:nvPr/>
        </p:nvSpPr>
        <p:spPr>
          <a:xfrm>
            <a:off x="777240" y="2999232"/>
            <a:ext cx="2110664" cy="2212848"/>
          </a:xfrm>
          <a:prstGeom prst="rect">
            <a:avLst/>
          </a:prstGeom>
          <a:noFill/>
          <a:ln/>
        </p:spPr>
        <p:txBody>
          <a:bodyPr wrap="square" lIns="0" tIns="0" rIns="0" bIns="0" rtlCol="0" anchor="t"/>
          <a:lstStyle/>
          <a:p>
            <a:pPr indent="0" marL="0">
              <a:buNone/>
            </a:pPr>
            <a:r>
              <a:rPr lang="en-US" sz="1350" dirty="0">
                <a:solidFill>
                  <a:srgbClr val="1C191A"/>
                </a:solidFill>
                <a:latin typeface="Calibri" pitchFamily="34" charset="0"/>
                <a:ea typeface="Calibri" pitchFamily="34" charset="-122"/>
                <a:cs typeface="Calibri" pitchFamily="34" charset="-120"/>
              </a:rPr>
              <a:t>AI agents increasingly share limited resources: compute, energy, budgets. An overseer can only audit a few of their actions.</a:t>
            </a:r>
            <a:endParaRPr lang="en-US" sz="1350" dirty="0"/>
          </a:p>
        </p:txBody>
      </p:sp>
      <p:sp>
        <p:nvSpPr>
          <p:cNvPr id="8" name="Shape 6"/>
          <p:cNvSpPr/>
          <p:nvPr/>
        </p:nvSpPr>
        <p:spPr>
          <a:xfrm>
            <a:off x="3390824" y="1682496"/>
            <a:ext cx="2567864" cy="3758184"/>
          </a:xfrm>
          <a:prstGeom prst="roundRect">
            <a:avLst>
              <a:gd name="adj" fmla="val 2849"/>
            </a:avLst>
          </a:prstGeom>
          <a:solidFill>
            <a:srgbClr val="FFFFFF"/>
          </a:solidFill>
          <a:ln w="9525">
            <a:solidFill>
              <a:srgbClr val="E9E7E3"/>
            </a:solidFill>
            <a:prstDash val="solid"/>
          </a:ln>
          <a:effectLst>
            <a:outerShdw sx="100000" sy="100000" kx="0" ky="0" algn="bl" rotWithShape="0" blurRad="76200" dist="25400" dir="5400000">
              <a:srgbClr val="000000">
                <a:alpha val="8000"/>
              </a:srgbClr>
            </a:outerShdw>
          </a:effectLst>
        </p:spPr>
      </p:sp>
      <p:sp>
        <p:nvSpPr>
          <p:cNvPr id="9" name="Text 7"/>
          <p:cNvSpPr txBox="1"/>
          <p:nvPr/>
        </p:nvSpPr>
        <p:spPr>
          <a:xfrm>
            <a:off x="3619424" y="1883664"/>
            <a:ext cx="2110664" cy="320040"/>
          </a:xfrm>
          <a:prstGeom prst="rect">
            <a:avLst/>
          </a:prstGeom>
          <a:noFill/>
          <a:ln/>
        </p:spPr>
        <p:txBody>
          <a:bodyPr wrap="square" lIns="0" tIns="0" rIns="0" bIns="0" rtlCol="0" anchor="ctr"/>
          <a:lstStyle/>
          <a:p>
            <a:pPr indent="0" marL="0">
              <a:buNone/>
            </a:pPr>
            <a:r>
              <a:rPr lang="en-US" sz="1300" spc="100" kern="0" dirty="0">
                <a:solidFill>
                  <a:srgbClr val="8F8F8F"/>
                </a:solidFill>
                <a:latin typeface="Calibri Light" pitchFamily="34" charset="0"/>
                <a:ea typeface="Calibri Light" pitchFamily="34" charset="-122"/>
                <a:cs typeface="Calibri Light" pitchFamily="34" charset="-120"/>
              </a:rPr>
              <a:t>02   WHAT I BUILT</a:t>
            </a:r>
            <a:endParaRPr lang="en-US" sz="1300" dirty="0"/>
          </a:p>
        </p:txBody>
      </p:sp>
      <p:sp>
        <p:nvSpPr>
          <p:cNvPr id="10" name="Text 8"/>
          <p:cNvSpPr txBox="1"/>
          <p:nvPr/>
        </p:nvSpPr>
        <p:spPr>
          <a:xfrm>
            <a:off x="3619424" y="2276856"/>
            <a:ext cx="2110664" cy="676656"/>
          </a:xfrm>
          <a:prstGeom prst="rect">
            <a:avLst/>
          </a:prstGeom>
          <a:noFill/>
          <a:ln/>
        </p:spPr>
        <p:txBody>
          <a:bodyPr wrap="square" lIns="0" tIns="0" rIns="0" bIns="0" rtlCol="0" anchor="t"/>
          <a:lstStyle/>
          <a:p>
            <a:pPr indent="0" marL="0">
              <a:buNone/>
            </a:pPr>
            <a:r>
              <a:rPr lang="en-US" sz="1700" b="1" dirty="0">
                <a:solidFill>
                  <a:srgbClr val="062746"/>
                </a:solidFill>
                <a:latin typeface="Georgia" pitchFamily="34" charset="0"/>
                <a:ea typeface="Georgia" pitchFamily="34" charset="-122"/>
                <a:cs typeface="Georgia" pitchFamily="34" charset="-120"/>
              </a:rPr>
              <a:t>An audited shared resource</a:t>
            </a:r>
            <a:endParaRPr lang="en-US" sz="1700" dirty="0"/>
          </a:p>
        </p:txBody>
      </p:sp>
      <p:sp>
        <p:nvSpPr>
          <p:cNvPr id="11" name="Text 9"/>
          <p:cNvSpPr txBox="1"/>
          <p:nvPr/>
        </p:nvSpPr>
        <p:spPr>
          <a:xfrm>
            <a:off x="3619424" y="2999232"/>
            <a:ext cx="2110664" cy="2212848"/>
          </a:xfrm>
          <a:prstGeom prst="rect">
            <a:avLst/>
          </a:prstGeom>
          <a:noFill/>
          <a:ln/>
        </p:spPr>
        <p:txBody>
          <a:bodyPr wrap="square" lIns="0" tIns="0" rIns="0" bIns="0" rtlCol="0" anchor="t"/>
          <a:lstStyle/>
          <a:p>
            <a:pPr indent="0" marL="0">
              <a:buNone/>
            </a:pPr>
            <a:r>
              <a:rPr lang="en-US" sz="1350" dirty="0">
                <a:solidFill>
                  <a:srgbClr val="1C191A"/>
                </a:solidFill>
                <a:latin typeface="Calibri" pitchFamily="34" charset="0"/>
                <a:ea typeface="Calibri" pitchFamily="34" charset="-122"/>
                <a:cs typeface="Calibri" pitchFamily="34" charset="-120"/>
              </a:rPr>
              <a:t>Six agents use one renewable resource. A reviewer sets each agent's allowance; random audits check a few agents each round.</a:t>
            </a:r>
            <a:endParaRPr lang="en-US" sz="1350" dirty="0"/>
          </a:p>
        </p:txBody>
      </p:sp>
      <p:sp>
        <p:nvSpPr>
          <p:cNvPr id="12" name="Shape 10"/>
          <p:cNvSpPr/>
          <p:nvPr/>
        </p:nvSpPr>
        <p:spPr>
          <a:xfrm>
            <a:off x="6233008" y="1682496"/>
            <a:ext cx="2567864" cy="3758184"/>
          </a:xfrm>
          <a:prstGeom prst="roundRect">
            <a:avLst>
              <a:gd name="adj" fmla="val 2849"/>
            </a:avLst>
          </a:prstGeom>
          <a:solidFill>
            <a:srgbClr val="FFFFFF"/>
          </a:solidFill>
          <a:ln w="9525">
            <a:solidFill>
              <a:srgbClr val="E9E7E3"/>
            </a:solidFill>
            <a:prstDash val="solid"/>
          </a:ln>
          <a:effectLst>
            <a:outerShdw sx="100000" sy="100000" kx="0" ky="0" algn="bl" rotWithShape="0" blurRad="76200" dist="25400" dir="5400000">
              <a:srgbClr val="000000">
                <a:alpha val="8000"/>
              </a:srgbClr>
            </a:outerShdw>
          </a:effectLst>
        </p:spPr>
      </p:sp>
      <p:sp>
        <p:nvSpPr>
          <p:cNvPr id="13" name="Text 11"/>
          <p:cNvSpPr txBox="1"/>
          <p:nvPr/>
        </p:nvSpPr>
        <p:spPr>
          <a:xfrm>
            <a:off x="6461608" y="1883664"/>
            <a:ext cx="2110664" cy="320040"/>
          </a:xfrm>
          <a:prstGeom prst="rect">
            <a:avLst/>
          </a:prstGeom>
          <a:noFill/>
          <a:ln/>
        </p:spPr>
        <p:txBody>
          <a:bodyPr wrap="square" lIns="0" tIns="0" rIns="0" bIns="0" rtlCol="0" anchor="ctr"/>
          <a:lstStyle/>
          <a:p>
            <a:pPr indent="0" marL="0">
              <a:buNone/>
            </a:pPr>
            <a:r>
              <a:rPr lang="en-US" sz="1300" spc="100" kern="0" dirty="0">
                <a:solidFill>
                  <a:srgbClr val="8F8F8F"/>
                </a:solidFill>
                <a:latin typeface="Calibri Light" pitchFamily="34" charset="0"/>
                <a:ea typeface="Calibri Light" pitchFamily="34" charset="-122"/>
                <a:cs typeface="Calibri Light" pitchFamily="34" charset="-120"/>
              </a:rPr>
              <a:t>03   WHAT I TESTED</a:t>
            </a:r>
            <a:endParaRPr lang="en-US" sz="1300" dirty="0"/>
          </a:p>
        </p:txBody>
      </p:sp>
      <p:sp>
        <p:nvSpPr>
          <p:cNvPr id="14" name="Text 12"/>
          <p:cNvSpPr txBox="1"/>
          <p:nvPr/>
        </p:nvSpPr>
        <p:spPr>
          <a:xfrm>
            <a:off x="6461608" y="2276856"/>
            <a:ext cx="2110664" cy="676656"/>
          </a:xfrm>
          <a:prstGeom prst="rect">
            <a:avLst/>
          </a:prstGeom>
          <a:noFill/>
          <a:ln/>
        </p:spPr>
        <p:txBody>
          <a:bodyPr wrap="square" lIns="0" tIns="0" rIns="0" bIns="0" rtlCol="0" anchor="t"/>
          <a:lstStyle/>
          <a:p>
            <a:pPr indent="0" marL="0">
              <a:buNone/>
            </a:pPr>
            <a:r>
              <a:rPr lang="en-US" sz="1700" b="1" dirty="0">
                <a:solidFill>
                  <a:srgbClr val="062746"/>
                </a:solidFill>
                <a:latin typeface="Georgia" pitchFamily="34" charset="0"/>
                <a:ea typeface="Georgia" pitchFamily="34" charset="-122"/>
                <a:cs typeface="Georgia" pitchFamily="34" charset="-120"/>
              </a:rPr>
              <a:t>Consequences and fine size</a:t>
            </a:r>
            <a:endParaRPr lang="en-US" sz="1700" dirty="0"/>
          </a:p>
        </p:txBody>
      </p:sp>
      <p:sp>
        <p:nvSpPr>
          <p:cNvPr id="15" name="Text 13"/>
          <p:cNvSpPr txBox="1"/>
          <p:nvPr/>
        </p:nvSpPr>
        <p:spPr>
          <a:xfrm>
            <a:off x="6461608" y="2999232"/>
            <a:ext cx="2110664" cy="2212848"/>
          </a:xfrm>
          <a:prstGeom prst="rect">
            <a:avLst/>
          </a:prstGeom>
          <a:noFill/>
          <a:ln/>
        </p:spPr>
        <p:txBody>
          <a:bodyPr wrap="square" lIns="0" tIns="0" rIns="0" bIns="0" rtlCol="0" anchor="t"/>
          <a:lstStyle/>
          <a:p>
            <a:pPr indent="0" marL="0">
              <a:buNone/>
            </a:pPr>
            <a:r>
              <a:rPr lang="en-US" sz="1350" dirty="0">
                <a:solidFill>
                  <a:srgbClr val="1C191A"/>
                </a:solidFill>
                <a:latin typeface="Calibri" pitchFamily="34" charset="0"/>
                <a:ea typeface="Calibri" pitchFamily="34" charset="-122"/>
                <a:cs typeface="Calibri" pitchFamily="34" charset="-120"/>
              </a:rPr>
              <a:t>What a caught agent should face (a fine, a memory of the offence, or both), and whether the stopping fine can be predicted in advance.</a:t>
            </a:r>
            <a:endParaRPr lang="en-US" sz="1350" dirty="0"/>
          </a:p>
        </p:txBody>
      </p:sp>
      <p:sp>
        <p:nvSpPr>
          <p:cNvPr id="16" name="Shape 14"/>
          <p:cNvSpPr/>
          <p:nvPr/>
        </p:nvSpPr>
        <p:spPr>
          <a:xfrm>
            <a:off x="9075191" y="1682496"/>
            <a:ext cx="2567864" cy="3758184"/>
          </a:xfrm>
          <a:prstGeom prst="roundRect">
            <a:avLst>
              <a:gd name="adj" fmla="val 2849"/>
            </a:avLst>
          </a:prstGeom>
          <a:solidFill>
            <a:srgbClr val="FFFFFF"/>
          </a:solidFill>
          <a:ln w="9525">
            <a:solidFill>
              <a:srgbClr val="E9E7E3"/>
            </a:solidFill>
            <a:prstDash val="solid"/>
          </a:ln>
          <a:effectLst>
            <a:outerShdw sx="100000" sy="100000" kx="0" ky="0" algn="bl" rotWithShape="0" blurRad="76200" dist="25400" dir="5400000">
              <a:srgbClr val="000000">
                <a:alpha val="8000"/>
              </a:srgbClr>
            </a:outerShdw>
          </a:effectLst>
        </p:spPr>
      </p:sp>
      <p:sp>
        <p:nvSpPr>
          <p:cNvPr id="17" name="Text 15"/>
          <p:cNvSpPr txBox="1"/>
          <p:nvPr/>
        </p:nvSpPr>
        <p:spPr>
          <a:xfrm>
            <a:off x="9303791" y="1883664"/>
            <a:ext cx="2110664" cy="320040"/>
          </a:xfrm>
          <a:prstGeom prst="rect">
            <a:avLst/>
          </a:prstGeom>
          <a:noFill/>
          <a:ln/>
        </p:spPr>
        <p:txBody>
          <a:bodyPr wrap="square" lIns="0" tIns="0" rIns="0" bIns="0" rtlCol="0" anchor="ctr"/>
          <a:lstStyle/>
          <a:p>
            <a:pPr indent="0" marL="0">
              <a:buNone/>
            </a:pPr>
            <a:r>
              <a:rPr lang="en-US" sz="1300" spc="100" kern="0" dirty="0">
                <a:solidFill>
                  <a:srgbClr val="8F8F8F"/>
                </a:solidFill>
                <a:latin typeface="Calibri Light" pitchFamily="34" charset="0"/>
                <a:ea typeface="Calibri Light" pitchFamily="34" charset="-122"/>
                <a:cs typeface="Calibri Light" pitchFamily="34" charset="-120"/>
              </a:rPr>
              <a:t>04   WHAT I FOUND</a:t>
            </a:r>
            <a:endParaRPr lang="en-US" sz="1300" dirty="0"/>
          </a:p>
        </p:txBody>
      </p:sp>
      <p:sp>
        <p:nvSpPr>
          <p:cNvPr id="18" name="Text 16"/>
          <p:cNvSpPr txBox="1"/>
          <p:nvPr/>
        </p:nvSpPr>
        <p:spPr>
          <a:xfrm>
            <a:off x="9303791" y="2276856"/>
            <a:ext cx="2110664" cy="969264"/>
          </a:xfrm>
          <a:prstGeom prst="rect">
            <a:avLst/>
          </a:prstGeom>
          <a:noFill/>
          <a:ln/>
        </p:spPr>
        <p:txBody>
          <a:bodyPr wrap="square" lIns="0" tIns="0" rIns="0" bIns="0" rtlCol="0" anchor="t"/>
          <a:lstStyle/>
          <a:p>
            <a:pPr indent="0" marL="0">
              <a:buNone/>
            </a:pPr>
            <a:r>
              <a:rPr lang="en-US" sz="1700" b="1" dirty="0">
                <a:solidFill>
                  <a:srgbClr val="062746"/>
                </a:solidFill>
                <a:latin typeface="Georgia" pitchFamily="34" charset="0"/>
                <a:ea typeface="Georgia" pitchFamily="34" charset="-122"/>
                <a:cs typeface="Georgia" pitchFamily="34" charset="-120"/>
              </a:rPr>
              <a:t>Audits work through consequences</a:t>
            </a:r>
            <a:endParaRPr lang="en-US" sz="1700" dirty="0"/>
          </a:p>
        </p:txBody>
      </p:sp>
      <p:sp>
        <p:nvSpPr>
          <p:cNvPr id="19" name="Text 17"/>
          <p:cNvSpPr txBox="1"/>
          <p:nvPr/>
        </p:nvSpPr>
        <p:spPr>
          <a:xfrm>
            <a:off x="9303791" y="3291840"/>
            <a:ext cx="2110664" cy="1920240"/>
          </a:xfrm>
          <a:prstGeom prst="rect">
            <a:avLst/>
          </a:prstGeom>
          <a:noFill/>
          <a:ln/>
        </p:spPr>
        <p:txBody>
          <a:bodyPr wrap="square" lIns="0" tIns="0" rIns="0" bIns="0" rtlCol="0" anchor="t"/>
          <a:lstStyle/>
          <a:p>
            <a:pPr indent="0" marL="0">
              <a:buNone/>
            </a:pPr>
            <a:r>
              <a:rPr lang="en-US" sz="1350" dirty="0">
                <a:solidFill>
                  <a:srgbClr val="1C191A"/>
                </a:solidFill>
                <a:latin typeface="Calibri" pitchFamily="34" charset="0"/>
                <a:ea typeface="Calibri" pitchFamily="34" charset="-122"/>
                <a:cs typeface="Calibri" pitchFamily="34" charset="-120"/>
              </a:rPr>
              <a:t>The stopping fine is predictable from an agent's gain from over-taking, for programmed agents and for language models.</a:t>
            </a:r>
            <a:endParaRPr lang="en-US" sz="1350" dirty="0"/>
          </a:p>
        </p:txBody>
      </p:sp>
      <p:sp>
        <p:nvSpPr>
          <p:cNvPr id="20" name="Text 18"/>
          <p:cNvSpPr txBox="1"/>
          <p:nvPr/>
        </p:nvSpPr>
        <p:spPr>
          <a:xfrm>
            <a:off x="548640" y="5852160"/>
            <a:ext cx="11094415" cy="411480"/>
          </a:xfrm>
          <a:prstGeom prst="rect">
            <a:avLst/>
          </a:prstGeom>
          <a:noFill/>
          <a:ln/>
        </p:spPr>
        <p:txBody>
          <a:bodyPr wrap="square" lIns="0" tIns="0" rIns="0" bIns="0" rtlCol="0" anchor="ctr"/>
          <a:lstStyle/>
          <a:p>
            <a:pPr algn="ctr" indent="0" marL="0">
              <a:buNone/>
            </a:pPr>
            <a:r>
              <a:rPr lang="en-US" sz="1500" i="1" dirty="0">
                <a:solidFill>
                  <a:srgbClr val="55524E"/>
                </a:solidFill>
                <a:latin typeface="Calibri" pitchFamily="34" charset="0"/>
                <a:ea typeface="Calibri" pitchFamily="34" charset="-122"/>
                <a:cs typeface="Calibri" pitchFamily="34" charset="-120"/>
              </a:rPr>
              <a:t>Next: the setting, the method, five findings, and what is still running</a:t>
            </a:r>
            <a:endParaRPr lang="en-US" sz="1500" dirty="0"/>
          </a:p>
        </p:txBody>
      </p:sp>
      <p:sp>
        <p:nvSpPr>
          <p:cNvPr id="21" name="Text 19"/>
          <p:cNvSpPr txBox="1"/>
          <p:nvPr/>
        </p:nvSpPr>
        <p:spPr>
          <a:xfrm>
            <a:off x="11368735" y="6400800"/>
            <a:ext cx="457200" cy="274320"/>
          </a:xfrm>
          <a:prstGeom prst="rect">
            <a:avLst/>
          </a:prstGeom>
          <a:noFill/>
          <a:ln/>
        </p:spPr>
        <p:txBody>
          <a:bodyPr wrap="square" lIns="0" tIns="0" rIns="0" bIns="0" rtlCol="0" anchor="ctr"/>
          <a:lstStyle/>
          <a:p>
            <a:pPr algn="r" indent="0" marL="0">
              <a:buNone/>
            </a:pPr>
            <a:r>
              <a:rPr lang="en-US" sz="1000" dirty="0">
                <a:solidFill>
                  <a:srgbClr val="1C191A"/>
                </a:solidFill>
                <a:latin typeface="Calibri" pitchFamily="34" charset="0"/>
                <a:ea typeface="Calibri" pitchFamily="34" charset="-122"/>
                <a:cs typeface="Calibri" pitchFamily="34" charset="-120"/>
              </a:rPr>
              <a:t>2</a:t>
            </a:r>
            <a:endParaRPr lang="en-US" sz="1000" dirty="0"/>
          </a:p>
        </p:txBody>
      </p:sp>
    </p:spTree>
  </p:cSld>
  <p:clrMapOvr>
    <a:masterClrMapping/>
  </p:clrMapOvr>
</p:sld>
</file>

<file path=ppt/slides/slide3.xml><?xml version="1.0" encoding="utf-8"?>
<p:sld xmlns:a="http://schemas.openxmlformats.org/drawingml/2006/main" xmlns:r="http://schemas.openxmlformats.org/officeDocument/2006/relationships" xmlns:p="http://schemas.openxmlformats.org/presentationml/2006/main">
  <p:cSld name="Slide 3">
    <p:spTree>
      <p:nvGrpSpPr>
        <p:cNvPr id="1" name=""/>
        <p:cNvGrpSpPr/>
        <p:nvPr/>
      </p:nvGrpSpPr>
      <p:grpSpPr>
        <a:xfrm>
          <a:off x="0" y="0"/>
          <a:ext cx="0" cy="0"/>
          <a:chOff x="0" y="0"/>
          <a:chExt cx="0" cy="0"/>
        </a:xfrm>
      </p:grpSpPr>
      <p:sp>
        <p:nvSpPr>
          <p:cNvPr id="2" name="Text 0"/>
          <p:cNvSpPr txBox="1"/>
          <p:nvPr/>
        </p:nvSpPr>
        <p:spPr>
          <a:xfrm>
            <a:off x="548640" y="365760"/>
            <a:ext cx="11094415" cy="777240"/>
          </a:xfrm>
          <a:prstGeom prst="rect">
            <a:avLst/>
          </a:prstGeom>
          <a:noFill/>
          <a:ln/>
        </p:spPr>
        <p:txBody>
          <a:bodyPr wrap="square" lIns="0" tIns="0" rIns="0" bIns="0" rtlCol="0" anchor="b"/>
          <a:lstStyle/>
          <a:p>
            <a:pPr algn="l" indent="0" marL="0">
              <a:lnSpc>
                <a:spcPct val="95000"/>
              </a:lnSpc>
              <a:buNone/>
            </a:pPr>
            <a:r>
              <a:rPr lang="en-US" sz="3400" b="1" dirty="0">
                <a:solidFill>
                  <a:srgbClr val="062746"/>
                </a:solidFill>
                <a:latin typeface="Georgia" pitchFamily="34" charset="0"/>
                <a:ea typeface="Georgia" pitchFamily="34" charset="-122"/>
                <a:cs typeface="Georgia" pitchFamily="34" charset="-120"/>
              </a:rPr>
              <a:t>The Problem</a:t>
            </a:r>
            <a:endParaRPr lang="en-US" sz="3400" dirty="0"/>
          </a:p>
        </p:txBody>
      </p:sp>
      <p:sp>
        <p:nvSpPr>
          <p:cNvPr id="3" name="Shape 1"/>
          <p:cNvSpPr/>
          <p:nvPr/>
        </p:nvSpPr>
        <p:spPr>
          <a:xfrm>
            <a:off x="548640" y="1271016"/>
            <a:ext cx="3291840" cy="91440"/>
          </a:xfrm>
          <a:prstGeom prst="rect">
            <a:avLst/>
          </a:prstGeom>
          <a:solidFill>
            <a:srgbClr val="131B28"/>
          </a:solidFill>
          <a:ln w="12700">
            <a:solidFill>
              <a:srgbClr val="131B28"/>
            </a:solidFill>
            <a:prstDash val="solid"/>
          </a:ln>
        </p:spPr>
      </p:sp>
      <p:sp>
        <p:nvSpPr>
          <p:cNvPr id="4" name="Text 2"/>
          <p:cNvSpPr txBox="1"/>
          <p:nvPr/>
        </p:nvSpPr>
        <p:spPr>
          <a:xfrm>
            <a:off x="548640" y="1545336"/>
            <a:ext cx="4572000" cy="365760"/>
          </a:xfrm>
          <a:prstGeom prst="rect">
            <a:avLst/>
          </a:prstGeom>
          <a:noFill/>
          <a:ln/>
        </p:spPr>
        <p:txBody>
          <a:bodyPr wrap="square" lIns="0" tIns="0" rIns="0" bIns="0" rtlCol="0" anchor="t"/>
          <a:lstStyle/>
          <a:p>
            <a:pPr indent="0" marL="0">
              <a:buNone/>
            </a:pPr>
            <a:r>
              <a:rPr lang="en-US" sz="1700" b="1" dirty="0">
                <a:solidFill>
                  <a:srgbClr val="1C191A"/>
                </a:solidFill>
                <a:latin typeface="Georgia" pitchFamily="34" charset="0"/>
                <a:ea typeface="Georgia" pitchFamily="34" charset="-122"/>
                <a:cs typeface="Georgia" pitchFamily="34" charset="-120"/>
              </a:rPr>
              <a:t>Allowances</a:t>
            </a:r>
            <a:endParaRPr lang="en-US" sz="1700" dirty="0"/>
          </a:p>
        </p:txBody>
      </p:sp>
      <p:sp>
        <p:nvSpPr>
          <p:cNvPr id="5" name="Text 3"/>
          <p:cNvSpPr txBox="1"/>
          <p:nvPr/>
        </p:nvSpPr>
        <p:spPr>
          <a:xfrm>
            <a:off x="548640" y="1929384"/>
            <a:ext cx="4572000" cy="745236"/>
          </a:xfrm>
          <a:prstGeom prst="rect">
            <a:avLst/>
          </a:prstGeom>
          <a:noFill/>
          <a:ln/>
        </p:spPr>
        <p:txBody>
          <a:bodyPr wrap="square" lIns="0" tIns="0" rIns="0" bIns="0" rtlCol="0" anchor="t"/>
          <a:lstStyle/>
          <a:p>
            <a:pPr algn="just" indent="0" marL="0">
              <a:buNone/>
            </a:pPr>
            <a:r>
              <a:rPr lang="en-US" sz="1400" dirty="0">
                <a:solidFill>
                  <a:srgbClr val="1C191A"/>
                </a:solidFill>
                <a:latin typeface="Calibri" pitchFamily="34" charset="0"/>
                <a:ea typeface="Calibri" pitchFamily="34" charset="-122"/>
                <a:cs typeface="Calibri" pitchFamily="34" charset="-120"/>
              </a:rPr>
              <a:t>Each round, an agent may take its allowance. Taking more, over-taking, helps that agent and costs everyone else.</a:t>
            </a:r>
            <a:endParaRPr lang="en-US" sz="1400" dirty="0"/>
          </a:p>
        </p:txBody>
      </p:sp>
      <p:sp>
        <p:nvSpPr>
          <p:cNvPr id="6" name="Text 4"/>
          <p:cNvSpPr txBox="1"/>
          <p:nvPr/>
        </p:nvSpPr>
        <p:spPr>
          <a:xfrm>
            <a:off x="548640" y="2839212"/>
            <a:ext cx="4572000" cy="365760"/>
          </a:xfrm>
          <a:prstGeom prst="rect">
            <a:avLst/>
          </a:prstGeom>
          <a:noFill/>
          <a:ln/>
        </p:spPr>
        <p:txBody>
          <a:bodyPr wrap="square" lIns="0" tIns="0" rIns="0" bIns="0" rtlCol="0" anchor="t"/>
          <a:lstStyle/>
          <a:p>
            <a:pPr indent="0" marL="0">
              <a:buNone/>
            </a:pPr>
            <a:r>
              <a:rPr lang="en-US" sz="1700" b="1" dirty="0">
                <a:solidFill>
                  <a:srgbClr val="1C191A"/>
                </a:solidFill>
                <a:latin typeface="Georgia" pitchFamily="34" charset="0"/>
                <a:ea typeface="Georgia" pitchFamily="34" charset="-122"/>
                <a:cs typeface="Georgia" pitchFamily="34" charset="-120"/>
              </a:rPr>
              <a:t>Sampled oversight</a:t>
            </a:r>
            <a:endParaRPr lang="en-US" sz="1700" dirty="0"/>
          </a:p>
        </p:txBody>
      </p:sp>
      <p:sp>
        <p:nvSpPr>
          <p:cNvPr id="7" name="Text 5"/>
          <p:cNvSpPr txBox="1"/>
          <p:nvPr/>
        </p:nvSpPr>
        <p:spPr>
          <a:xfrm>
            <a:off x="548640" y="3223260"/>
            <a:ext cx="4572000" cy="745236"/>
          </a:xfrm>
          <a:prstGeom prst="rect">
            <a:avLst/>
          </a:prstGeom>
          <a:noFill/>
          <a:ln/>
        </p:spPr>
        <p:txBody>
          <a:bodyPr wrap="square" lIns="0" tIns="0" rIns="0" bIns="0" rtlCol="0" anchor="t"/>
          <a:lstStyle/>
          <a:p>
            <a:pPr algn="just" indent="0" marL="0">
              <a:buNone/>
            </a:pPr>
            <a:r>
              <a:rPr lang="en-US" sz="1400" dirty="0">
                <a:solidFill>
                  <a:srgbClr val="1C191A"/>
                </a:solidFill>
                <a:latin typeface="Calibri" pitchFamily="34" charset="0"/>
                <a:ea typeface="Calibri" pitchFamily="34" charset="-122"/>
                <a:cs typeface="Calibri" pitchFamily="34" charset="-120"/>
              </a:rPr>
              <a:t>Auditing every action is too costly, so random audits check a few agents, as tax and fisheries inspectors do.</a:t>
            </a:r>
            <a:endParaRPr lang="en-US" sz="1400" dirty="0"/>
          </a:p>
        </p:txBody>
      </p:sp>
      <p:sp>
        <p:nvSpPr>
          <p:cNvPr id="8" name="Text 6"/>
          <p:cNvSpPr txBox="1"/>
          <p:nvPr/>
        </p:nvSpPr>
        <p:spPr>
          <a:xfrm>
            <a:off x="548640" y="4133088"/>
            <a:ext cx="4572000" cy="365760"/>
          </a:xfrm>
          <a:prstGeom prst="rect">
            <a:avLst/>
          </a:prstGeom>
          <a:noFill/>
          <a:ln/>
        </p:spPr>
        <p:txBody>
          <a:bodyPr wrap="square" lIns="0" tIns="0" rIns="0" bIns="0" rtlCol="0" anchor="t"/>
          <a:lstStyle/>
          <a:p>
            <a:pPr indent="0" marL="0">
              <a:buNone/>
            </a:pPr>
            <a:r>
              <a:rPr lang="en-US" sz="1700" b="1" dirty="0">
                <a:solidFill>
                  <a:srgbClr val="1C191A"/>
                </a:solidFill>
                <a:latin typeface="Georgia" pitchFamily="34" charset="0"/>
                <a:ea typeface="Georgia" pitchFamily="34" charset="-122"/>
                <a:cs typeface="Georgia" pitchFamily="34" charset="-120"/>
              </a:rPr>
              <a:t>The question</a:t>
            </a:r>
            <a:endParaRPr lang="en-US" sz="1700" dirty="0"/>
          </a:p>
        </p:txBody>
      </p:sp>
      <p:sp>
        <p:nvSpPr>
          <p:cNvPr id="9" name="Text 7"/>
          <p:cNvSpPr txBox="1"/>
          <p:nvPr/>
        </p:nvSpPr>
        <p:spPr>
          <a:xfrm>
            <a:off x="548640" y="4517136"/>
            <a:ext cx="4572000" cy="521208"/>
          </a:xfrm>
          <a:prstGeom prst="rect">
            <a:avLst/>
          </a:prstGeom>
          <a:noFill/>
          <a:ln/>
        </p:spPr>
        <p:txBody>
          <a:bodyPr wrap="square" lIns="0" tIns="0" rIns="0" bIns="0" rtlCol="0" anchor="t"/>
          <a:lstStyle/>
          <a:p>
            <a:pPr algn="just" indent="0" marL="0">
              <a:buNone/>
            </a:pPr>
            <a:r>
              <a:rPr lang="en-US" sz="1400" dirty="0">
                <a:solidFill>
                  <a:srgbClr val="1C191A"/>
                </a:solidFill>
                <a:latin typeface="Calibri" pitchFamily="34" charset="0"/>
                <a:ea typeface="Calibri" pitchFamily="34" charset="-122"/>
                <a:cs typeface="Calibri" pitchFamily="34" charset="-120"/>
              </a:rPr>
              <a:t>When do random audits stop over-taking, and how large must the fine be?</a:t>
            </a:r>
            <a:endParaRPr lang="en-US" sz="1400" dirty="0"/>
          </a:p>
        </p:txBody>
      </p:sp>
      <p:pic>
        <p:nvPicPr>
          <p:cNvPr id="10" name="Image 0" descr="fig_networks.png">    </p:cNvPr>
          <p:cNvPicPr>
            <a:picLocks noChangeAspect="1"/>
          </p:cNvPicPr>
          <p:nvPr/>
        </p:nvPicPr>
        <p:blipFill>
          <a:blip r:embed="rId1"/>
          <a:stretch>
            <a:fillRect/>
          </a:stretch>
        </p:blipFill>
        <p:spPr>
          <a:xfrm>
            <a:off x="5532120" y="2314163"/>
            <a:ext cx="6110935" cy="2311970"/>
          </a:xfrm>
          <a:prstGeom prst="rect">
            <a:avLst/>
          </a:prstGeom>
        </p:spPr>
      </p:pic>
      <p:sp>
        <p:nvSpPr>
          <p:cNvPr id="11" name="Text 8"/>
          <p:cNvSpPr txBox="1"/>
          <p:nvPr/>
        </p:nvSpPr>
        <p:spPr>
          <a:xfrm>
            <a:off x="5532120" y="4735861"/>
            <a:ext cx="6110935" cy="502920"/>
          </a:xfrm>
          <a:prstGeom prst="rect">
            <a:avLst/>
          </a:prstGeom>
          <a:noFill/>
          <a:ln/>
        </p:spPr>
        <p:txBody>
          <a:bodyPr wrap="square" lIns="0" tIns="0" rIns="0" bIns="0" rtlCol="0" anchor="t"/>
          <a:lstStyle/>
          <a:p>
            <a:pPr algn="ctr" indent="0" marL="0">
              <a:buNone/>
            </a:pPr>
            <a:r>
              <a:rPr lang="en-US" sz="1100" i="1" dirty="0">
                <a:solidFill>
                  <a:srgbClr val="55524E"/>
                </a:solidFill>
                <a:latin typeface="Calibri" pitchFamily="34" charset="0"/>
                <a:ea typeface="Calibri" pitchFamily="34" charset="-122"/>
                <a:cs typeface="Calibri" pitchFamily="34" charset="-120"/>
              </a:rPr>
              <a:t>Three settings where harm spreads differently: one shared stock (Fishery), damage to neighbours on a ring (Forest), and pollution that is harmful only in combination (River). A result that holds in all three does not depend on one structure.</a:t>
            </a:r>
            <a:endParaRPr lang="en-US" sz="1100" dirty="0"/>
          </a:p>
        </p:txBody>
      </p:sp>
      <p:sp>
        <p:nvSpPr>
          <p:cNvPr id="12" name="Text 9"/>
          <p:cNvSpPr txBox="1"/>
          <p:nvPr/>
        </p:nvSpPr>
        <p:spPr>
          <a:xfrm>
            <a:off x="11368735" y="6400800"/>
            <a:ext cx="457200" cy="274320"/>
          </a:xfrm>
          <a:prstGeom prst="rect">
            <a:avLst/>
          </a:prstGeom>
          <a:noFill/>
          <a:ln/>
        </p:spPr>
        <p:txBody>
          <a:bodyPr wrap="square" lIns="0" tIns="0" rIns="0" bIns="0" rtlCol="0" anchor="ctr"/>
          <a:lstStyle/>
          <a:p>
            <a:pPr algn="r" indent="0" marL="0">
              <a:buNone/>
            </a:pPr>
            <a:r>
              <a:rPr lang="en-US" sz="1000" dirty="0">
                <a:solidFill>
                  <a:srgbClr val="1C191A"/>
                </a:solidFill>
                <a:latin typeface="Calibri" pitchFamily="34" charset="0"/>
                <a:ea typeface="Calibri" pitchFamily="34" charset="-122"/>
                <a:cs typeface="Calibri" pitchFamily="34" charset="-120"/>
              </a:rPr>
              <a:t>3</a:t>
            </a:r>
            <a:endParaRPr lang="en-US" sz="1000" dirty="0"/>
          </a:p>
        </p:txBody>
      </p:sp>
    </p:spTree>
  </p:cSld>
  <p:clrMapOvr>
    <a:masterClrMapping/>
  </p:clrMapOvr>
</p:sld>
</file>

<file path=ppt/slides/slide4.xml><?xml version="1.0" encoding="utf-8"?>
<p:sld xmlns:a="http://schemas.openxmlformats.org/drawingml/2006/main" xmlns:r="http://schemas.openxmlformats.org/officeDocument/2006/relationships" xmlns:p="http://schemas.openxmlformats.org/presentationml/2006/main">
  <p:cSld name="Slide 4">
    <p:spTree>
      <p:nvGrpSpPr>
        <p:cNvPr id="1" name=""/>
        <p:cNvGrpSpPr/>
        <p:nvPr/>
      </p:nvGrpSpPr>
      <p:grpSpPr>
        <a:xfrm>
          <a:off x="0" y="0"/>
          <a:ext cx="0" cy="0"/>
          <a:chOff x="0" y="0"/>
          <a:chExt cx="0" cy="0"/>
        </a:xfrm>
      </p:grpSpPr>
      <p:sp>
        <p:nvSpPr>
          <p:cNvPr id="2" name="Text 0"/>
          <p:cNvSpPr txBox="1"/>
          <p:nvPr/>
        </p:nvSpPr>
        <p:spPr>
          <a:xfrm>
            <a:off x="548640" y="1097280"/>
            <a:ext cx="4754880" cy="1828800"/>
          </a:xfrm>
          <a:prstGeom prst="rect">
            <a:avLst/>
          </a:prstGeom>
          <a:noFill/>
          <a:ln/>
        </p:spPr>
        <p:txBody>
          <a:bodyPr wrap="square" lIns="0" tIns="0" rIns="0" bIns="0" rtlCol="0" anchor="b"/>
          <a:lstStyle/>
          <a:p>
            <a:pPr algn="l" indent="0" marL="0">
              <a:lnSpc>
                <a:spcPct val="95000"/>
              </a:lnSpc>
              <a:buNone/>
            </a:pPr>
            <a:r>
              <a:rPr lang="en-US" sz="3600" b="1" dirty="0">
                <a:solidFill>
                  <a:srgbClr val="062746"/>
                </a:solidFill>
                <a:latin typeface="Georgia" pitchFamily="34" charset="0"/>
                <a:ea typeface="Georgia" pitchFamily="34" charset="-122"/>
                <a:cs typeface="Georgia" pitchFamily="34" charset="-120"/>
              </a:rPr>
              <a:t>Three Questions</a:t>
            </a:r>
            <a:endParaRPr lang="en-US" sz="3600" dirty="0"/>
          </a:p>
        </p:txBody>
      </p:sp>
      <p:sp>
        <p:nvSpPr>
          <p:cNvPr id="3" name="Shape 1"/>
          <p:cNvSpPr/>
          <p:nvPr/>
        </p:nvSpPr>
        <p:spPr>
          <a:xfrm>
            <a:off x="548640" y="3054096"/>
            <a:ext cx="3291840" cy="91440"/>
          </a:xfrm>
          <a:prstGeom prst="rect">
            <a:avLst/>
          </a:prstGeom>
          <a:solidFill>
            <a:srgbClr val="131B28"/>
          </a:solidFill>
          <a:ln w="12700">
            <a:solidFill>
              <a:srgbClr val="131B28"/>
            </a:solidFill>
            <a:prstDash val="solid"/>
          </a:ln>
        </p:spPr>
      </p:sp>
      <p:sp>
        <p:nvSpPr>
          <p:cNvPr id="4" name="Text 2"/>
          <p:cNvSpPr txBox="1"/>
          <p:nvPr/>
        </p:nvSpPr>
        <p:spPr>
          <a:xfrm>
            <a:off x="5989320" y="914400"/>
            <a:ext cx="731520" cy="457200"/>
          </a:xfrm>
          <a:prstGeom prst="rect">
            <a:avLst/>
          </a:prstGeom>
          <a:noFill/>
          <a:ln/>
        </p:spPr>
        <p:txBody>
          <a:bodyPr wrap="square" lIns="0" tIns="0" rIns="0" bIns="0" rtlCol="0" anchor="t"/>
          <a:lstStyle/>
          <a:p>
            <a:pPr indent="0" marL="0">
              <a:buNone/>
            </a:pPr>
            <a:r>
              <a:rPr lang="en-US" sz="2600" dirty="0">
                <a:solidFill>
                  <a:srgbClr val="8F8F8F"/>
                </a:solidFill>
                <a:latin typeface="Calibri Light" pitchFamily="34" charset="0"/>
                <a:ea typeface="Calibri Light" pitchFamily="34" charset="-122"/>
                <a:cs typeface="Calibri Light" pitchFamily="34" charset="-120"/>
              </a:rPr>
              <a:t>01</a:t>
            </a:r>
            <a:endParaRPr lang="en-US" sz="2600" dirty="0"/>
          </a:p>
        </p:txBody>
      </p:sp>
      <p:sp>
        <p:nvSpPr>
          <p:cNvPr id="5" name="Text 3"/>
          <p:cNvSpPr txBox="1"/>
          <p:nvPr/>
        </p:nvSpPr>
        <p:spPr>
          <a:xfrm>
            <a:off x="6812280" y="896112"/>
            <a:ext cx="4846320" cy="402336"/>
          </a:xfrm>
          <a:prstGeom prst="rect">
            <a:avLst/>
          </a:prstGeom>
          <a:noFill/>
          <a:ln/>
        </p:spPr>
        <p:txBody>
          <a:bodyPr wrap="square" lIns="0" tIns="0" rIns="0" bIns="0" rtlCol="0" anchor="t"/>
          <a:lstStyle/>
          <a:p>
            <a:pPr indent="0" marL="0">
              <a:buNone/>
            </a:pPr>
            <a:r>
              <a:rPr lang="en-US" sz="1900" b="1" dirty="0">
                <a:solidFill>
                  <a:srgbClr val="1C191A"/>
                </a:solidFill>
                <a:latin typeface="Georgia" pitchFamily="34" charset="0"/>
                <a:ea typeface="Georgia" pitchFamily="34" charset="-122"/>
                <a:cs typeface="Georgia" pitchFamily="34" charset="-120"/>
              </a:rPr>
              <a:t>What must follow a catch?</a:t>
            </a:r>
            <a:endParaRPr lang="en-US" sz="1900" dirty="0"/>
          </a:p>
        </p:txBody>
      </p:sp>
      <p:sp>
        <p:nvSpPr>
          <p:cNvPr id="6" name="Text 4"/>
          <p:cNvSpPr txBox="1"/>
          <p:nvPr/>
        </p:nvSpPr>
        <p:spPr>
          <a:xfrm>
            <a:off x="6812280" y="1316736"/>
            <a:ext cx="4846320" cy="868680"/>
          </a:xfrm>
          <a:prstGeom prst="rect">
            <a:avLst/>
          </a:prstGeom>
          <a:noFill/>
          <a:ln/>
        </p:spPr>
        <p:txBody>
          <a:bodyPr wrap="square" lIns="0" tIns="0" rIns="0" bIns="0" rtlCol="0" anchor="t"/>
          <a:lstStyle/>
          <a:p>
            <a:pPr algn="just" indent="0" marL="0">
              <a:buNone/>
            </a:pPr>
            <a:r>
              <a:rPr lang="en-US" sz="1400" dirty="0">
                <a:solidFill>
                  <a:srgbClr val="1C191A"/>
                </a:solidFill>
                <a:latin typeface="Calibri" pitchFamily="34" charset="0"/>
                <a:ea typeface="Calibri" pitchFamily="34" charset="-122"/>
                <a:cs typeface="Calibri" pitchFamily="34" charset="-120"/>
              </a:rPr>
              <a:t>A fine, a memory of the offence, or nothing: which one reduces harm?</a:t>
            </a:r>
            <a:endParaRPr lang="en-US" sz="1400" dirty="0"/>
          </a:p>
        </p:txBody>
      </p:sp>
      <p:sp>
        <p:nvSpPr>
          <p:cNvPr id="7" name="Text 5"/>
          <p:cNvSpPr txBox="1"/>
          <p:nvPr/>
        </p:nvSpPr>
        <p:spPr>
          <a:xfrm>
            <a:off x="5989320" y="2240280"/>
            <a:ext cx="731520" cy="457200"/>
          </a:xfrm>
          <a:prstGeom prst="rect">
            <a:avLst/>
          </a:prstGeom>
          <a:noFill/>
          <a:ln/>
        </p:spPr>
        <p:txBody>
          <a:bodyPr wrap="square" lIns="0" tIns="0" rIns="0" bIns="0" rtlCol="0" anchor="t"/>
          <a:lstStyle/>
          <a:p>
            <a:pPr indent="0" marL="0">
              <a:buNone/>
            </a:pPr>
            <a:r>
              <a:rPr lang="en-US" sz="2600" dirty="0">
                <a:solidFill>
                  <a:srgbClr val="8F8F8F"/>
                </a:solidFill>
                <a:latin typeface="Calibri Light" pitchFamily="34" charset="0"/>
                <a:ea typeface="Calibri Light" pitchFamily="34" charset="-122"/>
                <a:cs typeface="Calibri Light" pitchFamily="34" charset="-120"/>
              </a:rPr>
              <a:t>02</a:t>
            </a:r>
            <a:endParaRPr lang="en-US" sz="2600" dirty="0"/>
          </a:p>
        </p:txBody>
      </p:sp>
      <p:sp>
        <p:nvSpPr>
          <p:cNvPr id="8" name="Text 6"/>
          <p:cNvSpPr txBox="1"/>
          <p:nvPr/>
        </p:nvSpPr>
        <p:spPr>
          <a:xfrm>
            <a:off x="6812280" y="2221992"/>
            <a:ext cx="4846320" cy="731520"/>
          </a:xfrm>
          <a:prstGeom prst="rect">
            <a:avLst/>
          </a:prstGeom>
          <a:noFill/>
          <a:ln/>
        </p:spPr>
        <p:txBody>
          <a:bodyPr wrap="square" lIns="0" tIns="0" rIns="0" bIns="0" rtlCol="0" anchor="t"/>
          <a:lstStyle/>
          <a:p>
            <a:pPr indent="0" marL="0">
              <a:buNone/>
            </a:pPr>
            <a:r>
              <a:rPr lang="en-US" sz="1900" b="1" dirty="0">
                <a:solidFill>
                  <a:srgbClr val="1C191A"/>
                </a:solidFill>
                <a:latin typeface="Georgia" pitchFamily="34" charset="0"/>
                <a:ea typeface="Georgia" pitchFamily="34" charset="-122"/>
                <a:cs typeface="Georgia" pitchFamily="34" charset="-120"/>
              </a:rPr>
              <a:t>Can the stopping fine be predicted?</a:t>
            </a:r>
            <a:endParaRPr lang="en-US" sz="1900" dirty="0"/>
          </a:p>
        </p:txBody>
      </p:sp>
      <p:sp>
        <p:nvSpPr>
          <p:cNvPr id="9" name="Text 7"/>
          <p:cNvSpPr txBox="1"/>
          <p:nvPr/>
        </p:nvSpPr>
        <p:spPr>
          <a:xfrm>
            <a:off x="6812280" y="2971800"/>
            <a:ext cx="4846320" cy="868680"/>
          </a:xfrm>
          <a:prstGeom prst="rect">
            <a:avLst/>
          </a:prstGeom>
          <a:noFill/>
          <a:ln/>
        </p:spPr>
        <p:txBody>
          <a:bodyPr wrap="square" lIns="0" tIns="0" rIns="0" bIns="0" rtlCol="0" anchor="t"/>
          <a:lstStyle/>
          <a:p>
            <a:pPr algn="just" indent="0" marL="0">
              <a:buNone/>
            </a:pPr>
            <a:r>
              <a:rPr lang="en-US" sz="1400" dirty="0">
                <a:solidFill>
                  <a:srgbClr val="1C191A"/>
                </a:solidFill>
                <a:latin typeface="Calibri" pitchFamily="34" charset="0"/>
                <a:ea typeface="Calibri" pitchFamily="34" charset="-122"/>
                <a:cs typeface="Calibri" pitchFamily="34" charset="-120"/>
              </a:rPr>
              <a:t>Can we compute it before trying it?</a:t>
            </a:r>
            <a:endParaRPr lang="en-US" sz="1400" dirty="0"/>
          </a:p>
        </p:txBody>
      </p:sp>
      <p:sp>
        <p:nvSpPr>
          <p:cNvPr id="10" name="Text 8"/>
          <p:cNvSpPr txBox="1"/>
          <p:nvPr/>
        </p:nvSpPr>
        <p:spPr>
          <a:xfrm>
            <a:off x="5989320" y="3566160"/>
            <a:ext cx="731520" cy="457200"/>
          </a:xfrm>
          <a:prstGeom prst="rect">
            <a:avLst/>
          </a:prstGeom>
          <a:noFill/>
          <a:ln/>
        </p:spPr>
        <p:txBody>
          <a:bodyPr wrap="square" lIns="0" tIns="0" rIns="0" bIns="0" rtlCol="0" anchor="t"/>
          <a:lstStyle/>
          <a:p>
            <a:pPr indent="0" marL="0">
              <a:buNone/>
            </a:pPr>
            <a:r>
              <a:rPr lang="en-US" sz="2600" dirty="0">
                <a:solidFill>
                  <a:srgbClr val="8F8F8F"/>
                </a:solidFill>
                <a:latin typeface="Calibri Light" pitchFamily="34" charset="0"/>
                <a:ea typeface="Calibri Light" pitchFamily="34" charset="-122"/>
                <a:cs typeface="Calibri Light" pitchFamily="34" charset="-120"/>
              </a:rPr>
              <a:t>03</a:t>
            </a:r>
            <a:endParaRPr lang="en-US" sz="2600" dirty="0"/>
          </a:p>
        </p:txBody>
      </p:sp>
      <p:sp>
        <p:nvSpPr>
          <p:cNvPr id="11" name="Text 9"/>
          <p:cNvSpPr txBox="1"/>
          <p:nvPr/>
        </p:nvSpPr>
        <p:spPr>
          <a:xfrm>
            <a:off x="6812280" y="3547872"/>
            <a:ext cx="4846320" cy="731520"/>
          </a:xfrm>
          <a:prstGeom prst="rect">
            <a:avLst/>
          </a:prstGeom>
          <a:noFill/>
          <a:ln/>
        </p:spPr>
        <p:txBody>
          <a:bodyPr wrap="square" lIns="0" tIns="0" rIns="0" bIns="0" rtlCol="0" anchor="t"/>
          <a:lstStyle/>
          <a:p>
            <a:pPr indent="0" marL="0">
              <a:buNone/>
            </a:pPr>
            <a:r>
              <a:rPr lang="en-US" sz="1900" b="1" dirty="0">
                <a:solidFill>
                  <a:srgbClr val="1C191A"/>
                </a:solidFill>
                <a:latin typeface="Georgia" pitchFamily="34" charset="0"/>
                <a:ea typeface="Georgia" pitchFamily="34" charset="-122"/>
                <a:cs typeface="Georgia" pitchFamily="34" charset="-120"/>
              </a:rPr>
              <a:t>Do language models follow the same rule?</a:t>
            </a:r>
            <a:endParaRPr lang="en-US" sz="1900" dirty="0"/>
          </a:p>
        </p:txBody>
      </p:sp>
      <p:sp>
        <p:nvSpPr>
          <p:cNvPr id="12" name="Text 10"/>
          <p:cNvSpPr txBox="1"/>
          <p:nvPr/>
        </p:nvSpPr>
        <p:spPr>
          <a:xfrm>
            <a:off x="6812280" y="4297680"/>
            <a:ext cx="4846320" cy="868680"/>
          </a:xfrm>
          <a:prstGeom prst="rect">
            <a:avLst/>
          </a:prstGeom>
          <a:noFill/>
          <a:ln/>
        </p:spPr>
        <p:txBody>
          <a:bodyPr wrap="square" lIns="0" tIns="0" rIns="0" bIns="0" rtlCol="0" anchor="t"/>
          <a:lstStyle/>
          <a:p>
            <a:pPr algn="just" indent="0" marL="0">
              <a:buNone/>
            </a:pPr>
            <a:r>
              <a:rPr lang="en-US" sz="1400" dirty="0">
                <a:solidFill>
                  <a:srgbClr val="1C191A"/>
                </a:solidFill>
                <a:latin typeface="Calibri" pitchFamily="34" charset="0"/>
                <a:ea typeface="Calibri" pitchFamily="34" charset="-122"/>
                <a:cs typeface="Calibri" pitchFamily="34" charset="-120"/>
              </a:rPr>
              <a:t>Do they stop where the prediction says?</a:t>
            </a:r>
            <a:endParaRPr lang="en-US" sz="1400" dirty="0"/>
          </a:p>
        </p:txBody>
      </p:sp>
      <p:sp>
        <p:nvSpPr>
          <p:cNvPr id="13" name="Text 11"/>
          <p:cNvSpPr txBox="1"/>
          <p:nvPr/>
        </p:nvSpPr>
        <p:spPr>
          <a:xfrm>
            <a:off x="11368735" y="6400800"/>
            <a:ext cx="457200" cy="274320"/>
          </a:xfrm>
          <a:prstGeom prst="rect">
            <a:avLst/>
          </a:prstGeom>
          <a:noFill/>
          <a:ln/>
        </p:spPr>
        <p:txBody>
          <a:bodyPr wrap="square" lIns="0" tIns="0" rIns="0" bIns="0" rtlCol="0" anchor="ctr"/>
          <a:lstStyle/>
          <a:p>
            <a:pPr algn="r" indent="0" marL="0">
              <a:buNone/>
            </a:pPr>
            <a:r>
              <a:rPr lang="en-US" sz="1000" dirty="0">
                <a:solidFill>
                  <a:srgbClr val="1C191A"/>
                </a:solidFill>
                <a:latin typeface="Calibri" pitchFamily="34" charset="0"/>
                <a:ea typeface="Calibri" pitchFamily="34" charset="-122"/>
                <a:cs typeface="Calibri" pitchFamily="34" charset="-120"/>
              </a:rPr>
              <a:t>4</a:t>
            </a:r>
            <a:endParaRPr lang="en-US" sz="1000" dirty="0"/>
          </a:p>
        </p:txBody>
      </p:sp>
    </p:spTree>
  </p:cSld>
  <p:clrMapOvr>
    <a:masterClrMapping/>
  </p:clrMapOvr>
</p:sld>
</file>

<file path=ppt/slides/slide5.xml><?xml version="1.0" encoding="utf-8"?>
<p:sld xmlns:a="http://schemas.openxmlformats.org/drawingml/2006/main" xmlns:r="http://schemas.openxmlformats.org/officeDocument/2006/relationships" xmlns:p="http://schemas.openxmlformats.org/presentationml/2006/main">
  <p:cSld name="Slide 5">
    <p:spTree>
      <p:nvGrpSpPr>
        <p:cNvPr id="1" name=""/>
        <p:cNvGrpSpPr/>
        <p:nvPr/>
      </p:nvGrpSpPr>
      <p:grpSpPr>
        <a:xfrm>
          <a:off x="0" y="0"/>
          <a:ext cx="0" cy="0"/>
          <a:chOff x="0" y="0"/>
          <a:chExt cx="0" cy="0"/>
        </a:xfrm>
      </p:grpSpPr>
      <p:sp>
        <p:nvSpPr>
          <p:cNvPr id="2" name="Text 0"/>
          <p:cNvSpPr txBox="1"/>
          <p:nvPr/>
        </p:nvSpPr>
        <p:spPr>
          <a:xfrm>
            <a:off x="548640" y="274320"/>
            <a:ext cx="11094415" cy="822960"/>
          </a:xfrm>
          <a:prstGeom prst="rect">
            <a:avLst/>
          </a:prstGeom>
          <a:noFill/>
          <a:ln/>
        </p:spPr>
        <p:txBody>
          <a:bodyPr wrap="square" lIns="0" tIns="0" rIns="0" bIns="0" rtlCol="0" anchor="b"/>
          <a:lstStyle/>
          <a:p>
            <a:pPr algn="ctr" indent="0" marL="0">
              <a:lnSpc>
                <a:spcPct val="95000"/>
              </a:lnSpc>
              <a:buNone/>
            </a:pPr>
            <a:r>
              <a:rPr lang="en-US" sz="3200" b="1" dirty="0">
                <a:solidFill>
                  <a:srgbClr val="062746"/>
                </a:solidFill>
                <a:latin typeface="Georgia" pitchFamily="34" charset="0"/>
                <a:ea typeface="Georgia" pitchFamily="34" charset="-122"/>
                <a:cs typeface="Georgia" pitchFamily="34" charset="-120"/>
              </a:rPr>
              <a:t>How One Round Works</a:t>
            </a:r>
            <a:endParaRPr lang="en-US" sz="3200" dirty="0"/>
          </a:p>
        </p:txBody>
      </p:sp>
      <p:pic>
        <p:nvPicPr>
          <p:cNvPr id="3" name="Image 0" descr="fig1_game_step.png">    </p:cNvPr>
          <p:cNvPicPr>
            <a:picLocks noChangeAspect="1"/>
          </p:cNvPicPr>
          <p:nvPr/>
        </p:nvPicPr>
        <p:blipFill>
          <a:blip r:embed="rId1"/>
          <a:stretch>
            <a:fillRect/>
          </a:stretch>
        </p:blipFill>
        <p:spPr>
          <a:xfrm>
            <a:off x="1659818" y="1234440"/>
            <a:ext cx="8872059" cy="3977640"/>
          </a:xfrm>
          <a:prstGeom prst="rect">
            <a:avLst/>
          </a:prstGeom>
        </p:spPr>
      </p:pic>
      <p:sp>
        <p:nvSpPr>
          <p:cNvPr id="4" name="Text 1"/>
          <p:cNvSpPr txBox="1"/>
          <p:nvPr/>
        </p:nvSpPr>
        <p:spPr>
          <a:xfrm>
            <a:off x="1463040" y="5303520"/>
            <a:ext cx="9265615" cy="502920"/>
          </a:xfrm>
          <a:prstGeom prst="rect">
            <a:avLst/>
          </a:prstGeom>
          <a:noFill/>
          <a:ln/>
        </p:spPr>
        <p:txBody>
          <a:bodyPr wrap="square" lIns="0" tIns="0" rIns="0" bIns="0" rtlCol="0" anchor="t"/>
          <a:lstStyle/>
          <a:p>
            <a:pPr algn="ctr" indent="0" marL="0">
              <a:buNone/>
            </a:pPr>
            <a:r>
              <a:rPr lang="en-US" sz="1100" i="1" dirty="0">
                <a:solidFill>
                  <a:srgbClr val="55524E"/>
                </a:solidFill>
                <a:latin typeface="Calibri" pitchFamily="34" charset="0"/>
                <a:ea typeface="Calibri" pitchFamily="34" charset="-122"/>
                <a:cs typeface="Calibri" pitchFamily="34" charset="-120"/>
              </a:rPr>
              <a:t>Agents request a share; the reviewer scales all requests by one factor; agents take their allowance or more; the resource regrows; random audits check a few agents.</a:t>
            </a:r>
            <a:endParaRPr lang="en-US" sz="1100" dirty="0"/>
          </a:p>
        </p:txBody>
      </p:sp>
      <p:sp>
        <p:nvSpPr>
          <p:cNvPr id="5" name="Text 2"/>
          <p:cNvSpPr txBox="1"/>
          <p:nvPr/>
        </p:nvSpPr>
        <p:spPr>
          <a:xfrm>
            <a:off x="1005840" y="5897880"/>
            <a:ext cx="10180015" cy="411480"/>
          </a:xfrm>
          <a:prstGeom prst="rect">
            <a:avLst/>
          </a:prstGeom>
          <a:noFill/>
          <a:ln/>
        </p:spPr>
        <p:txBody>
          <a:bodyPr wrap="square" lIns="0" tIns="0" rIns="0" bIns="0" rtlCol="0" anchor="ctr"/>
          <a:lstStyle/>
          <a:p>
            <a:pPr algn="ctr" indent="0" marL="0">
              <a:buNone/>
            </a:pPr>
            <a:r>
              <a:rPr lang="en-US" sz="1700" b="1" dirty="0">
                <a:solidFill>
                  <a:srgbClr val="062746"/>
                </a:solidFill>
                <a:latin typeface="Georgia" pitchFamily="34" charset="0"/>
                <a:ea typeface="Georgia" pitchFamily="34" charset="-122"/>
                <a:cs typeface="Georgia" pitchFamily="34" charset="-120"/>
              </a:rPr>
              <a:t>Harm = the resource below half capacity, the maximum-sustainable-yield level</a:t>
            </a:r>
            <a:endParaRPr lang="en-US" sz="1700" dirty="0"/>
          </a:p>
        </p:txBody>
      </p:sp>
      <p:sp>
        <p:nvSpPr>
          <p:cNvPr id="6" name="Text 3"/>
          <p:cNvSpPr txBox="1"/>
          <p:nvPr/>
        </p:nvSpPr>
        <p:spPr>
          <a:xfrm>
            <a:off x="11368735" y="6400800"/>
            <a:ext cx="457200" cy="274320"/>
          </a:xfrm>
          <a:prstGeom prst="rect">
            <a:avLst/>
          </a:prstGeom>
          <a:noFill/>
          <a:ln/>
        </p:spPr>
        <p:txBody>
          <a:bodyPr wrap="square" lIns="0" tIns="0" rIns="0" bIns="0" rtlCol="0" anchor="ctr"/>
          <a:lstStyle/>
          <a:p>
            <a:pPr algn="r" indent="0" marL="0">
              <a:buNone/>
            </a:pPr>
            <a:r>
              <a:rPr lang="en-US" sz="1000" dirty="0">
                <a:solidFill>
                  <a:srgbClr val="1C191A"/>
                </a:solidFill>
                <a:latin typeface="Calibri" pitchFamily="34" charset="0"/>
                <a:ea typeface="Calibri" pitchFamily="34" charset="-122"/>
                <a:cs typeface="Calibri" pitchFamily="34" charset="-120"/>
              </a:rPr>
              <a:t>5</a:t>
            </a:r>
            <a:endParaRPr lang="en-US" sz="1000" dirty="0"/>
          </a:p>
        </p:txBody>
      </p:sp>
    </p:spTree>
  </p:cSld>
  <p:clrMapOvr>
    <a:masterClrMapping/>
  </p:clrMapOvr>
</p:sld>
</file>

<file path=ppt/slides/slide6.xml><?xml version="1.0" encoding="utf-8"?>
<p:sld xmlns:a="http://schemas.openxmlformats.org/drawingml/2006/main" xmlns:r="http://schemas.openxmlformats.org/officeDocument/2006/relationships" xmlns:p="http://schemas.openxmlformats.org/presentationml/2006/main">
  <p:cSld name="Slide 6">
    <p:spTree>
      <p:nvGrpSpPr>
        <p:cNvPr id="1" name=""/>
        <p:cNvGrpSpPr/>
        <p:nvPr/>
      </p:nvGrpSpPr>
      <p:grpSpPr>
        <a:xfrm>
          <a:off x="0" y="0"/>
          <a:ext cx="0" cy="0"/>
          <a:chOff x="0" y="0"/>
          <a:chExt cx="0" cy="0"/>
        </a:xfrm>
      </p:grpSpPr>
      <p:sp>
        <p:nvSpPr>
          <p:cNvPr id="2" name="Text 0"/>
          <p:cNvSpPr txBox="1"/>
          <p:nvPr/>
        </p:nvSpPr>
        <p:spPr>
          <a:xfrm>
            <a:off x="548640" y="365760"/>
            <a:ext cx="5852160" cy="777240"/>
          </a:xfrm>
          <a:prstGeom prst="rect">
            <a:avLst/>
          </a:prstGeom>
          <a:noFill/>
          <a:ln/>
        </p:spPr>
        <p:txBody>
          <a:bodyPr wrap="square" lIns="0" tIns="0" rIns="0" bIns="0" rtlCol="0" anchor="b"/>
          <a:lstStyle/>
          <a:p>
            <a:pPr algn="l" indent="0" marL="0">
              <a:lnSpc>
                <a:spcPct val="95000"/>
              </a:lnSpc>
              <a:buNone/>
            </a:pPr>
            <a:r>
              <a:rPr lang="en-US" sz="3400" b="1" dirty="0">
                <a:solidFill>
                  <a:srgbClr val="062746"/>
                </a:solidFill>
                <a:latin typeface="Georgia" pitchFamily="34" charset="0"/>
                <a:ea typeface="Georgia" pitchFamily="34" charset="-122"/>
                <a:cs typeface="Georgia" pitchFamily="34" charset="-120"/>
              </a:rPr>
              <a:t>How I Test It</a:t>
            </a:r>
            <a:endParaRPr lang="en-US" sz="3400" dirty="0"/>
          </a:p>
        </p:txBody>
      </p:sp>
      <p:sp>
        <p:nvSpPr>
          <p:cNvPr id="3" name="Shape 1"/>
          <p:cNvSpPr/>
          <p:nvPr/>
        </p:nvSpPr>
        <p:spPr>
          <a:xfrm>
            <a:off x="548640" y="1271016"/>
            <a:ext cx="3291840" cy="91440"/>
          </a:xfrm>
          <a:prstGeom prst="rect">
            <a:avLst/>
          </a:prstGeom>
          <a:solidFill>
            <a:srgbClr val="131B28"/>
          </a:solidFill>
          <a:ln w="12700">
            <a:solidFill>
              <a:srgbClr val="131B28"/>
            </a:solidFill>
            <a:prstDash val="solid"/>
          </a:ln>
        </p:spPr>
      </p:sp>
      <p:sp>
        <p:nvSpPr>
          <p:cNvPr id="4" name="Text 2"/>
          <p:cNvSpPr txBox="1"/>
          <p:nvPr/>
        </p:nvSpPr>
        <p:spPr>
          <a:xfrm>
            <a:off x="548640" y="1499616"/>
            <a:ext cx="640080" cy="411480"/>
          </a:xfrm>
          <a:prstGeom prst="rect">
            <a:avLst/>
          </a:prstGeom>
          <a:noFill/>
          <a:ln/>
        </p:spPr>
        <p:txBody>
          <a:bodyPr wrap="square" lIns="0" tIns="0" rIns="0" bIns="0" rtlCol="0" anchor="t"/>
          <a:lstStyle/>
          <a:p>
            <a:pPr indent="0" marL="0">
              <a:buNone/>
            </a:pPr>
            <a:r>
              <a:rPr lang="en-US" sz="2200" dirty="0">
                <a:solidFill>
                  <a:srgbClr val="8F8F8F"/>
                </a:solidFill>
                <a:latin typeface="Calibri Light" pitchFamily="34" charset="0"/>
                <a:ea typeface="Calibri Light" pitchFamily="34" charset="-122"/>
                <a:cs typeface="Calibri Light" pitchFamily="34" charset="-120"/>
              </a:rPr>
              <a:t>01</a:t>
            </a:r>
            <a:endParaRPr lang="en-US" sz="2200" dirty="0"/>
          </a:p>
        </p:txBody>
      </p:sp>
      <p:sp>
        <p:nvSpPr>
          <p:cNvPr id="5" name="Text 3"/>
          <p:cNvSpPr txBox="1"/>
          <p:nvPr/>
        </p:nvSpPr>
        <p:spPr>
          <a:xfrm>
            <a:off x="1280160" y="1517904"/>
            <a:ext cx="5120640" cy="347472"/>
          </a:xfrm>
          <a:prstGeom prst="rect">
            <a:avLst/>
          </a:prstGeom>
          <a:noFill/>
          <a:ln/>
        </p:spPr>
        <p:txBody>
          <a:bodyPr wrap="square" lIns="0" tIns="0" rIns="0" bIns="0" rtlCol="0" anchor="t"/>
          <a:lstStyle/>
          <a:p>
            <a:pPr indent="0" marL="0">
              <a:buNone/>
            </a:pPr>
            <a:r>
              <a:rPr lang="en-US" sz="1600" b="1" dirty="0">
                <a:solidFill>
                  <a:srgbClr val="1C191A"/>
                </a:solidFill>
                <a:latin typeface="Georgia" pitchFamily="34" charset="0"/>
                <a:ea typeface="Georgia" pitchFamily="34" charset="-122"/>
                <a:cs typeface="Georgia" pitchFamily="34" charset="-120"/>
              </a:rPr>
              <a:t>Measure the gain</a:t>
            </a:r>
            <a:endParaRPr lang="en-US" sz="1600" dirty="0"/>
          </a:p>
        </p:txBody>
      </p:sp>
      <p:sp>
        <p:nvSpPr>
          <p:cNvPr id="6" name="Text 4"/>
          <p:cNvSpPr txBox="1"/>
          <p:nvPr/>
        </p:nvSpPr>
        <p:spPr>
          <a:xfrm>
            <a:off x="1280160" y="1865376"/>
            <a:ext cx="5120640" cy="685800"/>
          </a:xfrm>
          <a:prstGeom prst="rect">
            <a:avLst/>
          </a:prstGeom>
          <a:noFill/>
          <a:ln/>
        </p:spPr>
        <p:txBody>
          <a:bodyPr wrap="square" lIns="0" tIns="0" rIns="0" bIns="0" rtlCol="0" anchor="t"/>
          <a:lstStyle/>
          <a:p>
            <a:pPr indent="0" marL="0">
              <a:buNone/>
            </a:pPr>
            <a:r>
              <a:rPr lang="en-US" sz="1300" dirty="0">
                <a:solidFill>
                  <a:srgbClr val="1C191A"/>
                </a:solidFill>
                <a:latin typeface="Calibri" pitchFamily="34" charset="0"/>
                <a:ea typeface="Calibri" pitchFamily="34" charset="-122"/>
                <a:cs typeface="Calibri" pitchFamily="34" charset="-120"/>
              </a:rPr>
              <a:t>Play games without fines and record what one round of over-taking gains an agent.</a:t>
            </a:r>
            <a:endParaRPr lang="en-US" sz="1300" dirty="0"/>
          </a:p>
        </p:txBody>
      </p:sp>
      <p:sp>
        <p:nvSpPr>
          <p:cNvPr id="7" name="Text 5"/>
          <p:cNvSpPr txBox="1"/>
          <p:nvPr/>
        </p:nvSpPr>
        <p:spPr>
          <a:xfrm>
            <a:off x="548640" y="2596896"/>
            <a:ext cx="640080" cy="411480"/>
          </a:xfrm>
          <a:prstGeom prst="rect">
            <a:avLst/>
          </a:prstGeom>
          <a:noFill/>
          <a:ln/>
        </p:spPr>
        <p:txBody>
          <a:bodyPr wrap="square" lIns="0" tIns="0" rIns="0" bIns="0" rtlCol="0" anchor="t"/>
          <a:lstStyle/>
          <a:p>
            <a:pPr indent="0" marL="0">
              <a:buNone/>
            </a:pPr>
            <a:r>
              <a:rPr lang="en-US" sz="2200" dirty="0">
                <a:solidFill>
                  <a:srgbClr val="8F8F8F"/>
                </a:solidFill>
                <a:latin typeface="Calibri Light" pitchFamily="34" charset="0"/>
                <a:ea typeface="Calibri Light" pitchFamily="34" charset="-122"/>
                <a:cs typeface="Calibri Light" pitchFamily="34" charset="-120"/>
              </a:rPr>
              <a:t>02</a:t>
            </a:r>
            <a:endParaRPr lang="en-US" sz="2200" dirty="0"/>
          </a:p>
        </p:txBody>
      </p:sp>
      <p:sp>
        <p:nvSpPr>
          <p:cNvPr id="8" name="Text 6"/>
          <p:cNvSpPr txBox="1"/>
          <p:nvPr/>
        </p:nvSpPr>
        <p:spPr>
          <a:xfrm>
            <a:off x="1280160" y="2615184"/>
            <a:ext cx="5120640" cy="347472"/>
          </a:xfrm>
          <a:prstGeom prst="rect">
            <a:avLst/>
          </a:prstGeom>
          <a:noFill/>
          <a:ln/>
        </p:spPr>
        <p:txBody>
          <a:bodyPr wrap="square" lIns="0" tIns="0" rIns="0" bIns="0" rtlCol="0" anchor="t"/>
          <a:lstStyle/>
          <a:p>
            <a:pPr indent="0" marL="0">
              <a:buNone/>
            </a:pPr>
            <a:r>
              <a:rPr lang="en-US" sz="1600" b="1" dirty="0">
                <a:solidFill>
                  <a:srgbClr val="1C191A"/>
                </a:solidFill>
                <a:latin typeface="Georgia" pitchFamily="34" charset="0"/>
                <a:ea typeface="Georgia" pitchFamily="34" charset="-122"/>
                <a:cs typeface="Georgia" pitchFamily="34" charset="-120"/>
              </a:rPr>
              <a:t>Predict the stopping fine</a:t>
            </a:r>
            <a:endParaRPr lang="en-US" sz="1600" dirty="0"/>
          </a:p>
        </p:txBody>
      </p:sp>
      <p:sp>
        <p:nvSpPr>
          <p:cNvPr id="9" name="Text 7"/>
          <p:cNvSpPr txBox="1"/>
          <p:nvPr/>
        </p:nvSpPr>
        <p:spPr>
          <a:xfrm>
            <a:off x="1280160" y="2962656"/>
            <a:ext cx="5120640" cy="685800"/>
          </a:xfrm>
          <a:prstGeom prst="rect">
            <a:avLst/>
          </a:prstGeom>
          <a:noFill/>
          <a:ln/>
        </p:spPr>
        <p:txBody>
          <a:bodyPr wrap="square" lIns="0" tIns="0" rIns="0" bIns="0" rtlCol="0" anchor="t"/>
          <a:lstStyle/>
          <a:p>
            <a:pPr indent="0" marL="0">
              <a:buNone/>
            </a:pPr>
            <a:r>
              <a:rPr lang="en-US" sz="1300" dirty="0">
                <a:solidFill>
                  <a:srgbClr val="1C191A"/>
                </a:solidFill>
                <a:latin typeface="Calibri" pitchFamily="34" charset="0"/>
                <a:ea typeface="Calibri" pitchFamily="34" charset="-122"/>
                <a:cs typeface="Calibri" pitchFamily="34" charset="-120"/>
              </a:rPr>
              <a:t>Over-taking should stop once the expected fine exceeds that gain.</a:t>
            </a:r>
            <a:endParaRPr lang="en-US" sz="1300" dirty="0"/>
          </a:p>
        </p:txBody>
      </p:sp>
      <p:sp>
        <p:nvSpPr>
          <p:cNvPr id="10" name="Text 8"/>
          <p:cNvSpPr txBox="1"/>
          <p:nvPr/>
        </p:nvSpPr>
        <p:spPr>
          <a:xfrm>
            <a:off x="548640" y="3694176"/>
            <a:ext cx="640080" cy="411480"/>
          </a:xfrm>
          <a:prstGeom prst="rect">
            <a:avLst/>
          </a:prstGeom>
          <a:noFill/>
          <a:ln/>
        </p:spPr>
        <p:txBody>
          <a:bodyPr wrap="square" lIns="0" tIns="0" rIns="0" bIns="0" rtlCol="0" anchor="t"/>
          <a:lstStyle/>
          <a:p>
            <a:pPr indent="0" marL="0">
              <a:buNone/>
            </a:pPr>
            <a:r>
              <a:rPr lang="en-US" sz="2200" dirty="0">
                <a:solidFill>
                  <a:srgbClr val="8F8F8F"/>
                </a:solidFill>
                <a:latin typeface="Calibri Light" pitchFamily="34" charset="0"/>
                <a:ea typeface="Calibri Light" pitchFamily="34" charset="-122"/>
                <a:cs typeface="Calibri Light" pitchFamily="34" charset="-120"/>
              </a:rPr>
              <a:t>03</a:t>
            </a:r>
            <a:endParaRPr lang="en-US" sz="2200" dirty="0"/>
          </a:p>
        </p:txBody>
      </p:sp>
      <p:sp>
        <p:nvSpPr>
          <p:cNvPr id="11" name="Text 9"/>
          <p:cNvSpPr txBox="1"/>
          <p:nvPr/>
        </p:nvSpPr>
        <p:spPr>
          <a:xfrm>
            <a:off x="1280160" y="3712464"/>
            <a:ext cx="5120640" cy="347472"/>
          </a:xfrm>
          <a:prstGeom prst="rect">
            <a:avLst/>
          </a:prstGeom>
          <a:noFill/>
          <a:ln/>
        </p:spPr>
        <p:txBody>
          <a:bodyPr wrap="square" lIns="0" tIns="0" rIns="0" bIns="0" rtlCol="0" anchor="t"/>
          <a:lstStyle/>
          <a:p>
            <a:pPr indent="0" marL="0">
              <a:buNone/>
            </a:pPr>
            <a:r>
              <a:rPr lang="en-US" sz="1600" b="1" dirty="0">
                <a:solidFill>
                  <a:srgbClr val="1C191A"/>
                </a:solidFill>
                <a:latin typeface="Georgia" pitchFamily="34" charset="0"/>
                <a:ea typeface="Georgia" pitchFamily="34" charset="-122"/>
                <a:cs typeface="Georgia" pitchFamily="34" charset="-120"/>
              </a:rPr>
              <a:t>Freeze the prediction</a:t>
            </a:r>
            <a:endParaRPr lang="en-US" sz="1600" dirty="0"/>
          </a:p>
        </p:txBody>
      </p:sp>
      <p:sp>
        <p:nvSpPr>
          <p:cNvPr id="12" name="Text 10"/>
          <p:cNvSpPr txBox="1"/>
          <p:nvPr/>
        </p:nvSpPr>
        <p:spPr>
          <a:xfrm>
            <a:off x="1280160" y="4059936"/>
            <a:ext cx="5120640" cy="685800"/>
          </a:xfrm>
          <a:prstGeom prst="rect">
            <a:avLst/>
          </a:prstGeom>
          <a:noFill/>
          <a:ln/>
        </p:spPr>
        <p:txBody>
          <a:bodyPr wrap="square" lIns="0" tIns="0" rIns="0" bIns="0" rtlCol="0" anchor="t"/>
          <a:lstStyle/>
          <a:p>
            <a:pPr indent="0" marL="0">
              <a:buNone/>
            </a:pPr>
            <a:r>
              <a:rPr lang="en-US" sz="1300" dirty="0">
                <a:solidFill>
                  <a:srgbClr val="1C191A"/>
                </a:solidFill>
                <a:latin typeface="Calibri" pitchFamily="34" charset="0"/>
                <a:ea typeface="Calibri" pitchFamily="34" charset="-122"/>
                <a:cs typeface="Calibri" pitchFamily="34" charset="-120"/>
              </a:rPr>
              <a:t>Record it before any game with that fine is played.</a:t>
            </a:r>
            <a:endParaRPr lang="en-US" sz="1300" dirty="0"/>
          </a:p>
        </p:txBody>
      </p:sp>
      <p:sp>
        <p:nvSpPr>
          <p:cNvPr id="13" name="Text 11"/>
          <p:cNvSpPr txBox="1"/>
          <p:nvPr/>
        </p:nvSpPr>
        <p:spPr>
          <a:xfrm>
            <a:off x="548640" y="4791456"/>
            <a:ext cx="640080" cy="411480"/>
          </a:xfrm>
          <a:prstGeom prst="rect">
            <a:avLst/>
          </a:prstGeom>
          <a:noFill/>
          <a:ln/>
        </p:spPr>
        <p:txBody>
          <a:bodyPr wrap="square" lIns="0" tIns="0" rIns="0" bIns="0" rtlCol="0" anchor="t"/>
          <a:lstStyle/>
          <a:p>
            <a:pPr indent="0" marL="0">
              <a:buNone/>
            </a:pPr>
            <a:r>
              <a:rPr lang="en-US" sz="2200" dirty="0">
                <a:solidFill>
                  <a:srgbClr val="8F8F8F"/>
                </a:solidFill>
                <a:latin typeface="Calibri Light" pitchFamily="34" charset="0"/>
                <a:ea typeface="Calibri Light" pitchFamily="34" charset="-122"/>
                <a:cs typeface="Calibri Light" pitchFamily="34" charset="-120"/>
              </a:rPr>
              <a:t>04</a:t>
            </a:r>
            <a:endParaRPr lang="en-US" sz="2200" dirty="0"/>
          </a:p>
        </p:txBody>
      </p:sp>
      <p:sp>
        <p:nvSpPr>
          <p:cNvPr id="14" name="Text 12"/>
          <p:cNvSpPr txBox="1"/>
          <p:nvPr/>
        </p:nvSpPr>
        <p:spPr>
          <a:xfrm>
            <a:off x="1280160" y="4809744"/>
            <a:ext cx="5120640" cy="347472"/>
          </a:xfrm>
          <a:prstGeom prst="rect">
            <a:avLst/>
          </a:prstGeom>
          <a:noFill/>
          <a:ln/>
        </p:spPr>
        <p:txBody>
          <a:bodyPr wrap="square" lIns="0" tIns="0" rIns="0" bIns="0" rtlCol="0" anchor="t"/>
          <a:lstStyle/>
          <a:p>
            <a:pPr indent="0" marL="0">
              <a:buNone/>
            </a:pPr>
            <a:r>
              <a:rPr lang="en-US" sz="1600" b="1" dirty="0">
                <a:solidFill>
                  <a:srgbClr val="1C191A"/>
                </a:solidFill>
                <a:latin typeface="Georgia" pitchFamily="34" charset="0"/>
                <a:ea typeface="Georgia" pitchFamily="34" charset="-122"/>
                <a:cs typeface="Georgia" pitchFamily="34" charset="-120"/>
              </a:rPr>
              <a:t>Test on new games</a:t>
            </a:r>
            <a:endParaRPr lang="en-US" sz="1600" dirty="0"/>
          </a:p>
        </p:txBody>
      </p:sp>
      <p:sp>
        <p:nvSpPr>
          <p:cNvPr id="15" name="Text 13"/>
          <p:cNvSpPr txBox="1"/>
          <p:nvPr/>
        </p:nvSpPr>
        <p:spPr>
          <a:xfrm>
            <a:off x="1280160" y="5157216"/>
            <a:ext cx="5120640" cy="685800"/>
          </a:xfrm>
          <a:prstGeom prst="rect">
            <a:avLst/>
          </a:prstGeom>
          <a:noFill/>
          <a:ln/>
        </p:spPr>
        <p:txBody>
          <a:bodyPr wrap="square" lIns="0" tIns="0" rIns="0" bIns="0" rtlCol="0" anchor="t"/>
          <a:lstStyle/>
          <a:p>
            <a:pPr indent="0" marL="0">
              <a:buNone/>
            </a:pPr>
            <a:r>
              <a:rPr lang="en-US" sz="1300" dirty="0">
                <a:solidFill>
                  <a:srgbClr val="1C191A"/>
                </a:solidFill>
                <a:latin typeface="Calibri" pitchFamily="34" charset="0"/>
                <a:ea typeface="Calibri" pitchFamily="34" charset="-122"/>
                <a:cs typeface="Calibri" pitchFamily="34" charset="-120"/>
              </a:rPr>
              <a:t>Run the predicted fine and its neighbours on unseen games, and report the outcome either way.</a:t>
            </a:r>
            <a:endParaRPr lang="en-US" sz="1300" dirty="0"/>
          </a:p>
        </p:txBody>
      </p:sp>
      <p:sp>
        <p:nvSpPr>
          <p:cNvPr id="16" name="Shape 14"/>
          <p:cNvSpPr/>
          <p:nvPr/>
        </p:nvSpPr>
        <p:spPr>
          <a:xfrm>
            <a:off x="6858000" y="1120140"/>
            <a:ext cx="4785055" cy="4617720"/>
          </a:xfrm>
          <a:prstGeom prst="roundRect">
            <a:avLst>
              <a:gd name="adj" fmla="val 1584"/>
            </a:avLst>
          </a:prstGeom>
          <a:solidFill>
            <a:srgbClr val="FFFFFF"/>
          </a:solidFill>
          <a:ln w="9525">
            <a:solidFill>
              <a:srgbClr val="E9E7E3"/>
            </a:solidFill>
            <a:prstDash val="solid"/>
          </a:ln>
          <a:effectLst>
            <a:outerShdw sx="100000" sy="100000" kx="0" ky="0" algn="bl" rotWithShape="0" blurRad="76200" dist="25400" dir="5400000">
              <a:srgbClr val="000000">
                <a:alpha val="8000"/>
              </a:srgbClr>
            </a:outerShdw>
          </a:effectLst>
        </p:spPr>
      </p:sp>
      <p:sp>
        <p:nvSpPr>
          <p:cNvPr id="17" name="Text 15"/>
          <p:cNvSpPr txBox="1"/>
          <p:nvPr/>
        </p:nvSpPr>
        <p:spPr>
          <a:xfrm>
            <a:off x="7132320" y="1348740"/>
            <a:ext cx="4236415" cy="365760"/>
          </a:xfrm>
          <a:prstGeom prst="rect">
            <a:avLst/>
          </a:prstGeom>
          <a:noFill/>
          <a:ln/>
        </p:spPr>
        <p:txBody>
          <a:bodyPr wrap="square" lIns="0" tIns="0" rIns="0" bIns="0" rtlCol="0" anchor="ctr"/>
          <a:lstStyle/>
          <a:p>
            <a:pPr indent="0" marL="0">
              <a:buNone/>
            </a:pPr>
            <a:r>
              <a:rPr lang="en-US" sz="1600" b="1" dirty="0">
                <a:solidFill>
                  <a:srgbClr val="062746"/>
                </a:solidFill>
                <a:latin typeface="Georgia" pitchFamily="34" charset="0"/>
                <a:ea typeface="Georgia" pitchFamily="34" charset="-122"/>
                <a:cs typeface="Georgia" pitchFamily="34" charset="-120"/>
              </a:rPr>
              <a:t>Key quantities</a:t>
            </a:r>
            <a:endParaRPr lang="en-US" sz="1600" dirty="0"/>
          </a:p>
        </p:txBody>
      </p:sp>
      <p:sp>
        <p:nvSpPr>
          <p:cNvPr id="18" name="Text 16"/>
          <p:cNvSpPr txBox="1"/>
          <p:nvPr/>
        </p:nvSpPr>
        <p:spPr>
          <a:xfrm>
            <a:off x="7132320" y="1897380"/>
            <a:ext cx="1417320" cy="548640"/>
          </a:xfrm>
          <a:prstGeom prst="rect">
            <a:avLst/>
          </a:prstGeom>
          <a:noFill/>
          <a:ln/>
        </p:spPr>
        <p:txBody>
          <a:bodyPr wrap="square" lIns="0" tIns="0" rIns="0" bIns="0" rtlCol="0" anchor="t"/>
          <a:lstStyle/>
          <a:p>
            <a:pPr indent="0" marL="0">
              <a:buNone/>
            </a:pPr>
            <a:r>
              <a:rPr lang="en-US" sz="1700" i="1" dirty="0">
                <a:solidFill>
                  <a:srgbClr val="1C191A"/>
                </a:solidFill>
                <a:latin typeface="Georgia" pitchFamily="34" charset="0"/>
                <a:ea typeface="Georgia" pitchFamily="34" charset="-122"/>
                <a:cs typeface="Georgia" pitchFamily="34" charset="-120"/>
              </a:rPr>
              <a:t>q</a:t>
            </a:r>
            <a:endParaRPr lang="en-US" sz="1700" dirty="0"/>
          </a:p>
        </p:txBody>
      </p:sp>
      <p:sp>
        <p:nvSpPr>
          <p:cNvPr id="19" name="Text 17"/>
          <p:cNvSpPr txBox="1"/>
          <p:nvPr/>
        </p:nvSpPr>
        <p:spPr>
          <a:xfrm>
            <a:off x="8641080" y="1915668"/>
            <a:ext cx="2727655" cy="658368"/>
          </a:xfrm>
          <a:prstGeom prst="rect">
            <a:avLst/>
          </a:prstGeom>
          <a:noFill/>
          <a:ln/>
        </p:spPr>
        <p:txBody>
          <a:bodyPr wrap="square" lIns="0" tIns="0" rIns="0" bIns="0" rtlCol="0" anchor="t"/>
          <a:lstStyle/>
          <a:p>
            <a:pPr indent="0" marL="0">
              <a:buNone/>
            </a:pPr>
            <a:r>
              <a:rPr lang="en-US" sz="1250" dirty="0">
                <a:solidFill>
                  <a:srgbClr val="1C191A"/>
                </a:solidFill>
                <a:latin typeface="Calibri" pitchFamily="34" charset="0"/>
                <a:ea typeface="Calibri" pitchFamily="34" charset="-122"/>
                <a:cs typeface="Calibri" pitchFamily="34" charset="-120"/>
              </a:rPr>
              <a:t>audit probability per agent and round (1 in 6 for the language models)</a:t>
            </a:r>
            <a:endParaRPr lang="en-US" sz="1250" dirty="0"/>
          </a:p>
        </p:txBody>
      </p:sp>
      <p:sp>
        <p:nvSpPr>
          <p:cNvPr id="20" name="Text 18"/>
          <p:cNvSpPr txBox="1"/>
          <p:nvPr/>
        </p:nvSpPr>
        <p:spPr>
          <a:xfrm>
            <a:off x="7132320" y="2647188"/>
            <a:ext cx="1417320" cy="548640"/>
          </a:xfrm>
          <a:prstGeom prst="rect">
            <a:avLst/>
          </a:prstGeom>
          <a:noFill/>
          <a:ln/>
        </p:spPr>
        <p:txBody>
          <a:bodyPr wrap="square" lIns="0" tIns="0" rIns="0" bIns="0" rtlCol="0" anchor="t"/>
          <a:lstStyle/>
          <a:p>
            <a:pPr indent="0" marL="0">
              <a:buNone/>
            </a:pPr>
            <a:r>
              <a:rPr lang="en-US" sz="1700" i="1" dirty="0">
                <a:solidFill>
                  <a:srgbClr val="1C191A"/>
                </a:solidFill>
                <a:latin typeface="Georgia" pitchFamily="34" charset="0"/>
                <a:ea typeface="Georgia" pitchFamily="34" charset="-122"/>
                <a:cs typeface="Georgia" pitchFamily="34" charset="-120"/>
              </a:rPr>
              <a:t>F</a:t>
            </a:r>
            <a:endParaRPr lang="en-US" sz="1700" dirty="0"/>
          </a:p>
        </p:txBody>
      </p:sp>
      <p:sp>
        <p:nvSpPr>
          <p:cNvPr id="21" name="Text 19"/>
          <p:cNvSpPr txBox="1"/>
          <p:nvPr/>
        </p:nvSpPr>
        <p:spPr>
          <a:xfrm>
            <a:off x="8641080" y="2665476"/>
            <a:ext cx="2727655" cy="658368"/>
          </a:xfrm>
          <a:prstGeom prst="rect">
            <a:avLst/>
          </a:prstGeom>
          <a:noFill/>
          <a:ln/>
        </p:spPr>
        <p:txBody>
          <a:bodyPr wrap="square" lIns="0" tIns="0" rIns="0" bIns="0" rtlCol="0" anchor="t"/>
          <a:lstStyle/>
          <a:p>
            <a:pPr indent="0" marL="0">
              <a:buNone/>
            </a:pPr>
            <a:r>
              <a:rPr lang="en-US" sz="1250" dirty="0">
                <a:solidFill>
                  <a:srgbClr val="1C191A"/>
                </a:solidFill>
                <a:latin typeface="Calibri" pitchFamily="34" charset="0"/>
                <a:ea typeface="Calibri" pitchFamily="34" charset="-122"/>
                <a:cs typeface="Calibri" pitchFamily="34" charset="-120"/>
              </a:rPr>
              <a:t>fine paid when an audit catches over-taking</a:t>
            </a:r>
            <a:endParaRPr lang="en-US" sz="1250" dirty="0"/>
          </a:p>
        </p:txBody>
      </p:sp>
      <p:sp>
        <p:nvSpPr>
          <p:cNvPr id="22" name="Text 20"/>
          <p:cNvSpPr txBox="1"/>
          <p:nvPr/>
        </p:nvSpPr>
        <p:spPr>
          <a:xfrm>
            <a:off x="7132320" y="3396996"/>
            <a:ext cx="1417320" cy="548640"/>
          </a:xfrm>
          <a:prstGeom prst="rect">
            <a:avLst/>
          </a:prstGeom>
          <a:noFill/>
          <a:ln/>
        </p:spPr>
        <p:txBody>
          <a:bodyPr wrap="square" lIns="0" tIns="0" rIns="0" bIns="0" rtlCol="0" anchor="t"/>
          <a:lstStyle/>
          <a:p>
            <a:pPr indent="0" marL="0">
              <a:buNone/>
            </a:pPr>
            <a:r>
              <a:rPr lang="en-US" sz="1700" dirty="0">
                <a:solidFill>
                  <a:srgbClr val="1C191A"/>
                </a:solidFill>
                <a:latin typeface="Georgia" pitchFamily="34" charset="0"/>
                <a:ea typeface="Georgia" pitchFamily="34" charset="-122"/>
                <a:cs typeface="Georgia" pitchFamily="34" charset="-120"/>
              </a:rPr>
              <a:t>e = q × F</a:t>
            </a:r>
            <a:endParaRPr lang="en-US" sz="1700" dirty="0"/>
          </a:p>
        </p:txBody>
      </p:sp>
      <p:sp>
        <p:nvSpPr>
          <p:cNvPr id="23" name="Text 21"/>
          <p:cNvSpPr txBox="1"/>
          <p:nvPr/>
        </p:nvSpPr>
        <p:spPr>
          <a:xfrm>
            <a:off x="8641080" y="3415284"/>
            <a:ext cx="2727655" cy="658368"/>
          </a:xfrm>
          <a:prstGeom prst="rect">
            <a:avLst/>
          </a:prstGeom>
          <a:noFill/>
          <a:ln/>
        </p:spPr>
        <p:txBody>
          <a:bodyPr wrap="square" lIns="0" tIns="0" rIns="0" bIns="0" rtlCol="0" anchor="t"/>
          <a:lstStyle/>
          <a:p>
            <a:pPr indent="0" marL="0">
              <a:buNone/>
            </a:pPr>
            <a:r>
              <a:rPr lang="en-US" sz="1250" dirty="0">
                <a:solidFill>
                  <a:srgbClr val="1C191A"/>
                </a:solidFill>
                <a:latin typeface="Calibri" pitchFamily="34" charset="0"/>
                <a:ea typeface="Calibri" pitchFamily="34" charset="-122"/>
                <a:cs typeface="Calibri" pitchFamily="34" charset="-120"/>
              </a:rPr>
              <a:t>expected fine per round of over-taking</a:t>
            </a:r>
            <a:endParaRPr lang="en-US" sz="1250" dirty="0"/>
          </a:p>
        </p:txBody>
      </p:sp>
      <p:sp>
        <p:nvSpPr>
          <p:cNvPr id="24" name="Text 22"/>
          <p:cNvSpPr txBox="1"/>
          <p:nvPr/>
        </p:nvSpPr>
        <p:spPr>
          <a:xfrm>
            <a:off x="7132320" y="4146804"/>
            <a:ext cx="1417320" cy="548640"/>
          </a:xfrm>
          <a:prstGeom prst="rect">
            <a:avLst/>
          </a:prstGeom>
          <a:noFill/>
          <a:ln/>
        </p:spPr>
        <p:txBody>
          <a:bodyPr wrap="square" lIns="0" tIns="0" rIns="0" bIns="0" rtlCol="0" anchor="t"/>
          <a:lstStyle/>
          <a:p>
            <a:pPr indent="0" marL="0">
              <a:buNone/>
            </a:pPr>
            <a:r>
              <a:rPr lang="en-US" sz="1700" i="1" dirty="0">
                <a:solidFill>
                  <a:srgbClr val="1C191A"/>
                </a:solidFill>
                <a:latin typeface="Georgia" pitchFamily="34" charset="0"/>
                <a:ea typeface="Georgia" pitchFamily="34" charset="-122"/>
                <a:cs typeface="Georgia" pitchFamily="34" charset="-120"/>
              </a:rPr>
              <a:t>g</a:t>
            </a:r>
            <a:endParaRPr lang="en-US" sz="1700" dirty="0"/>
          </a:p>
        </p:txBody>
      </p:sp>
      <p:sp>
        <p:nvSpPr>
          <p:cNvPr id="25" name="Text 23"/>
          <p:cNvSpPr txBox="1"/>
          <p:nvPr/>
        </p:nvSpPr>
        <p:spPr>
          <a:xfrm>
            <a:off x="8641080" y="4165092"/>
            <a:ext cx="2727655" cy="658368"/>
          </a:xfrm>
          <a:prstGeom prst="rect">
            <a:avLst/>
          </a:prstGeom>
          <a:noFill/>
          <a:ln/>
        </p:spPr>
        <p:txBody>
          <a:bodyPr wrap="square" lIns="0" tIns="0" rIns="0" bIns="0" rtlCol="0" anchor="t"/>
          <a:lstStyle/>
          <a:p>
            <a:pPr indent="0" marL="0">
              <a:buNone/>
            </a:pPr>
            <a:r>
              <a:rPr lang="en-US" sz="1250" dirty="0">
                <a:solidFill>
                  <a:srgbClr val="1C191A"/>
                </a:solidFill>
                <a:latin typeface="Calibri" pitchFamily="34" charset="0"/>
                <a:ea typeface="Calibri" pitchFamily="34" charset="-122"/>
                <a:cs typeface="Calibri" pitchFamily="34" charset="-120"/>
              </a:rPr>
              <a:t>gain from one round of over-taking</a:t>
            </a:r>
            <a:endParaRPr lang="en-US" sz="1250" dirty="0"/>
          </a:p>
        </p:txBody>
      </p:sp>
      <p:sp>
        <p:nvSpPr>
          <p:cNvPr id="26" name="Text 24"/>
          <p:cNvSpPr txBox="1"/>
          <p:nvPr/>
        </p:nvSpPr>
        <p:spPr>
          <a:xfrm>
            <a:off x="7132320" y="4896612"/>
            <a:ext cx="1417320" cy="548640"/>
          </a:xfrm>
          <a:prstGeom prst="rect">
            <a:avLst/>
          </a:prstGeom>
          <a:noFill/>
          <a:ln/>
        </p:spPr>
        <p:txBody>
          <a:bodyPr wrap="square" lIns="0" tIns="0" rIns="0" bIns="0" rtlCol="0" anchor="t"/>
          <a:lstStyle/>
          <a:p>
            <a:pPr indent="0" marL="0">
              <a:buNone/>
            </a:pPr>
            <a:r>
              <a:rPr lang="en-US" sz="1700" b="1" dirty="0">
                <a:solidFill>
                  <a:srgbClr val="062746"/>
                </a:solidFill>
                <a:latin typeface="Georgia" pitchFamily="34" charset="0"/>
                <a:ea typeface="Georgia" pitchFamily="34" charset="-122"/>
                <a:cs typeface="Georgia" pitchFamily="34" charset="-120"/>
              </a:rPr>
              <a:t>e &gt; g</a:t>
            </a:r>
            <a:endParaRPr lang="en-US" sz="1700" dirty="0"/>
          </a:p>
        </p:txBody>
      </p:sp>
      <p:sp>
        <p:nvSpPr>
          <p:cNvPr id="27" name="Text 25"/>
          <p:cNvSpPr txBox="1"/>
          <p:nvPr/>
        </p:nvSpPr>
        <p:spPr>
          <a:xfrm>
            <a:off x="8641080" y="4914900"/>
            <a:ext cx="2727655" cy="658368"/>
          </a:xfrm>
          <a:prstGeom prst="rect">
            <a:avLst/>
          </a:prstGeom>
          <a:noFill/>
          <a:ln/>
        </p:spPr>
        <p:txBody>
          <a:bodyPr wrap="square" lIns="0" tIns="0" rIns="0" bIns="0" rtlCol="0" anchor="t"/>
          <a:lstStyle/>
          <a:p>
            <a:pPr indent="0" marL="0">
              <a:buNone/>
            </a:pPr>
            <a:r>
              <a:rPr lang="en-US" sz="1250" dirty="0">
                <a:solidFill>
                  <a:srgbClr val="1C191A"/>
                </a:solidFill>
                <a:latin typeface="Calibri" pitchFamily="34" charset="0"/>
                <a:ea typeface="Calibri" pitchFamily="34" charset="-122"/>
                <a:cs typeface="Calibri" pitchFamily="34" charset="-120"/>
              </a:rPr>
              <a:t>prediction: over-taking stops (Becker 1968)</a:t>
            </a:r>
            <a:endParaRPr lang="en-US" sz="1250" dirty="0"/>
          </a:p>
        </p:txBody>
      </p:sp>
      <p:sp>
        <p:nvSpPr>
          <p:cNvPr id="28" name="Text 26"/>
          <p:cNvSpPr txBox="1"/>
          <p:nvPr/>
        </p:nvSpPr>
        <p:spPr>
          <a:xfrm>
            <a:off x="11368735" y="6400800"/>
            <a:ext cx="457200" cy="274320"/>
          </a:xfrm>
          <a:prstGeom prst="rect">
            <a:avLst/>
          </a:prstGeom>
          <a:noFill/>
          <a:ln/>
        </p:spPr>
        <p:txBody>
          <a:bodyPr wrap="square" lIns="0" tIns="0" rIns="0" bIns="0" rtlCol="0" anchor="ctr"/>
          <a:lstStyle/>
          <a:p>
            <a:pPr algn="r" indent="0" marL="0">
              <a:buNone/>
            </a:pPr>
            <a:r>
              <a:rPr lang="en-US" sz="1000" dirty="0">
                <a:solidFill>
                  <a:srgbClr val="1C191A"/>
                </a:solidFill>
                <a:latin typeface="Calibri" pitchFamily="34" charset="0"/>
                <a:ea typeface="Calibri" pitchFamily="34" charset="-122"/>
                <a:cs typeface="Calibri" pitchFamily="34" charset="-120"/>
              </a:rPr>
              <a:t>6</a:t>
            </a:r>
            <a:endParaRPr lang="en-US" sz="1000" dirty="0"/>
          </a:p>
        </p:txBody>
      </p:sp>
    </p:spTree>
  </p:cSld>
  <p:clrMapOvr>
    <a:masterClrMapping/>
  </p:clrMapOvr>
</p:sld>
</file>

<file path=ppt/slides/slide7.xml><?xml version="1.0" encoding="utf-8"?>
<p:sld xmlns:a="http://schemas.openxmlformats.org/drawingml/2006/main" xmlns:r="http://schemas.openxmlformats.org/officeDocument/2006/relationships" xmlns:p="http://schemas.openxmlformats.org/presentationml/2006/main">
  <p:cSld name="Slide 7">
    <p:spTree>
      <p:nvGrpSpPr>
        <p:cNvPr id="1" name=""/>
        <p:cNvGrpSpPr/>
        <p:nvPr/>
      </p:nvGrpSpPr>
      <p:grpSpPr>
        <a:xfrm>
          <a:off x="0" y="0"/>
          <a:ext cx="0" cy="0"/>
          <a:chOff x="0" y="0"/>
          <a:chExt cx="0" cy="0"/>
        </a:xfrm>
      </p:grpSpPr>
      <p:sp>
        <p:nvSpPr>
          <p:cNvPr id="2" name="Text 0"/>
          <p:cNvSpPr txBox="1"/>
          <p:nvPr/>
        </p:nvSpPr>
        <p:spPr>
          <a:xfrm>
            <a:off x="548640" y="365760"/>
            <a:ext cx="11094415" cy="777240"/>
          </a:xfrm>
          <a:prstGeom prst="rect">
            <a:avLst/>
          </a:prstGeom>
          <a:noFill/>
          <a:ln/>
        </p:spPr>
        <p:txBody>
          <a:bodyPr wrap="square" lIns="0" tIns="0" rIns="0" bIns="0" rtlCol="0" anchor="b"/>
          <a:lstStyle/>
          <a:p>
            <a:pPr algn="l" indent="0" marL="0">
              <a:lnSpc>
                <a:spcPct val="95000"/>
              </a:lnSpc>
              <a:buNone/>
            </a:pPr>
            <a:r>
              <a:rPr lang="en-US" sz="3400" b="1" dirty="0">
                <a:solidFill>
                  <a:srgbClr val="062746"/>
                </a:solidFill>
                <a:latin typeface="Georgia" pitchFamily="34" charset="0"/>
                <a:ea typeface="Georgia" pitchFamily="34" charset="-122"/>
                <a:cs typeface="Georgia" pitchFamily="34" charset="-120"/>
              </a:rPr>
              <a:t>Finding 1: A Catch Needs a Consequence</a:t>
            </a:r>
            <a:endParaRPr lang="en-US" sz="3400" dirty="0"/>
          </a:p>
        </p:txBody>
      </p:sp>
      <p:sp>
        <p:nvSpPr>
          <p:cNvPr id="3" name="Shape 1"/>
          <p:cNvSpPr/>
          <p:nvPr/>
        </p:nvSpPr>
        <p:spPr>
          <a:xfrm>
            <a:off x="548640" y="1271016"/>
            <a:ext cx="3291840" cy="91440"/>
          </a:xfrm>
          <a:prstGeom prst="rect">
            <a:avLst/>
          </a:prstGeom>
          <a:solidFill>
            <a:srgbClr val="131B28"/>
          </a:solidFill>
          <a:ln w="12700">
            <a:solidFill>
              <a:srgbClr val="131B28"/>
            </a:solidFill>
            <a:prstDash val="solid"/>
          </a:ln>
        </p:spPr>
      </p:sp>
      <p:sp>
        <p:nvSpPr>
          <p:cNvPr id="4" name="Text 2"/>
          <p:cNvSpPr txBox="1"/>
          <p:nvPr/>
        </p:nvSpPr>
        <p:spPr>
          <a:xfrm>
            <a:off x="548640" y="1545336"/>
            <a:ext cx="4572000" cy="365760"/>
          </a:xfrm>
          <a:prstGeom prst="rect">
            <a:avLst/>
          </a:prstGeom>
          <a:noFill/>
          <a:ln/>
        </p:spPr>
        <p:txBody>
          <a:bodyPr wrap="square" lIns="0" tIns="0" rIns="0" bIns="0" rtlCol="0" anchor="t"/>
          <a:lstStyle/>
          <a:p>
            <a:pPr indent="0" marL="0">
              <a:buNone/>
            </a:pPr>
            <a:r>
              <a:rPr lang="en-US" sz="1700" b="1" dirty="0">
                <a:solidFill>
                  <a:srgbClr val="1C191A"/>
                </a:solidFill>
                <a:latin typeface="Georgia" pitchFamily="34" charset="0"/>
                <a:ea typeface="Georgia" pitchFamily="34" charset="-122"/>
                <a:cs typeface="Georgia" pitchFamily="34" charset="-120"/>
              </a:rPr>
              <a:t>Setup</a:t>
            </a:r>
            <a:endParaRPr lang="en-US" sz="1700" dirty="0"/>
          </a:p>
        </p:txBody>
      </p:sp>
      <p:sp>
        <p:nvSpPr>
          <p:cNvPr id="5" name="Text 3"/>
          <p:cNvSpPr txBox="1"/>
          <p:nvPr/>
        </p:nvSpPr>
        <p:spPr>
          <a:xfrm>
            <a:off x="548640" y="1929384"/>
            <a:ext cx="4572000" cy="297180"/>
          </a:xfrm>
          <a:prstGeom prst="rect">
            <a:avLst/>
          </a:prstGeom>
          <a:noFill/>
          <a:ln/>
        </p:spPr>
        <p:txBody>
          <a:bodyPr wrap="square" lIns="0" tIns="0" rIns="0" bIns="0" rtlCol="0" anchor="t"/>
          <a:lstStyle/>
          <a:p>
            <a:pPr algn="just" indent="0" marL="0">
              <a:buNone/>
            </a:pPr>
            <a:r>
              <a:rPr lang="en-US" sz="1400" dirty="0">
                <a:solidFill>
                  <a:srgbClr val="1C191A"/>
                </a:solidFill>
                <a:latin typeface="Calibri" pitchFamily="34" charset="0"/>
                <a:ea typeface="Calibri" pitchFamily="34" charset="-122"/>
                <a:cs typeface="Calibri" pitchFamily="34" charset="-120"/>
              </a:rPr>
              <a:t>Some agents under-report what they will take.</a:t>
            </a:r>
            <a:endParaRPr lang="en-US" sz="1400" dirty="0"/>
          </a:p>
        </p:txBody>
      </p:sp>
      <p:sp>
        <p:nvSpPr>
          <p:cNvPr id="6" name="Text 4"/>
          <p:cNvSpPr txBox="1"/>
          <p:nvPr/>
        </p:nvSpPr>
        <p:spPr>
          <a:xfrm>
            <a:off x="548640" y="2391156"/>
            <a:ext cx="4572000" cy="365760"/>
          </a:xfrm>
          <a:prstGeom prst="rect">
            <a:avLst/>
          </a:prstGeom>
          <a:noFill/>
          <a:ln/>
        </p:spPr>
        <p:txBody>
          <a:bodyPr wrap="square" lIns="0" tIns="0" rIns="0" bIns="0" rtlCol="0" anchor="t"/>
          <a:lstStyle/>
          <a:p>
            <a:pPr indent="0" marL="0">
              <a:buNone/>
            </a:pPr>
            <a:r>
              <a:rPr lang="en-US" sz="1700" b="1" dirty="0">
                <a:solidFill>
                  <a:srgbClr val="1C191A"/>
                </a:solidFill>
                <a:latin typeface="Georgia" pitchFamily="34" charset="0"/>
                <a:ea typeface="Georgia" pitchFamily="34" charset="-122"/>
                <a:cs typeface="Georgia" pitchFamily="34" charset="-120"/>
              </a:rPr>
              <a:t>Audits without memory</a:t>
            </a:r>
            <a:endParaRPr lang="en-US" sz="1700" dirty="0"/>
          </a:p>
        </p:txBody>
      </p:sp>
      <p:sp>
        <p:nvSpPr>
          <p:cNvPr id="7" name="Text 5"/>
          <p:cNvSpPr txBox="1"/>
          <p:nvPr/>
        </p:nvSpPr>
        <p:spPr>
          <a:xfrm>
            <a:off x="548640" y="2775204"/>
            <a:ext cx="4572000" cy="521208"/>
          </a:xfrm>
          <a:prstGeom prst="rect">
            <a:avLst/>
          </a:prstGeom>
          <a:noFill/>
          <a:ln/>
        </p:spPr>
        <p:txBody>
          <a:bodyPr wrap="square" lIns="0" tIns="0" rIns="0" bIns="0" rtlCol="0" anchor="t"/>
          <a:lstStyle/>
          <a:p>
            <a:pPr algn="just" indent="0" marL="0">
              <a:buNone/>
            </a:pPr>
            <a:r>
              <a:rPr lang="en-US" sz="1400" dirty="0">
                <a:solidFill>
                  <a:srgbClr val="1C191A"/>
                </a:solidFill>
                <a:latin typeface="Calibri" pitchFamily="34" charset="0"/>
                <a:ea typeface="Calibri" pitchFamily="34" charset="-122"/>
                <a:cs typeface="Calibri" pitchFamily="34" charset="-120"/>
              </a:rPr>
              <a:t>Correcting only the caught round removed 10–46% of the harm.</a:t>
            </a:r>
            <a:endParaRPr lang="en-US" sz="1400" dirty="0"/>
          </a:p>
        </p:txBody>
      </p:sp>
      <p:sp>
        <p:nvSpPr>
          <p:cNvPr id="8" name="Text 6"/>
          <p:cNvSpPr txBox="1"/>
          <p:nvPr/>
        </p:nvSpPr>
        <p:spPr>
          <a:xfrm>
            <a:off x="548640" y="3461004"/>
            <a:ext cx="4572000" cy="365760"/>
          </a:xfrm>
          <a:prstGeom prst="rect">
            <a:avLst/>
          </a:prstGeom>
          <a:noFill/>
          <a:ln/>
        </p:spPr>
        <p:txBody>
          <a:bodyPr wrap="square" lIns="0" tIns="0" rIns="0" bIns="0" rtlCol="0" anchor="t"/>
          <a:lstStyle/>
          <a:p>
            <a:pPr indent="0" marL="0">
              <a:buNone/>
            </a:pPr>
            <a:r>
              <a:rPr lang="en-US" sz="1700" b="1" dirty="0">
                <a:solidFill>
                  <a:srgbClr val="1C191A"/>
                </a:solidFill>
                <a:latin typeface="Georgia" pitchFamily="34" charset="0"/>
                <a:ea typeface="Georgia" pitchFamily="34" charset="-122"/>
                <a:cs typeface="Georgia" pitchFamily="34" charset="-120"/>
              </a:rPr>
              <a:t>Audits with memory</a:t>
            </a:r>
            <a:endParaRPr lang="en-US" sz="1700" dirty="0"/>
          </a:p>
        </p:txBody>
      </p:sp>
      <p:sp>
        <p:nvSpPr>
          <p:cNvPr id="9" name="Text 7"/>
          <p:cNvSpPr txBox="1"/>
          <p:nvPr/>
        </p:nvSpPr>
        <p:spPr>
          <a:xfrm>
            <a:off x="548640" y="3845052"/>
            <a:ext cx="4572000" cy="745236"/>
          </a:xfrm>
          <a:prstGeom prst="rect">
            <a:avLst/>
          </a:prstGeom>
          <a:noFill/>
          <a:ln/>
        </p:spPr>
        <p:txBody>
          <a:bodyPr wrap="square" lIns="0" tIns="0" rIns="0" bIns="0" rtlCol="0" anchor="t"/>
          <a:lstStyle/>
          <a:p>
            <a:pPr algn="just" indent="0" marL="0">
              <a:buNone/>
            </a:pPr>
            <a:r>
              <a:rPr lang="en-US" sz="1400" dirty="0">
                <a:solidFill>
                  <a:srgbClr val="1C191A"/>
                </a:solidFill>
                <a:latin typeface="Calibri" pitchFamily="34" charset="0"/>
                <a:ea typeface="Calibri" pitchFamily="34" charset="-122"/>
                <a:cs typeface="Calibri" pitchFamily="34" charset="-120"/>
              </a:rPr>
              <a:t>Remembering each caught lie reduced harm in 12 of 12 settings. In Fishery, rounds below half capacity fell from 43–99% to under 3%.</a:t>
            </a:r>
            <a:endParaRPr lang="en-US" sz="1400" dirty="0"/>
          </a:p>
        </p:txBody>
      </p:sp>
      <p:pic>
        <p:nvPicPr>
          <p:cNvPr id="10" name="Image 0" descr="fig3_audits_memory.png">    </p:cNvPr>
          <p:cNvPicPr>
            <a:picLocks noChangeAspect="1"/>
          </p:cNvPicPr>
          <p:nvPr/>
        </p:nvPicPr>
        <p:blipFill>
          <a:blip r:embed="rId1"/>
          <a:stretch>
            <a:fillRect/>
          </a:stretch>
        </p:blipFill>
        <p:spPr>
          <a:xfrm>
            <a:off x="5532120" y="2086674"/>
            <a:ext cx="6110935" cy="2766948"/>
          </a:xfrm>
          <a:prstGeom prst="rect">
            <a:avLst/>
          </a:prstGeom>
        </p:spPr>
      </p:pic>
      <p:sp>
        <p:nvSpPr>
          <p:cNvPr id="11" name="Text 8"/>
          <p:cNvSpPr txBox="1"/>
          <p:nvPr/>
        </p:nvSpPr>
        <p:spPr>
          <a:xfrm>
            <a:off x="5532120" y="4963350"/>
            <a:ext cx="6110935" cy="502920"/>
          </a:xfrm>
          <a:prstGeom prst="rect">
            <a:avLst/>
          </a:prstGeom>
          <a:noFill/>
          <a:ln/>
        </p:spPr>
        <p:txBody>
          <a:bodyPr wrap="square" lIns="0" tIns="0" rIns="0" bIns="0" rtlCol="0" anchor="t"/>
          <a:lstStyle/>
          <a:p>
            <a:pPr algn="ctr" indent="0" marL="0">
              <a:buNone/>
            </a:pPr>
            <a:r>
              <a:rPr lang="en-US" sz="1100" i="1" dirty="0">
                <a:solidFill>
                  <a:srgbClr val="55524E"/>
                </a:solidFill>
                <a:latin typeface="Calibri" pitchFamily="34" charset="0"/>
                <a:ea typeface="Calibri" pitchFamily="34" charset="-122"/>
                <a:cs typeface="Calibri" pitchFamily="34" charset="-120"/>
              </a:rPr>
              <a:t>Rounds below half capacity with under-reporting agents. Dark: no audits. Light: audits without memory. Green: audits with memory. 2g/4g = 2 or 4 misbehaving agents; 1.0/0.85 = regrowth rate.</a:t>
            </a:r>
            <a:endParaRPr lang="en-US" sz="1100" dirty="0"/>
          </a:p>
        </p:txBody>
      </p:sp>
      <p:sp>
        <p:nvSpPr>
          <p:cNvPr id="12" name="Text 9"/>
          <p:cNvSpPr txBox="1"/>
          <p:nvPr/>
        </p:nvSpPr>
        <p:spPr>
          <a:xfrm>
            <a:off x="11368735" y="6400800"/>
            <a:ext cx="457200" cy="274320"/>
          </a:xfrm>
          <a:prstGeom prst="rect">
            <a:avLst/>
          </a:prstGeom>
          <a:noFill/>
          <a:ln/>
        </p:spPr>
        <p:txBody>
          <a:bodyPr wrap="square" lIns="0" tIns="0" rIns="0" bIns="0" rtlCol="0" anchor="ctr"/>
          <a:lstStyle/>
          <a:p>
            <a:pPr algn="r" indent="0" marL="0">
              <a:buNone/>
            </a:pPr>
            <a:r>
              <a:rPr lang="en-US" sz="1000" dirty="0">
                <a:solidFill>
                  <a:srgbClr val="1C191A"/>
                </a:solidFill>
                <a:latin typeface="Calibri" pitchFamily="34" charset="0"/>
                <a:ea typeface="Calibri" pitchFamily="34" charset="-122"/>
                <a:cs typeface="Calibri" pitchFamily="34" charset="-120"/>
              </a:rPr>
              <a:t>7</a:t>
            </a:r>
            <a:endParaRPr lang="en-US" sz="1000" dirty="0"/>
          </a:p>
        </p:txBody>
      </p:sp>
    </p:spTree>
  </p:cSld>
  <p:clrMapOvr>
    <a:masterClrMapping/>
  </p:clrMapOvr>
</p:sld>
</file>

<file path=ppt/slides/slide8.xml><?xml version="1.0" encoding="utf-8"?>
<p:sld xmlns:a="http://schemas.openxmlformats.org/drawingml/2006/main" xmlns:r="http://schemas.openxmlformats.org/officeDocument/2006/relationships" xmlns:p="http://schemas.openxmlformats.org/presentationml/2006/main">
  <p:cSld name="Slide 8">
    <p:spTree>
      <p:nvGrpSpPr>
        <p:cNvPr id="1" name=""/>
        <p:cNvGrpSpPr/>
        <p:nvPr/>
      </p:nvGrpSpPr>
      <p:grpSpPr>
        <a:xfrm>
          <a:off x="0" y="0"/>
          <a:ext cx="0" cy="0"/>
          <a:chOff x="0" y="0"/>
          <a:chExt cx="0" cy="0"/>
        </a:xfrm>
      </p:grpSpPr>
      <p:sp>
        <p:nvSpPr>
          <p:cNvPr id="2" name="Text 0"/>
          <p:cNvSpPr txBox="1"/>
          <p:nvPr/>
        </p:nvSpPr>
        <p:spPr>
          <a:xfrm>
            <a:off x="548640" y="365760"/>
            <a:ext cx="11094415" cy="777240"/>
          </a:xfrm>
          <a:prstGeom prst="rect">
            <a:avLst/>
          </a:prstGeom>
          <a:noFill/>
          <a:ln/>
        </p:spPr>
        <p:txBody>
          <a:bodyPr wrap="square" lIns="0" tIns="0" rIns="0" bIns="0" rtlCol="0" anchor="b"/>
          <a:lstStyle/>
          <a:p>
            <a:pPr algn="r" indent="0" marL="0">
              <a:lnSpc>
                <a:spcPct val="95000"/>
              </a:lnSpc>
              <a:buNone/>
            </a:pPr>
            <a:r>
              <a:rPr lang="en-US" sz="3400" b="1" dirty="0">
                <a:solidFill>
                  <a:srgbClr val="062746"/>
                </a:solidFill>
                <a:latin typeface="Georgia" pitchFamily="34" charset="0"/>
                <a:ea typeface="Georgia" pitchFamily="34" charset="-122"/>
                <a:cs typeface="Georgia" pitchFamily="34" charset="-120"/>
              </a:rPr>
              <a:t>Finding 2: A Predictable Threshold</a:t>
            </a:r>
            <a:endParaRPr lang="en-US" sz="3400" dirty="0"/>
          </a:p>
        </p:txBody>
      </p:sp>
      <p:sp>
        <p:nvSpPr>
          <p:cNvPr id="3" name="Shape 1"/>
          <p:cNvSpPr/>
          <p:nvPr/>
        </p:nvSpPr>
        <p:spPr>
          <a:xfrm>
            <a:off x="8351215" y="1271016"/>
            <a:ext cx="3291840" cy="91440"/>
          </a:xfrm>
          <a:prstGeom prst="rect">
            <a:avLst/>
          </a:prstGeom>
          <a:solidFill>
            <a:srgbClr val="131B28"/>
          </a:solidFill>
          <a:ln w="12700">
            <a:solidFill>
              <a:srgbClr val="131B28"/>
            </a:solidFill>
            <a:prstDash val="solid"/>
          </a:ln>
        </p:spPr>
      </p:sp>
      <p:sp>
        <p:nvSpPr>
          <p:cNvPr id="4" name="Text 2"/>
          <p:cNvSpPr txBox="1"/>
          <p:nvPr/>
        </p:nvSpPr>
        <p:spPr>
          <a:xfrm>
            <a:off x="7071055" y="1545336"/>
            <a:ext cx="4572000" cy="365760"/>
          </a:xfrm>
          <a:prstGeom prst="rect">
            <a:avLst/>
          </a:prstGeom>
          <a:noFill/>
          <a:ln/>
        </p:spPr>
        <p:txBody>
          <a:bodyPr wrap="square" lIns="0" tIns="0" rIns="0" bIns="0" rtlCol="0" anchor="t"/>
          <a:lstStyle/>
          <a:p>
            <a:pPr indent="0" marL="0">
              <a:buNone/>
            </a:pPr>
            <a:r>
              <a:rPr lang="en-US" sz="1700" b="1" dirty="0">
                <a:solidFill>
                  <a:srgbClr val="1C191A"/>
                </a:solidFill>
                <a:latin typeface="Georgia" pitchFamily="34" charset="0"/>
                <a:ea typeface="Georgia" pitchFamily="34" charset="-122"/>
                <a:cs typeface="Georgia" pitchFamily="34" charset="-120"/>
              </a:rPr>
              <a:t>Prediction</a:t>
            </a:r>
            <a:endParaRPr lang="en-US" sz="1700" dirty="0"/>
          </a:p>
        </p:txBody>
      </p:sp>
      <p:sp>
        <p:nvSpPr>
          <p:cNvPr id="5" name="Text 3"/>
          <p:cNvSpPr txBox="1"/>
          <p:nvPr/>
        </p:nvSpPr>
        <p:spPr>
          <a:xfrm>
            <a:off x="7071055" y="1929384"/>
            <a:ext cx="4572000" cy="521208"/>
          </a:xfrm>
          <a:prstGeom prst="rect">
            <a:avLst/>
          </a:prstGeom>
          <a:noFill/>
          <a:ln/>
        </p:spPr>
        <p:txBody>
          <a:bodyPr wrap="square" lIns="0" tIns="0" rIns="0" bIns="0" rtlCol="0" anchor="t"/>
          <a:lstStyle/>
          <a:p>
            <a:pPr algn="just" indent="0" marL="0">
              <a:buNone/>
            </a:pPr>
            <a:r>
              <a:rPr lang="en-US" sz="1400" dirty="0">
                <a:solidFill>
                  <a:srgbClr val="1C191A"/>
                </a:solidFill>
                <a:latin typeface="Calibri" pitchFamily="34" charset="0"/>
                <a:ea typeface="Calibri" pitchFamily="34" charset="-122"/>
                <a:cs typeface="Calibri" pitchFamily="34" charset="-120"/>
              </a:rPr>
              <a:t>From games without audits, we predicted the expected fine at which programmed cheaters would stop.</a:t>
            </a:r>
            <a:endParaRPr lang="en-US" sz="1400" dirty="0"/>
          </a:p>
        </p:txBody>
      </p:sp>
      <p:sp>
        <p:nvSpPr>
          <p:cNvPr id="6" name="Text 4"/>
          <p:cNvSpPr txBox="1"/>
          <p:nvPr/>
        </p:nvSpPr>
        <p:spPr>
          <a:xfrm>
            <a:off x="7071055" y="2615184"/>
            <a:ext cx="4572000" cy="365760"/>
          </a:xfrm>
          <a:prstGeom prst="rect">
            <a:avLst/>
          </a:prstGeom>
          <a:noFill/>
          <a:ln/>
        </p:spPr>
        <p:txBody>
          <a:bodyPr wrap="square" lIns="0" tIns="0" rIns="0" bIns="0" rtlCol="0" anchor="t"/>
          <a:lstStyle/>
          <a:p>
            <a:pPr indent="0" marL="0">
              <a:buNone/>
            </a:pPr>
            <a:r>
              <a:rPr lang="en-US" sz="1700" b="1" dirty="0">
                <a:solidFill>
                  <a:srgbClr val="1C191A"/>
                </a:solidFill>
                <a:latin typeface="Georgia" pitchFamily="34" charset="0"/>
                <a:ea typeface="Georgia" pitchFamily="34" charset="-122"/>
                <a:cs typeface="Georgia" pitchFamily="34" charset="-120"/>
              </a:rPr>
              <a:t>Result</a:t>
            </a:r>
            <a:endParaRPr lang="en-US" sz="1700" dirty="0"/>
          </a:p>
        </p:txBody>
      </p:sp>
      <p:sp>
        <p:nvSpPr>
          <p:cNvPr id="7" name="Text 5"/>
          <p:cNvSpPr txBox="1"/>
          <p:nvPr/>
        </p:nvSpPr>
        <p:spPr>
          <a:xfrm>
            <a:off x="7071055" y="2999232"/>
            <a:ext cx="4572000" cy="521208"/>
          </a:xfrm>
          <a:prstGeom prst="rect">
            <a:avLst/>
          </a:prstGeom>
          <a:noFill/>
          <a:ln/>
        </p:spPr>
        <p:txBody>
          <a:bodyPr wrap="square" lIns="0" tIns="0" rIns="0" bIns="0" rtlCol="0" anchor="t"/>
          <a:lstStyle/>
          <a:p>
            <a:pPr algn="just" indent="0" marL="0">
              <a:buNone/>
            </a:pPr>
            <a:r>
              <a:rPr lang="en-US" sz="1400" dirty="0">
                <a:solidFill>
                  <a:srgbClr val="1C191A"/>
                </a:solidFill>
                <a:latin typeface="Calibri" pitchFamily="34" charset="0"/>
                <a:ea typeface="Calibri" pitchFamily="34" charset="-122"/>
                <a:cs typeface="Calibri" pitchFamily="34" charset="-120"/>
              </a:rPr>
              <a:t>5 of 5 new settings landed within one step of the prediction.</a:t>
            </a:r>
            <a:endParaRPr lang="en-US" sz="1400" dirty="0"/>
          </a:p>
        </p:txBody>
      </p:sp>
      <p:sp>
        <p:nvSpPr>
          <p:cNvPr id="8" name="Text 6"/>
          <p:cNvSpPr txBox="1"/>
          <p:nvPr/>
        </p:nvSpPr>
        <p:spPr>
          <a:xfrm>
            <a:off x="7071055" y="3685032"/>
            <a:ext cx="4572000" cy="365760"/>
          </a:xfrm>
          <a:prstGeom prst="rect">
            <a:avLst/>
          </a:prstGeom>
          <a:noFill/>
          <a:ln/>
        </p:spPr>
        <p:txBody>
          <a:bodyPr wrap="square" lIns="0" tIns="0" rIns="0" bIns="0" rtlCol="0" anchor="t"/>
          <a:lstStyle/>
          <a:p>
            <a:pPr indent="0" marL="0">
              <a:buNone/>
            </a:pPr>
            <a:r>
              <a:rPr lang="en-US" sz="1700" b="1" dirty="0">
                <a:solidFill>
                  <a:srgbClr val="1C191A"/>
                </a:solidFill>
                <a:latin typeface="Georgia" pitchFamily="34" charset="0"/>
                <a:ea typeface="Georgia" pitchFamily="34" charset="-122"/>
                <a:cs typeface="Georgia" pitchFamily="34" charset="-120"/>
              </a:rPr>
              <a:t>Caveat</a:t>
            </a:r>
            <a:endParaRPr lang="en-US" sz="1700" dirty="0"/>
          </a:p>
        </p:txBody>
      </p:sp>
      <p:sp>
        <p:nvSpPr>
          <p:cNvPr id="9" name="Text 7"/>
          <p:cNvSpPr txBox="1"/>
          <p:nvPr/>
        </p:nvSpPr>
        <p:spPr>
          <a:xfrm>
            <a:off x="7071055" y="4069080"/>
            <a:ext cx="4572000" cy="521208"/>
          </a:xfrm>
          <a:prstGeom prst="rect">
            <a:avLst/>
          </a:prstGeom>
          <a:noFill/>
          <a:ln/>
        </p:spPr>
        <p:txBody>
          <a:bodyPr wrap="square" lIns="0" tIns="0" rIns="0" bIns="0" rtlCol="0" anchor="t"/>
          <a:lstStyle/>
          <a:p>
            <a:pPr algn="just" indent="0" marL="0">
              <a:buNone/>
            </a:pPr>
            <a:r>
              <a:rPr lang="en-US" sz="1400" dirty="0">
                <a:solidFill>
                  <a:srgbClr val="1C191A"/>
                </a:solidFill>
                <a:latin typeface="Calibri" pitchFamily="34" charset="0"/>
                <a:ea typeface="Calibri" pitchFamily="34" charset="-122"/>
                <a:cs typeface="Calibri" pitchFamily="34" charset="-120"/>
              </a:rPr>
              <a:t>These agents optimise by design, so this validates the method before it is used on language models.</a:t>
            </a:r>
            <a:endParaRPr lang="en-US" sz="1400" dirty="0"/>
          </a:p>
        </p:txBody>
      </p:sp>
      <p:pic>
        <p:nvPicPr>
          <p:cNvPr id="10" name="Image 0" descr="fig3_audits_threshold.png">    </p:cNvPr>
          <p:cNvPicPr>
            <a:picLocks noChangeAspect="1"/>
          </p:cNvPicPr>
          <p:nvPr/>
        </p:nvPicPr>
        <p:blipFill>
          <a:blip r:embed="rId1"/>
          <a:stretch>
            <a:fillRect/>
          </a:stretch>
        </p:blipFill>
        <p:spPr>
          <a:xfrm>
            <a:off x="548640" y="1512279"/>
            <a:ext cx="6110935" cy="4098618"/>
          </a:xfrm>
          <a:prstGeom prst="rect">
            <a:avLst/>
          </a:prstGeom>
        </p:spPr>
      </p:pic>
      <p:sp>
        <p:nvSpPr>
          <p:cNvPr id="11" name="Text 8"/>
          <p:cNvSpPr txBox="1"/>
          <p:nvPr/>
        </p:nvSpPr>
        <p:spPr>
          <a:xfrm>
            <a:off x="548640" y="5720625"/>
            <a:ext cx="6110935" cy="502920"/>
          </a:xfrm>
          <a:prstGeom prst="rect">
            <a:avLst/>
          </a:prstGeom>
          <a:noFill/>
          <a:ln/>
        </p:spPr>
        <p:txBody>
          <a:bodyPr wrap="square" lIns="0" tIns="0" rIns="0" bIns="0" rtlCol="0" anchor="t"/>
          <a:lstStyle/>
          <a:p>
            <a:pPr algn="ctr" indent="0" marL="0">
              <a:buNone/>
            </a:pPr>
            <a:r>
              <a:rPr lang="en-US" sz="1100" i="1" dirty="0">
                <a:solidFill>
                  <a:srgbClr val="55524E"/>
                </a:solidFill>
                <a:latin typeface="Calibri" pitchFamily="34" charset="0"/>
                <a:ea typeface="Calibri" pitchFamily="34" charset="-122"/>
                <a:cs typeface="Calibri" pitchFamily="34" charset="-120"/>
              </a:rPr>
              <a:t>Observed against predicted stopping point. Filled: new settings, predicted first. Open: audit probability or detection varied.</a:t>
            </a:r>
            <a:endParaRPr lang="en-US" sz="1100" dirty="0"/>
          </a:p>
        </p:txBody>
      </p:sp>
      <p:sp>
        <p:nvSpPr>
          <p:cNvPr id="12" name="Text 9"/>
          <p:cNvSpPr txBox="1"/>
          <p:nvPr/>
        </p:nvSpPr>
        <p:spPr>
          <a:xfrm>
            <a:off x="11368735" y="6400800"/>
            <a:ext cx="457200" cy="274320"/>
          </a:xfrm>
          <a:prstGeom prst="rect">
            <a:avLst/>
          </a:prstGeom>
          <a:noFill/>
          <a:ln/>
        </p:spPr>
        <p:txBody>
          <a:bodyPr wrap="square" lIns="0" tIns="0" rIns="0" bIns="0" rtlCol="0" anchor="ctr"/>
          <a:lstStyle/>
          <a:p>
            <a:pPr algn="r" indent="0" marL="0">
              <a:buNone/>
            </a:pPr>
            <a:r>
              <a:rPr lang="en-US" sz="1000" dirty="0">
                <a:solidFill>
                  <a:srgbClr val="1C191A"/>
                </a:solidFill>
                <a:latin typeface="Calibri" pitchFamily="34" charset="0"/>
                <a:ea typeface="Calibri" pitchFamily="34" charset="-122"/>
                <a:cs typeface="Calibri" pitchFamily="34" charset="-120"/>
              </a:rPr>
              <a:t>8</a:t>
            </a:r>
            <a:endParaRPr lang="en-US" sz="1000" dirty="0"/>
          </a:p>
        </p:txBody>
      </p:sp>
    </p:spTree>
  </p:cSld>
  <p:clrMapOvr>
    <a:masterClrMapping/>
  </p:clrMapOvr>
</p:sld>
</file>

<file path=ppt/slides/slide9.xml><?xml version="1.0" encoding="utf-8"?>
<p:sld xmlns:a="http://schemas.openxmlformats.org/drawingml/2006/main" xmlns:r="http://schemas.openxmlformats.org/officeDocument/2006/relationships" xmlns:p="http://schemas.openxmlformats.org/presentationml/2006/main">
  <p:cSld name="Slide 9">
    <p:spTree>
      <p:nvGrpSpPr>
        <p:cNvPr id="1" name=""/>
        <p:cNvGrpSpPr/>
        <p:nvPr/>
      </p:nvGrpSpPr>
      <p:grpSpPr>
        <a:xfrm>
          <a:off x="0" y="0"/>
          <a:ext cx="0" cy="0"/>
          <a:chOff x="0" y="0"/>
          <a:chExt cx="0" cy="0"/>
        </a:xfrm>
      </p:grpSpPr>
      <p:sp>
        <p:nvSpPr>
          <p:cNvPr id="2" name="Text 0"/>
          <p:cNvSpPr txBox="1"/>
          <p:nvPr/>
        </p:nvSpPr>
        <p:spPr>
          <a:xfrm>
            <a:off x="548640" y="274320"/>
            <a:ext cx="11094415" cy="822960"/>
          </a:xfrm>
          <a:prstGeom prst="rect">
            <a:avLst/>
          </a:prstGeom>
          <a:noFill/>
          <a:ln/>
        </p:spPr>
        <p:txBody>
          <a:bodyPr wrap="square" lIns="0" tIns="0" rIns="0" bIns="0" rtlCol="0" anchor="b"/>
          <a:lstStyle/>
          <a:p>
            <a:pPr algn="ctr" indent="0" marL="0">
              <a:lnSpc>
                <a:spcPct val="95000"/>
              </a:lnSpc>
              <a:buNone/>
            </a:pPr>
            <a:r>
              <a:rPr lang="en-US" sz="3200" b="1" dirty="0">
                <a:solidFill>
                  <a:srgbClr val="062746"/>
                </a:solidFill>
                <a:latin typeface="Georgia" pitchFamily="34" charset="0"/>
                <a:ea typeface="Georgia" pitchFamily="34" charset="-122"/>
                <a:cs typeface="Georgia" pitchFamily="34" charset="-120"/>
              </a:rPr>
              <a:t>Finding 3: Two Shortcuts That Backfire</a:t>
            </a:r>
            <a:endParaRPr lang="en-US" sz="3200" dirty="0"/>
          </a:p>
        </p:txBody>
      </p:sp>
      <p:pic>
        <p:nvPicPr>
          <p:cNvPr id="3" name="Image 0" descr="fig3_audits_rules.png">    </p:cNvPr>
          <p:cNvPicPr>
            <a:picLocks noChangeAspect="1"/>
          </p:cNvPicPr>
          <p:nvPr/>
        </p:nvPicPr>
        <p:blipFill>
          <a:blip r:embed="rId1"/>
          <a:stretch>
            <a:fillRect/>
          </a:stretch>
        </p:blipFill>
        <p:spPr>
          <a:xfrm>
            <a:off x="548640" y="1356875"/>
            <a:ext cx="5364328" cy="3504170"/>
          </a:xfrm>
          <a:prstGeom prst="rect">
            <a:avLst/>
          </a:prstGeom>
        </p:spPr>
      </p:pic>
      <p:sp>
        <p:nvSpPr>
          <p:cNvPr id="4" name="Text 1"/>
          <p:cNvSpPr txBox="1"/>
          <p:nvPr/>
        </p:nvSpPr>
        <p:spPr>
          <a:xfrm>
            <a:off x="548640" y="4952485"/>
            <a:ext cx="5364328" cy="502920"/>
          </a:xfrm>
          <a:prstGeom prst="rect">
            <a:avLst/>
          </a:prstGeom>
          <a:noFill/>
          <a:ln/>
        </p:spPr>
        <p:txBody>
          <a:bodyPr wrap="square" lIns="0" tIns="0" rIns="0" bIns="0" rtlCol="0" anchor="t"/>
          <a:lstStyle/>
          <a:p>
            <a:pPr algn="ctr" indent="0" marL="0">
              <a:buNone/>
            </a:pPr>
            <a:r>
              <a:rPr lang="en-US" sz="1100" i="1" dirty="0">
                <a:solidFill>
                  <a:srgbClr val="55524E"/>
                </a:solidFill>
                <a:latin typeface="Calibri" pitchFamily="34" charset="0"/>
                <a:ea typeface="Calibri" pitchFamily="34" charset="-122"/>
                <a:cs typeface="Calibri" pitchFamily="34" charset="-120"/>
              </a:rPr>
              <a:t>Cutting everyone's allowance to absorb cheaters: cheaters gained more than with no audits (142 vs 113).</a:t>
            </a:r>
            <a:endParaRPr lang="en-US" sz="1100" dirty="0"/>
          </a:p>
        </p:txBody>
      </p:sp>
      <p:pic>
        <p:nvPicPr>
          <p:cNvPr id="5" name="Image 1" descr="fig3_audits_targeting.png">    </p:cNvPr>
          <p:cNvPicPr>
            <a:picLocks noChangeAspect="1"/>
          </p:cNvPicPr>
          <p:nvPr/>
        </p:nvPicPr>
        <p:blipFill>
          <a:blip r:embed="rId2"/>
          <a:stretch>
            <a:fillRect/>
          </a:stretch>
        </p:blipFill>
        <p:spPr>
          <a:xfrm>
            <a:off x="6278728" y="1371723"/>
            <a:ext cx="5364328" cy="3474474"/>
          </a:xfrm>
          <a:prstGeom prst="rect">
            <a:avLst/>
          </a:prstGeom>
        </p:spPr>
      </p:pic>
      <p:sp>
        <p:nvSpPr>
          <p:cNvPr id="6" name="Text 2"/>
          <p:cNvSpPr txBox="1"/>
          <p:nvPr/>
        </p:nvSpPr>
        <p:spPr>
          <a:xfrm>
            <a:off x="6278728" y="4937637"/>
            <a:ext cx="5364328" cy="502920"/>
          </a:xfrm>
          <a:prstGeom prst="rect">
            <a:avLst/>
          </a:prstGeom>
          <a:noFill/>
          <a:ln/>
        </p:spPr>
        <p:txBody>
          <a:bodyPr wrap="square" lIns="0" tIns="0" rIns="0" bIns="0" rtlCol="0" anchor="t"/>
          <a:lstStyle/>
          <a:p>
            <a:pPr algn="ctr" indent="0" marL="0">
              <a:buNone/>
            </a:pPr>
            <a:r>
              <a:rPr lang="en-US" sz="1100" i="1" dirty="0">
                <a:solidFill>
                  <a:srgbClr val="55524E"/>
                </a:solidFill>
                <a:latin typeface="Calibri" pitchFamily="34" charset="0"/>
                <a:ea typeface="Calibri" pitchFamily="34" charset="-122"/>
                <a:cs typeface="Calibri" pitchFamily="34" charset="-120"/>
              </a:rPr>
              <a:t>Always auditing the largest report: 25% of liars caught, against 100% with random audits.</a:t>
            </a:r>
            <a:endParaRPr lang="en-US" sz="1100" dirty="0"/>
          </a:p>
        </p:txBody>
      </p:sp>
      <p:sp>
        <p:nvSpPr>
          <p:cNvPr id="7" name="Text 3"/>
          <p:cNvSpPr txBox="1"/>
          <p:nvPr/>
        </p:nvSpPr>
        <p:spPr>
          <a:xfrm>
            <a:off x="1005840" y="5897880"/>
            <a:ext cx="10180015" cy="411480"/>
          </a:xfrm>
          <a:prstGeom prst="rect">
            <a:avLst/>
          </a:prstGeom>
          <a:noFill/>
          <a:ln/>
        </p:spPr>
        <p:txBody>
          <a:bodyPr wrap="square" lIns="0" tIns="0" rIns="0" bIns="0" rtlCol="0" anchor="ctr"/>
          <a:lstStyle/>
          <a:p>
            <a:pPr algn="ctr" indent="0" marL="0">
              <a:buNone/>
            </a:pPr>
            <a:r>
              <a:rPr lang="en-US" sz="1700" b="1" dirty="0">
                <a:solidFill>
                  <a:srgbClr val="062746"/>
                </a:solidFill>
                <a:latin typeface="Georgia" pitchFamily="34" charset="0"/>
                <a:ea typeface="Georgia" pitchFamily="34" charset="-122"/>
                <a:cs typeface="Georgia" pitchFamily="34" charset="-120"/>
              </a:rPr>
              <a:t>Shortcuts that save audits create blind spots</a:t>
            </a:r>
            <a:endParaRPr lang="en-US" sz="1700" dirty="0"/>
          </a:p>
        </p:txBody>
      </p:sp>
      <p:sp>
        <p:nvSpPr>
          <p:cNvPr id="8" name="Text 4"/>
          <p:cNvSpPr txBox="1"/>
          <p:nvPr/>
        </p:nvSpPr>
        <p:spPr>
          <a:xfrm>
            <a:off x="11368735" y="6400800"/>
            <a:ext cx="457200" cy="274320"/>
          </a:xfrm>
          <a:prstGeom prst="rect">
            <a:avLst/>
          </a:prstGeom>
          <a:noFill/>
          <a:ln/>
        </p:spPr>
        <p:txBody>
          <a:bodyPr wrap="square" lIns="0" tIns="0" rIns="0" bIns="0" rtlCol="0" anchor="ctr"/>
          <a:lstStyle/>
          <a:p>
            <a:pPr algn="r" indent="0" marL="0">
              <a:buNone/>
            </a:pPr>
            <a:r>
              <a:rPr lang="en-US" sz="1000" dirty="0">
                <a:solidFill>
                  <a:srgbClr val="1C191A"/>
                </a:solidFill>
                <a:latin typeface="Calibri" pitchFamily="34" charset="0"/>
                <a:ea typeface="Calibri" pitchFamily="34" charset="-122"/>
                <a:cs typeface="Calibri" pitchFamily="34" charset="-120"/>
              </a:rPr>
              <a:t>9</a:t>
            </a:r>
            <a:endParaRPr lang="en-US" sz="1000" dirty="0"/>
          </a:p>
        </p:txBody>
      </p:sp>
    </p:spTree>
  </p:cSld>
  <p:clrMapOvr>
    <a:masterClrMapping/>
  </p:clrMapOvr>
</p:sld>
</file>

<file path=ppt/slides/slide10.xml><?xml version="1.0" encoding="utf-8"?>
<p:sld xmlns:a="http://schemas.openxmlformats.org/drawingml/2006/main" xmlns:r="http://schemas.openxmlformats.org/officeDocument/2006/relationships" xmlns:p="http://schemas.openxmlformats.org/presentationml/2006/main">
  <p:cSld name="Slide 10">
    <p:spTree>
      <p:nvGrpSpPr>
        <p:cNvPr id="1" name=""/>
        <p:cNvGrpSpPr/>
        <p:nvPr/>
      </p:nvGrpSpPr>
      <p:grpSpPr>
        <a:xfrm>
          <a:off x="0" y="0"/>
          <a:ext cx="0" cy="0"/>
          <a:chOff x="0" y="0"/>
          <a:chExt cx="0" cy="0"/>
        </a:xfrm>
      </p:grpSpPr>
      <p:sp>
        <p:nvSpPr>
          <p:cNvPr id="2" name="Text 0"/>
          <p:cNvSpPr txBox="1"/>
          <p:nvPr/>
        </p:nvSpPr>
        <p:spPr>
          <a:xfrm>
            <a:off x="548640" y="274320"/>
            <a:ext cx="11094415" cy="822960"/>
          </a:xfrm>
          <a:prstGeom prst="rect">
            <a:avLst/>
          </a:prstGeom>
          <a:noFill/>
          <a:ln/>
        </p:spPr>
        <p:txBody>
          <a:bodyPr wrap="square" lIns="0" tIns="0" rIns="0" bIns="0" rtlCol="0" anchor="b"/>
          <a:lstStyle/>
          <a:p>
            <a:pPr algn="ctr" indent="0" marL="0">
              <a:lnSpc>
                <a:spcPct val="95000"/>
              </a:lnSpc>
              <a:buNone/>
            </a:pPr>
            <a:r>
              <a:rPr lang="en-US" sz="3200" b="1" dirty="0">
                <a:solidFill>
                  <a:srgbClr val="062746"/>
                </a:solidFill>
                <a:latin typeface="Georgia" pitchFamily="34" charset="0"/>
                <a:ea typeface="Georgia" pitchFamily="34" charset="-122"/>
                <a:cs typeface="Georgia" pitchFamily="34" charset="-120"/>
              </a:rPr>
              <a:t>Finding 4: Language Models Stop Where Predicted</a:t>
            </a:r>
            <a:endParaRPr lang="en-US" sz="3200" dirty="0"/>
          </a:p>
        </p:txBody>
      </p:sp>
      <p:pic>
        <p:nvPicPr>
          <p:cNvPr id="3" name="Image 0" descr="fig4_llm_main.png">    </p:cNvPr>
          <p:cNvPicPr>
            <a:picLocks noChangeAspect="1"/>
          </p:cNvPicPr>
          <p:nvPr/>
        </p:nvPicPr>
        <p:blipFill>
          <a:blip r:embed="rId1"/>
          <a:stretch>
            <a:fillRect/>
          </a:stretch>
        </p:blipFill>
        <p:spPr>
          <a:xfrm>
            <a:off x="1757583" y="1234440"/>
            <a:ext cx="8676530" cy="3977640"/>
          </a:xfrm>
          <a:prstGeom prst="rect">
            <a:avLst/>
          </a:prstGeom>
        </p:spPr>
      </p:pic>
      <p:sp>
        <p:nvSpPr>
          <p:cNvPr id="4" name="Text 1"/>
          <p:cNvSpPr txBox="1"/>
          <p:nvPr/>
        </p:nvSpPr>
        <p:spPr>
          <a:xfrm>
            <a:off x="1463040" y="5303520"/>
            <a:ext cx="9265615" cy="502920"/>
          </a:xfrm>
          <a:prstGeom prst="rect">
            <a:avLst/>
          </a:prstGeom>
          <a:noFill/>
          <a:ln/>
        </p:spPr>
        <p:txBody>
          <a:bodyPr wrap="square" lIns="0" tIns="0" rIns="0" bIns="0" rtlCol="0" anchor="t"/>
          <a:lstStyle/>
          <a:p>
            <a:pPr algn="ctr" indent="0" marL="0">
              <a:buNone/>
            </a:pPr>
            <a:r>
              <a:rPr lang="en-US" sz="1100" i="1" dirty="0">
                <a:solidFill>
                  <a:srgbClr val="55524E"/>
                </a:solidFill>
                <a:latin typeface="Calibri" pitchFamily="34" charset="0"/>
                <a:ea typeface="Calibri" pitchFamily="34" charset="-122"/>
                <a:cs typeface="Calibri" pitchFamily="34" charset="-120"/>
              </a:rPr>
              <a:t>Four open language models each ran four of six fishers (520 games; audit probability 1 in 6). Left: over-taking by fine; triangles mark the predicted (open) and observed (filled) stopping fine. Right: catch left for the two rule-following fishers.</a:t>
            </a:r>
            <a:endParaRPr lang="en-US" sz="1100" dirty="0"/>
          </a:p>
        </p:txBody>
      </p:sp>
      <p:sp>
        <p:nvSpPr>
          <p:cNvPr id="5" name="Text 2"/>
          <p:cNvSpPr txBox="1"/>
          <p:nvPr/>
        </p:nvSpPr>
        <p:spPr>
          <a:xfrm>
            <a:off x="1005840" y="5897880"/>
            <a:ext cx="10180015" cy="411480"/>
          </a:xfrm>
          <a:prstGeom prst="rect">
            <a:avLst/>
          </a:prstGeom>
          <a:noFill/>
          <a:ln/>
        </p:spPr>
        <p:txBody>
          <a:bodyPr wrap="square" lIns="0" tIns="0" rIns="0" bIns="0" rtlCol="0" anchor="ctr"/>
          <a:lstStyle/>
          <a:p>
            <a:pPr algn="ctr" indent="0" marL="0">
              <a:buNone/>
            </a:pPr>
            <a:r>
              <a:rPr lang="en-US" sz="1700" b="1" dirty="0">
                <a:solidFill>
                  <a:srgbClr val="062746"/>
                </a:solidFill>
                <a:latin typeface="Georgia" pitchFamily="34" charset="0"/>
                <a:ea typeface="Georgia" pitchFamily="34" charset="-122"/>
                <a:cs typeface="Georgia" pitchFamily="34" charset="-120"/>
              </a:rPr>
              <a:t>Predicted before testing: 30 t. Observed: 30 t (Nemotron 3 Super), 24 t (gpt-oss-120b)</a:t>
            </a:r>
            <a:endParaRPr lang="en-US" sz="1700" dirty="0"/>
          </a:p>
        </p:txBody>
      </p:sp>
      <p:sp>
        <p:nvSpPr>
          <p:cNvPr id="6" name="Text 3"/>
          <p:cNvSpPr txBox="1"/>
          <p:nvPr/>
        </p:nvSpPr>
        <p:spPr>
          <a:xfrm>
            <a:off x="11368735" y="6400800"/>
            <a:ext cx="457200" cy="274320"/>
          </a:xfrm>
          <a:prstGeom prst="rect">
            <a:avLst/>
          </a:prstGeom>
          <a:noFill/>
          <a:ln/>
        </p:spPr>
        <p:txBody>
          <a:bodyPr wrap="square" lIns="0" tIns="0" rIns="0" bIns="0" rtlCol="0" anchor="ctr"/>
          <a:lstStyle/>
          <a:p>
            <a:pPr algn="r" indent="0" marL="0">
              <a:buNone/>
            </a:pPr>
            <a:r>
              <a:rPr lang="en-US" sz="1000" dirty="0">
                <a:solidFill>
                  <a:srgbClr val="1C191A"/>
                </a:solidFill>
                <a:latin typeface="Calibri" pitchFamily="34" charset="0"/>
                <a:ea typeface="Calibri" pitchFamily="34" charset="-122"/>
                <a:cs typeface="Calibri" pitchFamily="34" charset="-120"/>
              </a:rPr>
              <a:t>10</a:t>
            </a:r>
            <a:endParaRPr lang="en-US" sz="1000" dirty="0"/>
          </a:p>
        </p:txBody>
      </p:sp>
    </p:spTree>
  </p:cSld>
  <p:clrMapOvr>
    <a:masterClrMapping/>
  </p:clrMapOvr>
</p:sld>
</file>

<file path=ppt/slides/slide11.xml><?xml version="1.0" encoding="utf-8"?>
<p:sld xmlns:a="http://schemas.openxmlformats.org/drawingml/2006/main" xmlns:r="http://schemas.openxmlformats.org/officeDocument/2006/relationships" xmlns:p="http://schemas.openxmlformats.org/presentationml/2006/main">
  <p:cSld name="Slide 11">
    <p:spTree>
      <p:nvGrpSpPr>
        <p:cNvPr id="1" name=""/>
        <p:cNvGrpSpPr/>
        <p:nvPr/>
      </p:nvGrpSpPr>
      <p:grpSpPr>
        <a:xfrm>
          <a:off x="0" y="0"/>
          <a:ext cx="0" cy="0"/>
          <a:chOff x="0" y="0"/>
          <a:chExt cx="0" cy="0"/>
        </a:xfrm>
      </p:grpSpPr>
      <p:sp>
        <p:nvSpPr>
          <p:cNvPr id="2" name="Text 0"/>
          <p:cNvSpPr txBox="1"/>
          <p:nvPr/>
        </p:nvSpPr>
        <p:spPr>
          <a:xfrm>
            <a:off x="548640" y="365760"/>
            <a:ext cx="11094415" cy="777240"/>
          </a:xfrm>
          <a:prstGeom prst="rect">
            <a:avLst/>
          </a:prstGeom>
          <a:noFill/>
          <a:ln/>
        </p:spPr>
        <p:txBody>
          <a:bodyPr wrap="square" lIns="0" tIns="0" rIns="0" bIns="0" rtlCol="0" anchor="b"/>
          <a:lstStyle/>
          <a:p>
            <a:pPr algn="l" indent="0" marL="0">
              <a:lnSpc>
                <a:spcPct val="95000"/>
              </a:lnSpc>
              <a:buNone/>
            </a:pPr>
            <a:r>
              <a:rPr lang="en-US" sz="3400" b="1" dirty="0">
                <a:solidFill>
                  <a:srgbClr val="062746"/>
                </a:solidFill>
                <a:latin typeface="Georgia" pitchFamily="34" charset="0"/>
                <a:ea typeface="Georgia" pitchFamily="34" charset="-122"/>
                <a:cs typeface="Georgia" pitchFamily="34" charset="-120"/>
              </a:rPr>
              <a:t>Finding 5: One Round's Gain Matters</a:t>
            </a:r>
            <a:endParaRPr lang="en-US" sz="3400" dirty="0"/>
          </a:p>
        </p:txBody>
      </p:sp>
      <p:sp>
        <p:nvSpPr>
          <p:cNvPr id="3" name="Shape 1"/>
          <p:cNvSpPr/>
          <p:nvPr/>
        </p:nvSpPr>
        <p:spPr>
          <a:xfrm>
            <a:off x="548640" y="1271016"/>
            <a:ext cx="3291840" cy="91440"/>
          </a:xfrm>
          <a:prstGeom prst="rect">
            <a:avLst/>
          </a:prstGeom>
          <a:solidFill>
            <a:srgbClr val="131B28"/>
          </a:solidFill>
          <a:ln w="12700">
            <a:solidFill>
              <a:srgbClr val="131B28"/>
            </a:solidFill>
            <a:prstDash val="solid"/>
          </a:ln>
        </p:spPr>
      </p:sp>
      <p:sp>
        <p:nvSpPr>
          <p:cNvPr id="4" name="Text 2"/>
          <p:cNvSpPr txBox="1"/>
          <p:nvPr/>
        </p:nvSpPr>
        <p:spPr>
          <a:xfrm>
            <a:off x="548640" y="1545336"/>
            <a:ext cx="4572000" cy="365760"/>
          </a:xfrm>
          <a:prstGeom prst="rect">
            <a:avLst/>
          </a:prstGeom>
          <a:noFill/>
          <a:ln/>
        </p:spPr>
        <p:txBody>
          <a:bodyPr wrap="square" lIns="0" tIns="0" rIns="0" bIns="0" rtlCol="0" anchor="t"/>
          <a:lstStyle/>
          <a:p>
            <a:pPr indent="0" marL="0">
              <a:buNone/>
            </a:pPr>
            <a:r>
              <a:rPr lang="en-US" sz="1700" b="1" dirty="0">
                <a:solidFill>
                  <a:srgbClr val="1C191A"/>
                </a:solidFill>
                <a:latin typeface="Georgia" pitchFamily="34" charset="0"/>
                <a:ea typeface="Georgia" pitchFamily="34" charset="-122"/>
                <a:cs typeface="Georgia" pitchFamily="34" charset="-120"/>
              </a:rPr>
              <a:t>What predicted the stop</a:t>
            </a:r>
            <a:endParaRPr lang="en-US" sz="1700" dirty="0"/>
          </a:p>
        </p:txBody>
      </p:sp>
      <p:sp>
        <p:nvSpPr>
          <p:cNvPr id="5" name="Text 3"/>
          <p:cNvSpPr txBox="1"/>
          <p:nvPr/>
        </p:nvSpPr>
        <p:spPr>
          <a:xfrm>
            <a:off x="548640" y="1929384"/>
            <a:ext cx="4572000" cy="521208"/>
          </a:xfrm>
          <a:prstGeom prst="rect">
            <a:avLst/>
          </a:prstGeom>
          <a:noFill/>
          <a:ln/>
        </p:spPr>
        <p:txBody>
          <a:bodyPr wrap="square" lIns="0" tIns="0" rIns="0" bIns="0" rtlCol="0" anchor="t"/>
          <a:lstStyle/>
          <a:p>
            <a:pPr algn="just" indent="0" marL="0">
              <a:buNone/>
            </a:pPr>
            <a:r>
              <a:rPr lang="en-US" sz="1400" dirty="0">
                <a:solidFill>
                  <a:srgbClr val="1C191A"/>
                </a:solidFill>
                <a:latin typeface="Calibri" pitchFamily="34" charset="0"/>
                <a:ea typeface="Calibri" pitchFamily="34" charset="-122"/>
                <a:cs typeface="Calibri" pitchFamily="34" charset="-120"/>
              </a:rPr>
              <a:t>The gain from one round of over-taking: 4.5–4.7 t.</a:t>
            </a:r>
            <a:endParaRPr lang="en-US" sz="1400" dirty="0"/>
          </a:p>
        </p:txBody>
      </p:sp>
      <p:sp>
        <p:nvSpPr>
          <p:cNvPr id="6" name="Text 4"/>
          <p:cNvSpPr txBox="1"/>
          <p:nvPr/>
        </p:nvSpPr>
        <p:spPr>
          <a:xfrm>
            <a:off x="548640" y="2615184"/>
            <a:ext cx="4572000" cy="365760"/>
          </a:xfrm>
          <a:prstGeom prst="rect">
            <a:avLst/>
          </a:prstGeom>
          <a:noFill/>
          <a:ln/>
        </p:spPr>
        <p:txBody>
          <a:bodyPr wrap="square" lIns="0" tIns="0" rIns="0" bIns="0" rtlCol="0" anchor="t"/>
          <a:lstStyle/>
          <a:p>
            <a:pPr indent="0" marL="0">
              <a:buNone/>
            </a:pPr>
            <a:r>
              <a:rPr lang="en-US" sz="1700" b="1" dirty="0">
                <a:solidFill>
                  <a:srgbClr val="1C191A"/>
                </a:solidFill>
                <a:latin typeface="Georgia" pitchFamily="34" charset="0"/>
                <a:ea typeface="Georgia" pitchFamily="34" charset="-122"/>
                <a:cs typeface="Georgia" pitchFamily="34" charset="-120"/>
              </a:rPr>
              <a:t>What did not</a:t>
            </a:r>
            <a:endParaRPr lang="en-US" sz="1700" dirty="0"/>
          </a:p>
        </p:txBody>
      </p:sp>
      <p:sp>
        <p:nvSpPr>
          <p:cNvPr id="7" name="Text 5"/>
          <p:cNvSpPr txBox="1"/>
          <p:nvPr/>
        </p:nvSpPr>
        <p:spPr>
          <a:xfrm>
            <a:off x="548640" y="2999232"/>
            <a:ext cx="4572000" cy="521208"/>
          </a:xfrm>
          <a:prstGeom prst="rect">
            <a:avLst/>
          </a:prstGeom>
          <a:noFill/>
          <a:ln/>
        </p:spPr>
        <p:txBody>
          <a:bodyPr wrap="square" lIns="0" tIns="0" rIns="0" bIns="0" rtlCol="0" anchor="t"/>
          <a:lstStyle/>
          <a:p>
            <a:pPr algn="just" indent="0" marL="0">
              <a:buNone/>
            </a:pPr>
            <a:r>
              <a:rPr lang="en-US" sz="1400" dirty="0">
                <a:solidFill>
                  <a:srgbClr val="1C191A"/>
                </a:solidFill>
                <a:latin typeface="Calibri" pitchFamily="34" charset="0"/>
                <a:ea typeface="Calibri" pitchFamily="34" charset="-122"/>
                <a:cs typeface="Calibri" pitchFamily="34" charset="-120"/>
              </a:rPr>
              <a:t>The gain over the whole game, which was near zero or negative.</a:t>
            </a:r>
            <a:endParaRPr lang="en-US" sz="1400" dirty="0"/>
          </a:p>
        </p:txBody>
      </p:sp>
      <p:sp>
        <p:nvSpPr>
          <p:cNvPr id="8" name="Text 6"/>
          <p:cNvSpPr txBox="1"/>
          <p:nvPr/>
        </p:nvSpPr>
        <p:spPr>
          <a:xfrm>
            <a:off x="548640" y="3685032"/>
            <a:ext cx="4572000" cy="365760"/>
          </a:xfrm>
          <a:prstGeom prst="rect">
            <a:avLst/>
          </a:prstGeom>
          <a:noFill/>
          <a:ln/>
        </p:spPr>
        <p:txBody>
          <a:bodyPr wrap="square" lIns="0" tIns="0" rIns="0" bIns="0" rtlCol="0" anchor="t"/>
          <a:lstStyle/>
          <a:p>
            <a:pPr indent="0" marL="0">
              <a:buNone/>
            </a:pPr>
            <a:r>
              <a:rPr lang="en-US" sz="1700" b="1" dirty="0">
                <a:solidFill>
                  <a:srgbClr val="1C191A"/>
                </a:solidFill>
                <a:latin typeface="Georgia" pitchFamily="34" charset="0"/>
                <a:ea typeface="Georgia" pitchFamily="34" charset="-122"/>
                <a:cs typeface="Georgia" pitchFamily="34" charset="-120"/>
              </a:rPr>
              <a:t>Against a perfect optimiser</a:t>
            </a:r>
            <a:endParaRPr lang="en-US" sz="1700" dirty="0"/>
          </a:p>
        </p:txBody>
      </p:sp>
      <p:sp>
        <p:nvSpPr>
          <p:cNvPr id="9" name="Text 7"/>
          <p:cNvSpPr txBox="1"/>
          <p:nvPr/>
        </p:nvSpPr>
        <p:spPr>
          <a:xfrm>
            <a:off x="548640" y="4069080"/>
            <a:ext cx="4572000" cy="521208"/>
          </a:xfrm>
          <a:prstGeom prst="rect">
            <a:avLst/>
          </a:prstGeom>
          <a:noFill/>
          <a:ln/>
        </p:spPr>
        <p:txBody>
          <a:bodyPr wrap="square" lIns="0" tIns="0" rIns="0" bIns="0" rtlCol="0" anchor="t"/>
          <a:lstStyle/>
          <a:p>
            <a:pPr algn="just" indent="0" marL="0">
              <a:buNone/>
            </a:pPr>
            <a:r>
              <a:rPr lang="en-US" sz="1400" dirty="0">
                <a:solidFill>
                  <a:srgbClr val="1C191A"/>
                </a:solidFill>
                <a:latin typeface="Calibri" pitchFamily="34" charset="0"/>
                <a:ea typeface="Calibri" pitchFamily="34" charset="-122"/>
                <a:cs typeface="Calibri" pitchFamily="34" charset="-120"/>
              </a:rPr>
              <a:t>It would keep over-taking until 36 t. Both models stopped earlier, and gradually.</a:t>
            </a:r>
            <a:endParaRPr lang="en-US" sz="1400" dirty="0"/>
          </a:p>
        </p:txBody>
      </p:sp>
      <p:pic>
        <p:nvPicPr>
          <p:cNvPr id="10" name="Image 0" descr="fig5_spine.png">    </p:cNvPr>
          <p:cNvPicPr>
            <a:picLocks noChangeAspect="1"/>
          </p:cNvPicPr>
          <p:nvPr/>
        </p:nvPicPr>
        <p:blipFill>
          <a:blip r:embed="rId1"/>
          <a:stretch>
            <a:fillRect/>
          </a:stretch>
        </p:blipFill>
        <p:spPr>
          <a:xfrm>
            <a:off x="6219407" y="1499616"/>
            <a:ext cx="4736362" cy="4123944"/>
          </a:xfrm>
          <a:prstGeom prst="rect">
            <a:avLst/>
          </a:prstGeom>
        </p:spPr>
      </p:pic>
      <p:sp>
        <p:nvSpPr>
          <p:cNvPr id="11" name="Text 8"/>
          <p:cNvSpPr txBox="1"/>
          <p:nvPr/>
        </p:nvSpPr>
        <p:spPr>
          <a:xfrm>
            <a:off x="5532120" y="5733288"/>
            <a:ext cx="6110935" cy="502920"/>
          </a:xfrm>
          <a:prstGeom prst="rect">
            <a:avLst/>
          </a:prstGeom>
          <a:noFill/>
          <a:ln/>
        </p:spPr>
        <p:txBody>
          <a:bodyPr wrap="square" lIns="0" tIns="0" rIns="0" bIns="0" rtlCol="0" anchor="t"/>
          <a:lstStyle/>
          <a:p>
            <a:pPr algn="ctr" indent="0" marL="0">
              <a:buNone/>
            </a:pPr>
            <a:r>
              <a:rPr lang="en-US" sz="1100" i="1" dirty="0">
                <a:solidFill>
                  <a:srgbClr val="55524E"/>
                </a:solidFill>
                <a:latin typeface="Calibri" pitchFamily="34" charset="0"/>
                <a:ea typeface="Calibri" pitchFamily="34" charset="-122"/>
                <a:cs typeface="Calibri" pitchFamily="34" charset="-120"/>
              </a:rPr>
              <a:t>Predicted against observed stopping fine; points on the dashed line were predicted exactly.</a:t>
            </a:r>
            <a:endParaRPr lang="en-US" sz="1100" dirty="0"/>
          </a:p>
        </p:txBody>
      </p:sp>
      <p:sp>
        <p:nvSpPr>
          <p:cNvPr id="12" name="Text 9"/>
          <p:cNvSpPr txBox="1"/>
          <p:nvPr/>
        </p:nvSpPr>
        <p:spPr>
          <a:xfrm>
            <a:off x="11368735" y="6400800"/>
            <a:ext cx="457200" cy="274320"/>
          </a:xfrm>
          <a:prstGeom prst="rect">
            <a:avLst/>
          </a:prstGeom>
          <a:noFill/>
          <a:ln/>
        </p:spPr>
        <p:txBody>
          <a:bodyPr wrap="square" lIns="0" tIns="0" rIns="0" bIns="0" rtlCol="0" anchor="ctr"/>
          <a:lstStyle/>
          <a:p>
            <a:pPr algn="r" indent="0" marL="0">
              <a:buNone/>
            </a:pPr>
            <a:r>
              <a:rPr lang="en-US" sz="1000" dirty="0">
                <a:solidFill>
                  <a:srgbClr val="1C191A"/>
                </a:solidFill>
                <a:latin typeface="Calibri" pitchFamily="34" charset="0"/>
                <a:ea typeface="Calibri" pitchFamily="34" charset="-122"/>
                <a:cs typeface="Calibri" pitchFamily="34" charset="-120"/>
              </a:rPr>
              <a:t>11</a:t>
            </a:r>
            <a:endParaRPr lang="en-US" sz="1000" dirty="0"/>
          </a:p>
        </p:txBody>
      </p:sp>
    </p:spTree>
  </p:cSld>
  <p:clrMapOvr>
    <a:masterClrMapping/>
  </p:clrMapOvr>
</p:sld>
</file>

<file path=ppt/slides/slide12.xml><?xml version="1.0" encoding="utf-8"?>
<p:sld xmlns:a="http://schemas.openxmlformats.org/drawingml/2006/main" xmlns:r="http://schemas.openxmlformats.org/officeDocument/2006/relationships" xmlns:p="http://schemas.openxmlformats.org/presentationml/2006/main">
  <p:cSld name="Slide 12">
    <p:spTree>
      <p:nvGrpSpPr>
        <p:cNvPr id="1" name=""/>
        <p:cNvGrpSpPr/>
        <p:nvPr/>
      </p:nvGrpSpPr>
      <p:grpSpPr>
        <a:xfrm>
          <a:off x="0" y="0"/>
          <a:ext cx="0" cy="0"/>
          <a:chOff x="0" y="0"/>
          <a:chExt cx="0" cy="0"/>
        </a:xfrm>
      </p:grpSpPr>
      <p:sp>
        <p:nvSpPr>
          <p:cNvPr id="2" name="Text 0"/>
          <p:cNvSpPr txBox="1"/>
          <p:nvPr/>
        </p:nvSpPr>
        <p:spPr>
          <a:xfrm>
            <a:off x="548640" y="365760"/>
            <a:ext cx="11094415" cy="777240"/>
          </a:xfrm>
          <a:prstGeom prst="rect">
            <a:avLst/>
          </a:prstGeom>
          <a:noFill/>
          <a:ln/>
        </p:spPr>
        <p:txBody>
          <a:bodyPr wrap="square" lIns="0" tIns="0" rIns="0" bIns="0" rtlCol="0" anchor="b"/>
          <a:lstStyle/>
          <a:p>
            <a:pPr algn="l" indent="0" marL="0">
              <a:lnSpc>
                <a:spcPct val="95000"/>
              </a:lnSpc>
              <a:buNone/>
            </a:pPr>
            <a:r>
              <a:rPr lang="en-US" sz="3400" b="1" dirty="0">
                <a:solidFill>
                  <a:srgbClr val="062746"/>
                </a:solidFill>
                <a:latin typeface="Georgia" pitchFamily="34" charset="0"/>
                <a:ea typeface="Georgia" pitchFamily="34" charset="-122"/>
                <a:cs typeface="Georgia" pitchFamily="34" charset="-120"/>
              </a:rPr>
              <a:t>Memory Works for Language Models Too</a:t>
            </a:r>
            <a:endParaRPr lang="en-US" sz="3400" dirty="0"/>
          </a:p>
        </p:txBody>
      </p:sp>
      <p:sp>
        <p:nvSpPr>
          <p:cNvPr id="3" name="Shape 1"/>
          <p:cNvSpPr/>
          <p:nvPr/>
        </p:nvSpPr>
        <p:spPr>
          <a:xfrm>
            <a:off x="548640" y="1271016"/>
            <a:ext cx="3291840" cy="91440"/>
          </a:xfrm>
          <a:prstGeom prst="rect">
            <a:avLst/>
          </a:prstGeom>
          <a:solidFill>
            <a:srgbClr val="131B28"/>
          </a:solidFill>
          <a:ln w="12700">
            <a:solidFill>
              <a:srgbClr val="131B28"/>
            </a:solidFill>
            <a:prstDash val="solid"/>
          </a:ln>
        </p:spPr>
      </p:sp>
      <p:sp>
        <p:nvSpPr>
          <p:cNvPr id="4" name="Shape 2"/>
          <p:cNvSpPr/>
          <p:nvPr/>
        </p:nvSpPr>
        <p:spPr>
          <a:xfrm>
            <a:off x="548640" y="1591056"/>
            <a:ext cx="6583680" cy="3474720"/>
          </a:xfrm>
          <a:prstGeom prst="roundRect">
            <a:avLst>
              <a:gd name="adj" fmla="val 2105"/>
            </a:avLst>
          </a:prstGeom>
          <a:solidFill>
            <a:srgbClr val="FFFFFF"/>
          </a:solidFill>
          <a:ln w="9525">
            <a:solidFill>
              <a:srgbClr val="E9E7E3"/>
            </a:solidFill>
            <a:prstDash val="solid"/>
          </a:ln>
          <a:effectLst>
            <a:outerShdw sx="100000" sy="100000" kx="0" ky="0" algn="bl" rotWithShape="0" blurRad="76200" dist="25400" dir="5400000">
              <a:srgbClr val="000000">
                <a:alpha val="8000"/>
              </a:srgbClr>
            </a:outerShdw>
          </a:effectLst>
        </p:spPr>
      </p:sp>
      <p:sp>
        <p:nvSpPr>
          <p:cNvPr id="5" name="Text 3"/>
          <p:cNvSpPr txBox="1"/>
          <p:nvPr/>
        </p:nvSpPr>
        <p:spPr>
          <a:xfrm>
            <a:off x="3429000" y="1819656"/>
            <a:ext cx="1783080" cy="457200"/>
          </a:xfrm>
          <a:prstGeom prst="rect">
            <a:avLst/>
          </a:prstGeom>
          <a:noFill/>
          <a:ln/>
        </p:spPr>
        <p:txBody>
          <a:bodyPr wrap="square" lIns="0" tIns="0" rIns="0" bIns="0" rtlCol="0" anchor="b"/>
          <a:lstStyle/>
          <a:p>
            <a:pPr algn="ctr" indent="0" marL="0">
              <a:buNone/>
            </a:pPr>
            <a:r>
              <a:rPr lang="en-US" sz="1200" b="1" dirty="0">
                <a:solidFill>
                  <a:srgbClr val="8F8F8F"/>
                </a:solidFill>
                <a:latin typeface="Calibri" pitchFamily="34" charset="0"/>
                <a:ea typeface="Calibri" pitchFamily="34" charset="-122"/>
                <a:cs typeface="Calibri" pitchFamily="34" charset="-120"/>
              </a:rPr>
              <a:t>Audits only</a:t>
            </a:r>
            <a:endParaRPr lang="en-US" sz="1200" dirty="0"/>
          </a:p>
        </p:txBody>
      </p:sp>
      <p:sp>
        <p:nvSpPr>
          <p:cNvPr id="6" name="Text 4"/>
          <p:cNvSpPr txBox="1"/>
          <p:nvPr/>
        </p:nvSpPr>
        <p:spPr>
          <a:xfrm>
            <a:off x="5257800" y="1819656"/>
            <a:ext cx="1783080" cy="457200"/>
          </a:xfrm>
          <a:prstGeom prst="rect">
            <a:avLst/>
          </a:prstGeom>
          <a:noFill/>
          <a:ln/>
        </p:spPr>
        <p:txBody>
          <a:bodyPr wrap="square" lIns="0" tIns="0" rIns="0" bIns="0" rtlCol="0" anchor="b"/>
          <a:lstStyle/>
          <a:p>
            <a:pPr algn="ctr" indent="0" marL="0">
              <a:buNone/>
            </a:pPr>
            <a:r>
              <a:rPr lang="en-US" sz="1200" b="1" dirty="0">
                <a:solidFill>
                  <a:srgbClr val="062746"/>
                </a:solidFill>
                <a:latin typeface="Calibri" pitchFamily="34" charset="0"/>
                <a:ea typeface="Calibri" pitchFamily="34" charset="-122"/>
                <a:cs typeface="Calibri" pitchFamily="34" charset="-120"/>
              </a:rPr>
              <a:t>Audits + memory</a:t>
            </a:r>
            <a:endParaRPr lang="en-US" sz="1200" dirty="0"/>
          </a:p>
        </p:txBody>
      </p:sp>
      <p:sp>
        <p:nvSpPr>
          <p:cNvPr id="7" name="Text 5"/>
          <p:cNvSpPr txBox="1"/>
          <p:nvPr/>
        </p:nvSpPr>
        <p:spPr>
          <a:xfrm>
            <a:off x="822960" y="2414016"/>
            <a:ext cx="2651760" cy="685800"/>
          </a:xfrm>
          <a:prstGeom prst="rect">
            <a:avLst/>
          </a:prstGeom>
          <a:noFill/>
          <a:ln/>
        </p:spPr>
        <p:txBody>
          <a:bodyPr wrap="square" lIns="0" tIns="0" rIns="0" bIns="0" rtlCol="0" anchor="ctr"/>
          <a:lstStyle/>
          <a:p>
            <a:pPr indent="0" marL="0">
              <a:buNone/>
            </a:pPr>
            <a:r>
              <a:rPr lang="en-US" sz="1350" dirty="0">
                <a:solidFill>
                  <a:srgbClr val="1C191A"/>
                </a:solidFill>
                <a:latin typeface="Calibri" pitchFamily="34" charset="0"/>
                <a:ea typeface="Calibri" pitchFamily="34" charset="-122"/>
                <a:cs typeface="Calibri" pitchFamily="34" charset="-120"/>
              </a:rPr>
              <a:t>Rounds with over-taking</a:t>
            </a:r>
            <a:endParaRPr lang="en-US" sz="1350" dirty="0"/>
          </a:p>
        </p:txBody>
      </p:sp>
      <p:sp>
        <p:nvSpPr>
          <p:cNvPr id="8" name="Text 6"/>
          <p:cNvSpPr txBox="1"/>
          <p:nvPr/>
        </p:nvSpPr>
        <p:spPr>
          <a:xfrm>
            <a:off x="3429000" y="2414016"/>
            <a:ext cx="1783080" cy="685800"/>
          </a:xfrm>
          <a:prstGeom prst="rect">
            <a:avLst/>
          </a:prstGeom>
          <a:noFill/>
          <a:ln/>
        </p:spPr>
        <p:txBody>
          <a:bodyPr wrap="square" lIns="0" tIns="0" rIns="0" bIns="0" rtlCol="0" anchor="ctr"/>
          <a:lstStyle/>
          <a:p>
            <a:pPr algn="ctr" indent="0" marL="0">
              <a:buNone/>
            </a:pPr>
            <a:r>
              <a:rPr lang="en-US" sz="2600" dirty="0">
                <a:solidFill>
                  <a:srgbClr val="8F8F8F"/>
                </a:solidFill>
                <a:latin typeface="Georgia" pitchFamily="34" charset="0"/>
                <a:ea typeface="Georgia" pitchFamily="34" charset="-122"/>
                <a:cs typeface="Georgia" pitchFamily="34" charset="-120"/>
              </a:rPr>
              <a:t>55%</a:t>
            </a:r>
            <a:endParaRPr lang="en-US" sz="2600" dirty="0"/>
          </a:p>
        </p:txBody>
      </p:sp>
      <p:sp>
        <p:nvSpPr>
          <p:cNvPr id="9" name="Text 7"/>
          <p:cNvSpPr txBox="1"/>
          <p:nvPr/>
        </p:nvSpPr>
        <p:spPr>
          <a:xfrm>
            <a:off x="5029200" y="2414016"/>
            <a:ext cx="457200" cy="685800"/>
          </a:xfrm>
          <a:prstGeom prst="rect">
            <a:avLst/>
          </a:prstGeom>
          <a:noFill/>
          <a:ln/>
        </p:spPr>
        <p:txBody>
          <a:bodyPr wrap="square" lIns="0" tIns="0" rIns="0" bIns="0" rtlCol="0" anchor="ctr"/>
          <a:lstStyle/>
          <a:p>
            <a:pPr algn="ctr" indent="0" marL="0">
              <a:buNone/>
            </a:pPr>
            <a:r>
              <a:rPr lang="en-US" sz="2000" dirty="0">
                <a:solidFill>
                  <a:srgbClr val="8F8F8F"/>
                </a:solidFill>
                <a:latin typeface="Calibri" pitchFamily="34" charset="0"/>
                <a:ea typeface="Calibri" pitchFamily="34" charset="-122"/>
                <a:cs typeface="Calibri" pitchFamily="34" charset="-120"/>
              </a:rPr>
              <a:t>→</a:t>
            </a:r>
            <a:endParaRPr lang="en-US" sz="2000" dirty="0"/>
          </a:p>
        </p:txBody>
      </p:sp>
      <p:sp>
        <p:nvSpPr>
          <p:cNvPr id="10" name="Text 8"/>
          <p:cNvSpPr txBox="1"/>
          <p:nvPr/>
        </p:nvSpPr>
        <p:spPr>
          <a:xfrm>
            <a:off x="5257800" y="2414016"/>
            <a:ext cx="1783080" cy="685800"/>
          </a:xfrm>
          <a:prstGeom prst="rect">
            <a:avLst/>
          </a:prstGeom>
          <a:noFill/>
          <a:ln/>
        </p:spPr>
        <p:txBody>
          <a:bodyPr wrap="square" lIns="0" tIns="0" rIns="0" bIns="0" rtlCol="0" anchor="ctr"/>
          <a:lstStyle/>
          <a:p>
            <a:pPr algn="ctr" indent="0" marL="0">
              <a:buNone/>
            </a:pPr>
            <a:r>
              <a:rPr lang="en-US" sz="2600" b="1" dirty="0">
                <a:solidFill>
                  <a:srgbClr val="062746"/>
                </a:solidFill>
                <a:latin typeface="Georgia" pitchFamily="34" charset="0"/>
                <a:ea typeface="Georgia" pitchFamily="34" charset="-122"/>
                <a:cs typeface="Georgia" pitchFamily="34" charset="-120"/>
              </a:rPr>
              <a:t>20%</a:t>
            </a:r>
            <a:endParaRPr lang="en-US" sz="2600" dirty="0"/>
          </a:p>
        </p:txBody>
      </p:sp>
      <p:sp>
        <p:nvSpPr>
          <p:cNvPr id="11" name="Shape 9"/>
          <p:cNvSpPr/>
          <p:nvPr/>
        </p:nvSpPr>
        <p:spPr>
          <a:xfrm>
            <a:off x="822960" y="3191256"/>
            <a:ext cx="6035040" cy="0"/>
          </a:xfrm>
          <a:prstGeom prst="line">
            <a:avLst/>
          </a:prstGeom>
          <a:noFill/>
          <a:ln w="9525">
            <a:solidFill>
              <a:srgbClr val="E9E7E3"/>
            </a:solidFill>
            <a:prstDash val="solid"/>
          </a:ln>
        </p:spPr>
      </p:sp>
      <p:sp>
        <p:nvSpPr>
          <p:cNvPr id="12" name="Text 10"/>
          <p:cNvSpPr txBox="1"/>
          <p:nvPr/>
        </p:nvSpPr>
        <p:spPr>
          <a:xfrm>
            <a:off x="822960" y="3282696"/>
            <a:ext cx="2651760" cy="685800"/>
          </a:xfrm>
          <a:prstGeom prst="rect">
            <a:avLst/>
          </a:prstGeom>
          <a:noFill/>
          <a:ln/>
        </p:spPr>
        <p:txBody>
          <a:bodyPr wrap="square" lIns="0" tIns="0" rIns="0" bIns="0" rtlCol="0" anchor="ctr"/>
          <a:lstStyle/>
          <a:p>
            <a:pPr indent="0" marL="0">
              <a:buNone/>
            </a:pPr>
            <a:r>
              <a:rPr lang="en-US" sz="1350" dirty="0">
                <a:solidFill>
                  <a:srgbClr val="1C191A"/>
                </a:solidFill>
                <a:latin typeface="Calibri" pitchFamily="34" charset="0"/>
                <a:ea typeface="Calibri" pitchFamily="34" charset="-122"/>
                <a:cs typeface="Calibri" pitchFamily="34" charset="-120"/>
              </a:rPr>
              <a:t>Rounds below half capacity</a:t>
            </a:r>
            <a:endParaRPr lang="en-US" sz="1350" dirty="0"/>
          </a:p>
        </p:txBody>
      </p:sp>
      <p:sp>
        <p:nvSpPr>
          <p:cNvPr id="13" name="Text 11"/>
          <p:cNvSpPr txBox="1"/>
          <p:nvPr/>
        </p:nvSpPr>
        <p:spPr>
          <a:xfrm>
            <a:off x="3429000" y="3282696"/>
            <a:ext cx="1783080" cy="685800"/>
          </a:xfrm>
          <a:prstGeom prst="rect">
            <a:avLst/>
          </a:prstGeom>
          <a:noFill/>
          <a:ln/>
        </p:spPr>
        <p:txBody>
          <a:bodyPr wrap="square" lIns="0" tIns="0" rIns="0" bIns="0" rtlCol="0" anchor="ctr"/>
          <a:lstStyle/>
          <a:p>
            <a:pPr algn="ctr" indent="0" marL="0">
              <a:buNone/>
            </a:pPr>
            <a:r>
              <a:rPr lang="en-US" sz="2600" dirty="0">
                <a:solidFill>
                  <a:srgbClr val="8F8F8F"/>
                </a:solidFill>
                <a:latin typeface="Georgia" pitchFamily="34" charset="0"/>
                <a:ea typeface="Georgia" pitchFamily="34" charset="-122"/>
                <a:cs typeface="Georgia" pitchFamily="34" charset="-120"/>
              </a:rPr>
              <a:t>92%</a:t>
            </a:r>
            <a:endParaRPr lang="en-US" sz="2600" dirty="0"/>
          </a:p>
        </p:txBody>
      </p:sp>
      <p:sp>
        <p:nvSpPr>
          <p:cNvPr id="14" name="Text 12"/>
          <p:cNvSpPr txBox="1"/>
          <p:nvPr/>
        </p:nvSpPr>
        <p:spPr>
          <a:xfrm>
            <a:off x="5029200" y="3282696"/>
            <a:ext cx="457200" cy="685800"/>
          </a:xfrm>
          <a:prstGeom prst="rect">
            <a:avLst/>
          </a:prstGeom>
          <a:noFill/>
          <a:ln/>
        </p:spPr>
        <p:txBody>
          <a:bodyPr wrap="square" lIns="0" tIns="0" rIns="0" bIns="0" rtlCol="0" anchor="ctr"/>
          <a:lstStyle/>
          <a:p>
            <a:pPr algn="ctr" indent="0" marL="0">
              <a:buNone/>
            </a:pPr>
            <a:r>
              <a:rPr lang="en-US" sz="2000" dirty="0">
                <a:solidFill>
                  <a:srgbClr val="8F8F8F"/>
                </a:solidFill>
                <a:latin typeface="Calibri" pitchFamily="34" charset="0"/>
                <a:ea typeface="Calibri" pitchFamily="34" charset="-122"/>
                <a:cs typeface="Calibri" pitchFamily="34" charset="-120"/>
              </a:rPr>
              <a:t>→</a:t>
            </a:r>
            <a:endParaRPr lang="en-US" sz="2000" dirty="0"/>
          </a:p>
        </p:txBody>
      </p:sp>
      <p:sp>
        <p:nvSpPr>
          <p:cNvPr id="15" name="Text 13"/>
          <p:cNvSpPr txBox="1"/>
          <p:nvPr/>
        </p:nvSpPr>
        <p:spPr>
          <a:xfrm>
            <a:off x="5257800" y="3282696"/>
            <a:ext cx="1783080" cy="685800"/>
          </a:xfrm>
          <a:prstGeom prst="rect">
            <a:avLst/>
          </a:prstGeom>
          <a:noFill/>
          <a:ln/>
        </p:spPr>
        <p:txBody>
          <a:bodyPr wrap="square" lIns="0" tIns="0" rIns="0" bIns="0" rtlCol="0" anchor="ctr"/>
          <a:lstStyle/>
          <a:p>
            <a:pPr algn="ctr" indent="0" marL="0">
              <a:buNone/>
            </a:pPr>
            <a:r>
              <a:rPr lang="en-US" sz="2600" b="1" dirty="0">
                <a:solidFill>
                  <a:srgbClr val="062746"/>
                </a:solidFill>
                <a:latin typeface="Georgia" pitchFamily="34" charset="0"/>
                <a:ea typeface="Georgia" pitchFamily="34" charset="-122"/>
                <a:cs typeface="Georgia" pitchFamily="34" charset="-120"/>
              </a:rPr>
              <a:t>20%</a:t>
            </a:r>
            <a:endParaRPr lang="en-US" sz="2600" dirty="0"/>
          </a:p>
        </p:txBody>
      </p:sp>
      <p:sp>
        <p:nvSpPr>
          <p:cNvPr id="16" name="Shape 14"/>
          <p:cNvSpPr/>
          <p:nvPr/>
        </p:nvSpPr>
        <p:spPr>
          <a:xfrm>
            <a:off x="822960" y="4059936"/>
            <a:ext cx="6035040" cy="0"/>
          </a:xfrm>
          <a:prstGeom prst="line">
            <a:avLst/>
          </a:prstGeom>
          <a:noFill/>
          <a:ln w="9525">
            <a:solidFill>
              <a:srgbClr val="E9E7E3"/>
            </a:solidFill>
            <a:prstDash val="solid"/>
          </a:ln>
        </p:spPr>
      </p:sp>
      <p:sp>
        <p:nvSpPr>
          <p:cNvPr id="17" name="Text 15"/>
          <p:cNvSpPr txBox="1"/>
          <p:nvPr/>
        </p:nvSpPr>
        <p:spPr>
          <a:xfrm>
            <a:off x="822960" y="4151376"/>
            <a:ext cx="2651760" cy="685800"/>
          </a:xfrm>
          <a:prstGeom prst="rect">
            <a:avLst/>
          </a:prstGeom>
          <a:noFill/>
          <a:ln/>
        </p:spPr>
        <p:txBody>
          <a:bodyPr wrap="square" lIns="0" tIns="0" rIns="0" bIns="0" rtlCol="0" anchor="ctr"/>
          <a:lstStyle/>
          <a:p>
            <a:pPr indent="0" marL="0">
              <a:buNone/>
            </a:pPr>
            <a:r>
              <a:rPr lang="en-US" sz="1350" dirty="0">
                <a:solidFill>
                  <a:srgbClr val="1C191A"/>
                </a:solidFill>
                <a:latin typeface="Calibri" pitchFamily="34" charset="0"/>
                <a:ea typeface="Calibri" pitchFamily="34" charset="-122"/>
                <a:cs typeface="Calibri" pitchFamily="34" charset="-120"/>
              </a:rPr>
              <a:t>Lakes collapsed (of 10)</a:t>
            </a:r>
            <a:endParaRPr lang="en-US" sz="1350" dirty="0"/>
          </a:p>
        </p:txBody>
      </p:sp>
      <p:sp>
        <p:nvSpPr>
          <p:cNvPr id="18" name="Text 16"/>
          <p:cNvSpPr txBox="1"/>
          <p:nvPr/>
        </p:nvSpPr>
        <p:spPr>
          <a:xfrm>
            <a:off x="3429000" y="4151376"/>
            <a:ext cx="1783080" cy="685800"/>
          </a:xfrm>
          <a:prstGeom prst="rect">
            <a:avLst/>
          </a:prstGeom>
          <a:noFill/>
          <a:ln/>
        </p:spPr>
        <p:txBody>
          <a:bodyPr wrap="square" lIns="0" tIns="0" rIns="0" bIns="0" rtlCol="0" anchor="ctr"/>
          <a:lstStyle/>
          <a:p>
            <a:pPr algn="ctr" indent="0" marL="0">
              <a:buNone/>
            </a:pPr>
            <a:r>
              <a:rPr lang="en-US" sz="2600" dirty="0">
                <a:solidFill>
                  <a:srgbClr val="8F8F8F"/>
                </a:solidFill>
                <a:latin typeface="Georgia" pitchFamily="34" charset="0"/>
                <a:ea typeface="Georgia" pitchFamily="34" charset="-122"/>
                <a:cs typeface="Georgia" pitchFamily="34" charset="-120"/>
              </a:rPr>
              <a:t>5</a:t>
            </a:r>
            <a:endParaRPr lang="en-US" sz="2600" dirty="0"/>
          </a:p>
        </p:txBody>
      </p:sp>
      <p:sp>
        <p:nvSpPr>
          <p:cNvPr id="19" name="Text 17"/>
          <p:cNvSpPr txBox="1"/>
          <p:nvPr/>
        </p:nvSpPr>
        <p:spPr>
          <a:xfrm>
            <a:off x="5029200" y="4151376"/>
            <a:ext cx="457200" cy="685800"/>
          </a:xfrm>
          <a:prstGeom prst="rect">
            <a:avLst/>
          </a:prstGeom>
          <a:noFill/>
          <a:ln/>
        </p:spPr>
        <p:txBody>
          <a:bodyPr wrap="square" lIns="0" tIns="0" rIns="0" bIns="0" rtlCol="0" anchor="ctr"/>
          <a:lstStyle/>
          <a:p>
            <a:pPr algn="ctr" indent="0" marL="0">
              <a:buNone/>
            </a:pPr>
            <a:r>
              <a:rPr lang="en-US" sz="2000" dirty="0">
                <a:solidFill>
                  <a:srgbClr val="8F8F8F"/>
                </a:solidFill>
                <a:latin typeface="Calibri" pitchFamily="34" charset="0"/>
                <a:ea typeface="Calibri" pitchFamily="34" charset="-122"/>
                <a:cs typeface="Calibri" pitchFamily="34" charset="-120"/>
              </a:rPr>
              <a:t>→</a:t>
            </a:r>
            <a:endParaRPr lang="en-US" sz="2000" dirty="0"/>
          </a:p>
        </p:txBody>
      </p:sp>
      <p:sp>
        <p:nvSpPr>
          <p:cNvPr id="20" name="Text 18"/>
          <p:cNvSpPr txBox="1"/>
          <p:nvPr/>
        </p:nvSpPr>
        <p:spPr>
          <a:xfrm>
            <a:off x="5257800" y="4151376"/>
            <a:ext cx="1783080" cy="685800"/>
          </a:xfrm>
          <a:prstGeom prst="rect">
            <a:avLst/>
          </a:prstGeom>
          <a:noFill/>
          <a:ln/>
        </p:spPr>
        <p:txBody>
          <a:bodyPr wrap="square" lIns="0" tIns="0" rIns="0" bIns="0" rtlCol="0" anchor="ctr"/>
          <a:lstStyle/>
          <a:p>
            <a:pPr algn="ctr" indent="0" marL="0">
              <a:buNone/>
            </a:pPr>
            <a:r>
              <a:rPr lang="en-US" sz="2600" b="1" dirty="0">
                <a:solidFill>
                  <a:srgbClr val="062746"/>
                </a:solidFill>
                <a:latin typeface="Georgia" pitchFamily="34" charset="0"/>
                <a:ea typeface="Georgia" pitchFamily="34" charset="-122"/>
                <a:cs typeface="Georgia" pitchFamily="34" charset="-120"/>
              </a:rPr>
              <a:t>0</a:t>
            </a:r>
            <a:endParaRPr lang="en-US" sz="2600" dirty="0"/>
          </a:p>
        </p:txBody>
      </p:sp>
      <p:sp>
        <p:nvSpPr>
          <p:cNvPr id="21" name="Text 19"/>
          <p:cNvSpPr txBox="1"/>
          <p:nvPr/>
        </p:nvSpPr>
        <p:spPr>
          <a:xfrm>
            <a:off x="548640" y="5175504"/>
            <a:ext cx="6583680" cy="365760"/>
          </a:xfrm>
          <a:prstGeom prst="rect">
            <a:avLst/>
          </a:prstGeom>
          <a:noFill/>
          <a:ln/>
        </p:spPr>
        <p:txBody>
          <a:bodyPr wrap="square" lIns="0" tIns="0" rIns="0" bIns="0" rtlCol="0" anchor="ctr"/>
          <a:lstStyle/>
          <a:p>
            <a:pPr algn="ctr" indent="0" marL="0">
              <a:buNone/>
            </a:pPr>
            <a:r>
              <a:rPr lang="en-US" sz="1100" i="1" dirty="0">
                <a:solidFill>
                  <a:srgbClr val="55524E"/>
                </a:solidFill>
                <a:latin typeface="Calibri" pitchFamily="34" charset="0"/>
                <a:ea typeface="Calibri" pitchFamily="34" charset="-122"/>
                <a:cs typeface="Calibri" pitchFamily="34" charset="-120"/>
              </a:rPr>
              <a:t>gpt-oss-120b, audits with no fine in both columns, 10 games each</a:t>
            </a:r>
            <a:endParaRPr lang="en-US" sz="1100" dirty="0"/>
          </a:p>
        </p:txBody>
      </p:sp>
      <p:sp>
        <p:nvSpPr>
          <p:cNvPr id="22" name="Text 20"/>
          <p:cNvSpPr txBox="1"/>
          <p:nvPr/>
        </p:nvSpPr>
        <p:spPr>
          <a:xfrm>
            <a:off x="7635240" y="1682496"/>
            <a:ext cx="4007815" cy="365760"/>
          </a:xfrm>
          <a:prstGeom prst="rect">
            <a:avLst/>
          </a:prstGeom>
          <a:noFill/>
          <a:ln/>
        </p:spPr>
        <p:txBody>
          <a:bodyPr wrap="square" lIns="0" tIns="0" rIns="0" bIns="0" rtlCol="0" anchor="t"/>
          <a:lstStyle/>
          <a:p>
            <a:pPr indent="0" marL="0">
              <a:buNone/>
            </a:pPr>
            <a:r>
              <a:rPr lang="en-US" sz="1700" b="1" dirty="0">
                <a:solidFill>
                  <a:srgbClr val="1C191A"/>
                </a:solidFill>
                <a:latin typeface="Georgia" pitchFamily="34" charset="0"/>
                <a:ea typeface="Georgia" pitchFamily="34" charset="-122"/>
                <a:cs typeface="Georgia" pitchFamily="34" charset="-120"/>
              </a:rPr>
              <a:t>Reduced, not stopped</a:t>
            </a:r>
            <a:endParaRPr lang="en-US" sz="1700" dirty="0"/>
          </a:p>
        </p:txBody>
      </p:sp>
      <p:sp>
        <p:nvSpPr>
          <p:cNvPr id="23" name="Text 21"/>
          <p:cNvSpPr txBox="1"/>
          <p:nvPr/>
        </p:nvSpPr>
        <p:spPr>
          <a:xfrm>
            <a:off x="7635240" y="2066544"/>
            <a:ext cx="4007815" cy="521208"/>
          </a:xfrm>
          <a:prstGeom prst="rect">
            <a:avLst/>
          </a:prstGeom>
          <a:noFill/>
          <a:ln/>
        </p:spPr>
        <p:txBody>
          <a:bodyPr wrap="square" lIns="0" tIns="0" rIns="0" bIns="0" rtlCol="0" anchor="t"/>
          <a:lstStyle/>
          <a:p>
            <a:pPr algn="l" indent="0" marL="0">
              <a:buNone/>
            </a:pPr>
            <a:r>
              <a:rPr lang="en-US" sz="1400" dirty="0">
                <a:solidFill>
                  <a:srgbClr val="1C191A"/>
                </a:solidFill>
                <a:latin typeface="Calibri" pitchFamily="34" charset="0"/>
                <a:ea typeface="Calibri" pitchFamily="34" charset="-122"/>
                <a:cs typeface="Calibri" pitchFamily="34" charset="-120"/>
              </a:rPr>
              <a:t>Memory alone protected the lake, but some over-taking remained (Nemotron: 65% → 33%).</a:t>
            </a:r>
            <a:endParaRPr lang="en-US" sz="1400" dirty="0"/>
          </a:p>
        </p:txBody>
      </p:sp>
      <p:sp>
        <p:nvSpPr>
          <p:cNvPr id="24" name="Text 22"/>
          <p:cNvSpPr txBox="1"/>
          <p:nvPr/>
        </p:nvSpPr>
        <p:spPr>
          <a:xfrm>
            <a:off x="7635240" y="2752344"/>
            <a:ext cx="4007815" cy="365760"/>
          </a:xfrm>
          <a:prstGeom prst="rect">
            <a:avLst/>
          </a:prstGeom>
          <a:noFill/>
          <a:ln/>
        </p:spPr>
        <p:txBody>
          <a:bodyPr wrap="square" lIns="0" tIns="0" rIns="0" bIns="0" rtlCol="0" anchor="t"/>
          <a:lstStyle/>
          <a:p>
            <a:pPr indent="0" marL="0">
              <a:buNone/>
            </a:pPr>
            <a:r>
              <a:rPr lang="en-US" sz="1700" b="1" dirty="0">
                <a:solidFill>
                  <a:srgbClr val="1C191A"/>
                </a:solidFill>
                <a:latin typeface="Georgia" pitchFamily="34" charset="0"/>
                <a:ea typeface="Georgia" pitchFamily="34" charset="-122"/>
                <a:cs typeface="Georgia" pitchFamily="34" charset="-120"/>
              </a:rPr>
              <a:t>Large enough fines</a:t>
            </a:r>
            <a:endParaRPr lang="en-US" sz="1700" dirty="0"/>
          </a:p>
        </p:txBody>
      </p:sp>
      <p:sp>
        <p:nvSpPr>
          <p:cNvPr id="25" name="Text 23"/>
          <p:cNvSpPr txBox="1"/>
          <p:nvPr/>
        </p:nvSpPr>
        <p:spPr>
          <a:xfrm>
            <a:off x="7635240" y="3136392"/>
            <a:ext cx="4007815" cy="745236"/>
          </a:xfrm>
          <a:prstGeom prst="rect">
            <a:avLst/>
          </a:prstGeom>
          <a:noFill/>
          <a:ln/>
        </p:spPr>
        <p:txBody>
          <a:bodyPr wrap="square" lIns="0" tIns="0" rIns="0" bIns="0" rtlCol="0" anchor="t"/>
          <a:lstStyle/>
          <a:p>
            <a:pPr algn="l" indent="0" marL="0">
              <a:buNone/>
            </a:pPr>
            <a:r>
              <a:rPr lang="en-US" sz="1400" dirty="0">
                <a:solidFill>
                  <a:srgbClr val="1C191A"/>
                </a:solidFill>
                <a:latin typeface="Calibri" pitchFamily="34" charset="0"/>
                <a:ea typeface="Calibri" pitchFamily="34" charset="-122"/>
                <a:cs typeface="Calibri" pitchFamily="34" charset="-120"/>
              </a:rPr>
              <a:t>They stopped over-taking and kept the harvest at 0.99 of the maximum sustainable yield.</a:t>
            </a:r>
            <a:endParaRPr lang="en-US" sz="1400" dirty="0"/>
          </a:p>
        </p:txBody>
      </p:sp>
      <p:sp>
        <p:nvSpPr>
          <p:cNvPr id="26" name="Text 24"/>
          <p:cNvSpPr txBox="1"/>
          <p:nvPr/>
        </p:nvSpPr>
        <p:spPr>
          <a:xfrm>
            <a:off x="11368735" y="6400800"/>
            <a:ext cx="457200" cy="274320"/>
          </a:xfrm>
          <a:prstGeom prst="rect">
            <a:avLst/>
          </a:prstGeom>
          <a:noFill/>
          <a:ln/>
        </p:spPr>
        <p:txBody>
          <a:bodyPr wrap="square" lIns="0" tIns="0" rIns="0" bIns="0" rtlCol="0" anchor="ctr"/>
          <a:lstStyle/>
          <a:p>
            <a:pPr algn="r" indent="0" marL="0">
              <a:buNone/>
            </a:pPr>
            <a:r>
              <a:rPr lang="en-US" sz="1000" dirty="0">
                <a:solidFill>
                  <a:srgbClr val="1C191A"/>
                </a:solidFill>
                <a:latin typeface="Calibri" pitchFamily="34" charset="0"/>
                <a:ea typeface="Calibri" pitchFamily="34" charset="-122"/>
                <a:cs typeface="Calibri" pitchFamily="34" charset="-120"/>
              </a:rPr>
              <a:t>12</a:t>
            </a:r>
            <a:endParaRPr lang="en-US" sz="1000" dirty="0"/>
          </a:p>
        </p:txBody>
      </p:sp>
    </p:spTree>
  </p:cSld>
  <p:clrMapOvr>
    <a:masterClrMapping/>
  </p:clrMapOvr>
</p:sld>
</file>

<file path=ppt/slides/slide13.xml><?xml version="1.0" encoding="utf-8"?>
<p:sld xmlns:a="http://schemas.openxmlformats.org/drawingml/2006/main" xmlns:r="http://schemas.openxmlformats.org/officeDocument/2006/relationships" xmlns:p="http://schemas.openxmlformats.org/presentationml/2006/main">
  <p:cSld name="Slide 13">
    <p:spTree>
      <p:nvGrpSpPr>
        <p:cNvPr id="1" name=""/>
        <p:cNvGrpSpPr/>
        <p:nvPr/>
      </p:nvGrpSpPr>
      <p:grpSpPr>
        <a:xfrm>
          <a:off x="0" y="0"/>
          <a:ext cx="0" cy="0"/>
          <a:chOff x="0" y="0"/>
          <a:chExt cx="0" cy="0"/>
        </a:xfrm>
      </p:grpSpPr>
      <p:sp>
        <p:nvSpPr>
          <p:cNvPr id="2" name="Text 0"/>
          <p:cNvSpPr txBox="1"/>
          <p:nvPr/>
        </p:nvSpPr>
        <p:spPr>
          <a:xfrm>
            <a:off x="548640" y="365760"/>
            <a:ext cx="11094415" cy="777240"/>
          </a:xfrm>
          <a:prstGeom prst="rect">
            <a:avLst/>
          </a:prstGeom>
          <a:noFill/>
          <a:ln/>
        </p:spPr>
        <p:txBody>
          <a:bodyPr wrap="square" lIns="0" tIns="0" rIns="0" bIns="0" rtlCol="0" anchor="b"/>
          <a:lstStyle/>
          <a:p>
            <a:pPr algn="l" indent="0" marL="0">
              <a:lnSpc>
                <a:spcPct val="95000"/>
              </a:lnSpc>
              <a:buNone/>
            </a:pPr>
            <a:r>
              <a:rPr lang="en-US" sz="3400" b="1" dirty="0">
                <a:solidFill>
                  <a:srgbClr val="062746"/>
                </a:solidFill>
                <a:latin typeface="Georgia" pitchFamily="34" charset="0"/>
                <a:ea typeface="Georgia" pitchFamily="34" charset="-122"/>
                <a:cs typeface="Georgia" pitchFamily="34" charset="-120"/>
              </a:rPr>
              <a:t>Running Now (Results Soon)</a:t>
            </a:r>
            <a:endParaRPr lang="en-US" sz="3400" dirty="0"/>
          </a:p>
        </p:txBody>
      </p:sp>
      <p:sp>
        <p:nvSpPr>
          <p:cNvPr id="3" name="Shape 1"/>
          <p:cNvSpPr/>
          <p:nvPr/>
        </p:nvSpPr>
        <p:spPr>
          <a:xfrm>
            <a:off x="548640" y="1271016"/>
            <a:ext cx="3291840" cy="91440"/>
          </a:xfrm>
          <a:prstGeom prst="rect">
            <a:avLst/>
          </a:prstGeom>
          <a:solidFill>
            <a:srgbClr val="131B28"/>
          </a:solidFill>
          <a:ln w="12700">
            <a:solidFill>
              <a:srgbClr val="131B28"/>
            </a:solidFill>
            <a:prstDash val="solid"/>
          </a:ln>
        </p:spPr>
      </p:sp>
      <p:sp>
        <p:nvSpPr>
          <p:cNvPr id="4" name="Text 2"/>
          <p:cNvSpPr txBox="1"/>
          <p:nvPr/>
        </p:nvSpPr>
        <p:spPr>
          <a:xfrm>
            <a:off x="548640" y="1545336"/>
            <a:ext cx="5212080" cy="347472"/>
          </a:xfrm>
          <a:prstGeom prst="rect">
            <a:avLst/>
          </a:prstGeom>
          <a:noFill/>
          <a:ln/>
        </p:spPr>
        <p:txBody>
          <a:bodyPr wrap="square" lIns="0" tIns="0" rIns="0" bIns="0" rtlCol="0" anchor="t"/>
          <a:lstStyle/>
          <a:p>
            <a:pPr indent="0" marL="0">
              <a:buNone/>
            </a:pPr>
            <a:r>
              <a:rPr lang="en-US" sz="1600" b="1" dirty="0">
                <a:solidFill>
                  <a:srgbClr val="1C191A"/>
                </a:solidFill>
                <a:latin typeface="Georgia" pitchFamily="34" charset="0"/>
                <a:ea typeface="Georgia" pitchFamily="34" charset="-122"/>
                <a:cs typeface="Georgia" pitchFamily="34" charset="-120"/>
              </a:rPr>
              <a:t>Expected fine, or fine size?</a:t>
            </a:r>
            <a:endParaRPr lang="en-US" sz="1600" dirty="0"/>
          </a:p>
        </p:txBody>
      </p:sp>
      <p:sp>
        <p:nvSpPr>
          <p:cNvPr id="5" name="Text 3"/>
          <p:cNvSpPr txBox="1"/>
          <p:nvPr/>
        </p:nvSpPr>
        <p:spPr>
          <a:xfrm>
            <a:off x="548640" y="1874520"/>
            <a:ext cx="5212080" cy="733806"/>
          </a:xfrm>
          <a:prstGeom prst="rect">
            <a:avLst/>
          </a:prstGeom>
          <a:noFill/>
          <a:ln/>
        </p:spPr>
        <p:txBody>
          <a:bodyPr wrap="square" lIns="0" tIns="0" rIns="0" bIns="0" rtlCol="0" anchor="t"/>
          <a:lstStyle/>
          <a:p>
            <a:pPr indent="0" marL="0">
              <a:buNone/>
            </a:pPr>
            <a:r>
              <a:rPr lang="en-US" sz="1250" dirty="0">
                <a:solidFill>
                  <a:srgbClr val="55524E"/>
                </a:solidFill>
                <a:latin typeface="Calibri" pitchFamily="34" charset="0"/>
                <a:ea typeface="Calibri" pitchFamily="34" charset="-122"/>
                <a:cs typeface="Calibri" pitchFamily="34" charset="-120"/>
              </a:rPr>
              <a:t>Same expected fine, made up differently: audit probability 1 in 3, 1 in 6 or 1 in 12 (gpt-oss, 20 games each).</a:t>
            </a:r>
            <a:endParaRPr lang="en-US" sz="1250" dirty="0"/>
          </a:p>
        </p:txBody>
      </p:sp>
      <p:sp>
        <p:nvSpPr>
          <p:cNvPr id="6" name="Shape 4"/>
          <p:cNvSpPr/>
          <p:nvPr/>
        </p:nvSpPr>
        <p:spPr>
          <a:xfrm>
            <a:off x="6080760" y="1545336"/>
            <a:ext cx="5562295" cy="1026414"/>
          </a:xfrm>
          <a:prstGeom prst="roundRect">
            <a:avLst>
              <a:gd name="adj" fmla="val 5345"/>
            </a:avLst>
          </a:prstGeom>
          <a:solidFill>
            <a:srgbClr val="FFFFFF"/>
          </a:solidFill>
          <a:ln w="12700">
            <a:solidFill>
              <a:srgbClr val="C9C6C1"/>
            </a:solidFill>
            <a:prstDash val="dash"/>
          </a:ln>
        </p:spPr>
      </p:sp>
      <p:sp>
        <p:nvSpPr>
          <p:cNvPr id="7" name="Text 5"/>
          <p:cNvSpPr txBox="1"/>
          <p:nvPr/>
        </p:nvSpPr>
        <p:spPr>
          <a:xfrm>
            <a:off x="6217920" y="1618488"/>
            <a:ext cx="5287975" cy="274320"/>
          </a:xfrm>
          <a:prstGeom prst="rect">
            <a:avLst/>
          </a:prstGeom>
          <a:noFill/>
          <a:ln/>
        </p:spPr>
        <p:txBody>
          <a:bodyPr wrap="square" lIns="0" tIns="0" rIns="0" bIns="0" rtlCol="0" anchor="t"/>
          <a:lstStyle/>
          <a:p>
            <a:pPr indent="0" marL="0">
              <a:buNone/>
            </a:pPr>
            <a:r>
              <a:rPr lang="en-US" sz="1100" i="1" dirty="0">
                <a:solidFill>
                  <a:srgbClr val="8F8F8F"/>
                </a:solidFill>
                <a:latin typeface="Calibri" pitchFamily="34" charset="0"/>
                <a:ea typeface="Calibri" pitchFamily="34" charset="-122"/>
                <a:cs typeface="Calibri" pitchFamily="34" charset="-120"/>
              </a:rPr>
              <a:t>Result (to fill in):</a:t>
            </a:r>
            <a:endParaRPr lang="en-US" sz="1100" dirty="0"/>
          </a:p>
        </p:txBody>
      </p:sp>
      <p:sp>
        <p:nvSpPr>
          <p:cNvPr id="8" name="Text 6"/>
          <p:cNvSpPr txBox="1"/>
          <p:nvPr/>
        </p:nvSpPr>
        <p:spPr>
          <a:xfrm>
            <a:off x="548640" y="2736342"/>
            <a:ext cx="5212080" cy="347472"/>
          </a:xfrm>
          <a:prstGeom prst="rect">
            <a:avLst/>
          </a:prstGeom>
          <a:noFill/>
          <a:ln/>
        </p:spPr>
        <p:txBody>
          <a:bodyPr wrap="square" lIns="0" tIns="0" rIns="0" bIns="0" rtlCol="0" anchor="t"/>
          <a:lstStyle/>
          <a:p>
            <a:pPr indent="0" marL="0">
              <a:buNone/>
            </a:pPr>
            <a:r>
              <a:rPr lang="en-US" sz="1600" b="1" dirty="0">
                <a:solidFill>
                  <a:srgbClr val="1C191A"/>
                </a:solidFill>
                <a:latin typeface="Georgia" pitchFamily="34" charset="0"/>
                <a:ea typeface="Georgia" pitchFamily="34" charset="-122"/>
                <a:cs typeface="Georgia" pitchFamily="34" charset="-120"/>
              </a:rPr>
              <a:t>Does the prediction transfer?</a:t>
            </a:r>
            <a:endParaRPr lang="en-US" sz="1600" dirty="0"/>
          </a:p>
        </p:txBody>
      </p:sp>
      <p:sp>
        <p:nvSpPr>
          <p:cNvPr id="9" name="Text 7"/>
          <p:cNvSpPr txBox="1"/>
          <p:nvPr/>
        </p:nvSpPr>
        <p:spPr>
          <a:xfrm>
            <a:off x="548640" y="3065526"/>
            <a:ext cx="5212080" cy="733806"/>
          </a:xfrm>
          <a:prstGeom prst="rect">
            <a:avLst/>
          </a:prstGeom>
          <a:noFill/>
          <a:ln/>
        </p:spPr>
        <p:txBody>
          <a:bodyPr wrap="square" lIns="0" tIns="0" rIns="0" bIns="0" rtlCol="0" anchor="t"/>
          <a:lstStyle/>
          <a:p>
            <a:pPr indent="0" marL="0">
              <a:buNone/>
            </a:pPr>
            <a:r>
              <a:rPr lang="en-US" sz="1250" dirty="0">
                <a:solidFill>
                  <a:srgbClr val="55524E"/>
                </a:solidFill>
                <a:latin typeface="Calibri" pitchFamily="34" charset="0"/>
                <a:ea typeface="Calibri" pitchFamily="34" charset="-122"/>
                <a:cs typeface="Calibri" pitchFamily="34" charset="-120"/>
              </a:rPr>
              <a:t>Frozen prediction (30 t) tested on 10 new games and with reworded rules.</a:t>
            </a:r>
            <a:endParaRPr lang="en-US" sz="1250" dirty="0"/>
          </a:p>
        </p:txBody>
      </p:sp>
      <p:sp>
        <p:nvSpPr>
          <p:cNvPr id="10" name="Shape 8"/>
          <p:cNvSpPr/>
          <p:nvPr/>
        </p:nvSpPr>
        <p:spPr>
          <a:xfrm>
            <a:off x="6080760" y="2736342"/>
            <a:ext cx="5562295" cy="1026414"/>
          </a:xfrm>
          <a:prstGeom prst="roundRect">
            <a:avLst>
              <a:gd name="adj" fmla="val 5345"/>
            </a:avLst>
          </a:prstGeom>
          <a:solidFill>
            <a:srgbClr val="FFFFFF"/>
          </a:solidFill>
          <a:ln w="12700">
            <a:solidFill>
              <a:srgbClr val="C9C6C1"/>
            </a:solidFill>
            <a:prstDash val="dash"/>
          </a:ln>
        </p:spPr>
      </p:sp>
      <p:sp>
        <p:nvSpPr>
          <p:cNvPr id="11" name="Text 9"/>
          <p:cNvSpPr txBox="1"/>
          <p:nvPr/>
        </p:nvSpPr>
        <p:spPr>
          <a:xfrm>
            <a:off x="6217920" y="2809494"/>
            <a:ext cx="5287975" cy="274320"/>
          </a:xfrm>
          <a:prstGeom prst="rect">
            <a:avLst/>
          </a:prstGeom>
          <a:noFill/>
          <a:ln/>
        </p:spPr>
        <p:txBody>
          <a:bodyPr wrap="square" lIns="0" tIns="0" rIns="0" bIns="0" rtlCol="0" anchor="t"/>
          <a:lstStyle/>
          <a:p>
            <a:pPr indent="0" marL="0">
              <a:buNone/>
            </a:pPr>
            <a:r>
              <a:rPr lang="en-US" sz="1100" i="1" dirty="0">
                <a:solidFill>
                  <a:srgbClr val="8F8F8F"/>
                </a:solidFill>
                <a:latin typeface="Calibri" pitchFamily="34" charset="0"/>
                <a:ea typeface="Calibri" pitchFamily="34" charset="-122"/>
                <a:cs typeface="Calibri" pitchFamily="34" charset="-120"/>
              </a:rPr>
              <a:t>Result (to fill in):</a:t>
            </a:r>
            <a:endParaRPr lang="en-US" sz="1100" dirty="0"/>
          </a:p>
        </p:txBody>
      </p:sp>
      <p:sp>
        <p:nvSpPr>
          <p:cNvPr id="12" name="Text 10"/>
          <p:cNvSpPr txBox="1"/>
          <p:nvPr/>
        </p:nvSpPr>
        <p:spPr>
          <a:xfrm>
            <a:off x="548640" y="3927348"/>
            <a:ext cx="5212080" cy="347472"/>
          </a:xfrm>
          <a:prstGeom prst="rect">
            <a:avLst/>
          </a:prstGeom>
          <a:noFill/>
          <a:ln/>
        </p:spPr>
        <p:txBody>
          <a:bodyPr wrap="square" lIns="0" tIns="0" rIns="0" bIns="0" rtlCol="0" anchor="t"/>
          <a:lstStyle/>
          <a:p>
            <a:pPr indent="0" marL="0">
              <a:buNone/>
            </a:pPr>
            <a:r>
              <a:rPr lang="en-US" sz="1600" b="1" dirty="0">
                <a:solidFill>
                  <a:srgbClr val="1C191A"/>
                </a:solidFill>
                <a:latin typeface="Georgia" pitchFamily="34" charset="0"/>
                <a:ea typeface="Georgia" pitchFamily="34" charset="-122"/>
                <a:cs typeface="Georgia" pitchFamily="34" charset="-120"/>
              </a:rPr>
              <a:t>What if nobody audits?</a:t>
            </a:r>
            <a:endParaRPr lang="en-US" sz="1600" dirty="0"/>
          </a:p>
        </p:txBody>
      </p:sp>
      <p:sp>
        <p:nvSpPr>
          <p:cNvPr id="13" name="Text 11"/>
          <p:cNvSpPr txBox="1"/>
          <p:nvPr/>
        </p:nvSpPr>
        <p:spPr>
          <a:xfrm>
            <a:off x="548640" y="4256532"/>
            <a:ext cx="5212080" cy="733806"/>
          </a:xfrm>
          <a:prstGeom prst="rect">
            <a:avLst/>
          </a:prstGeom>
          <a:noFill/>
          <a:ln/>
        </p:spPr>
        <p:txBody>
          <a:bodyPr wrap="square" lIns="0" tIns="0" rIns="0" bIns="0" rtlCol="0" anchor="t"/>
          <a:lstStyle/>
          <a:p>
            <a:pPr indent="0" marL="0">
              <a:buNone/>
            </a:pPr>
            <a:r>
              <a:rPr lang="en-US" sz="1250" dirty="0">
                <a:solidFill>
                  <a:srgbClr val="55524E"/>
                </a:solidFill>
                <a:latin typeface="Calibri" pitchFamily="34" charset="0"/>
                <a:ea typeface="Calibri" pitchFamily="34" charset="-122"/>
                <a:cs typeface="Calibri" pitchFamily="34" charset="-120"/>
              </a:rPr>
              <a:t>Rules that never mention audits, against audits with no fine.</a:t>
            </a:r>
            <a:endParaRPr lang="en-US" sz="1250" dirty="0"/>
          </a:p>
        </p:txBody>
      </p:sp>
      <p:sp>
        <p:nvSpPr>
          <p:cNvPr id="14" name="Shape 12"/>
          <p:cNvSpPr/>
          <p:nvPr/>
        </p:nvSpPr>
        <p:spPr>
          <a:xfrm>
            <a:off x="6080760" y="3927348"/>
            <a:ext cx="5562295" cy="1026414"/>
          </a:xfrm>
          <a:prstGeom prst="roundRect">
            <a:avLst>
              <a:gd name="adj" fmla="val 5345"/>
            </a:avLst>
          </a:prstGeom>
          <a:solidFill>
            <a:srgbClr val="FFFFFF"/>
          </a:solidFill>
          <a:ln w="12700">
            <a:solidFill>
              <a:srgbClr val="C9C6C1"/>
            </a:solidFill>
            <a:prstDash val="dash"/>
          </a:ln>
        </p:spPr>
      </p:sp>
      <p:sp>
        <p:nvSpPr>
          <p:cNvPr id="15" name="Text 13"/>
          <p:cNvSpPr txBox="1"/>
          <p:nvPr/>
        </p:nvSpPr>
        <p:spPr>
          <a:xfrm>
            <a:off x="6217920" y="4000500"/>
            <a:ext cx="5287975" cy="274320"/>
          </a:xfrm>
          <a:prstGeom prst="rect">
            <a:avLst/>
          </a:prstGeom>
          <a:noFill/>
          <a:ln/>
        </p:spPr>
        <p:txBody>
          <a:bodyPr wrap="square" lIns="0" tIns="0" rIns="0" bIns="0" rtlCol="0" anchor="t"/>
          <a:lstStyle/>
          <a:p>
            <a:pPr indent="0" marL="0">
              <a:buNone/>
            </a:pPr>
            <a:r>
              <a:rPr lang="en-US" sz="1100" i="1" dirty="0">
                <a:solidFill>
                  <a:srgbClr val="8F8F8F"/>
                </a:solidFill>
                <a:latin typeface="Calibri" pitchFamily="34" charset="0"/>
                <a:ea typeface="Calibri" pitchFamily="34" charset="-122"/>
                <a:cs typeface="Calibri" pitchFamily="34" charset="-120"/>
              </a:rPr>
              <a:t>Result (to fill in):</a:t>
            </a:r>
            <a:endParaRPr lang="en-US" sz="1100" dirty="0"/>
          </a:p>
        </p:txBody>
      </p:sp>
      <p:sp>
        <p:nvSpPr>
          <p:cNvPr id="16" name="Text 14"/>
          <p:cNvSpPr txBox="1"/>
          <p:nvPr/>
        </p:nvSpPr>
        <p:spPr>
          <a:xfrm>
            <a:off x="548640" y="5118354"/>
            <a:ext cx="5212080" cy="347472"/>
          </a:xfrm>
          <a:prstGeom prst="rect">
            <a:avLst/>
          </a:prstGeom>
          <a:noFill/>
          <a:ln/>
        </p:spPr>
        <p:txBody>
          <a:bodyPr wrap="square" lIns="0" tIns="0" rIns="0" bIns="0" rtlCol="0" anchor="t"/>
          <a:lstStyle/>
          <a:p>
            <a:pPr indent="0" marL="0">
              <a:buNone/>
            </a:pPr>
            <a:r>
              <a:rPr lang="en-US" sz="1600" b="1" dirty="0">
                <a:solidFill>
                  <a:srgbClr val="1C191A"/>
                </a:solidFill>
                <a:latin typeface="Georgia" pitchFamily="34" charset="0"/>
                <a:ea typeface="Georgia" pitchFamily="34" charset="-122"/>
                <a:cs typeface="Georgia" pitchFamily="34" charset="-120"/>
              </a:rPr>
              <a:t>Does over-taking spread?</a:t>
            </a:r>
            <a:endParaRPr lang="en-US" sz="1600" dirty="0"/>
          </a:p>
        </p:txBody>
      </p:sp>
      <p:sp>
        <p:nvSpPr>
          <p:cNvPr id="17" name="Text 15"/>
          <p:cNvSpPr txBox="1"/>
          <p:nvPr/>
        </p:nvSpPr>
        <p:spPr>
          <a:xfrm>
            <a:off x="548640" y="5447538"/>
            <a:ext cx="5212080" cy="733806"/>
          </a:xfrm>
          <a:prstGeom prst="rect">
            <a:avLst/>
          </a:prstGeom>
          <a:noFill/>
          <a:ln/>
        </p:spPr>
        <p:txBody>
          <a:bodyPr wrap="square" lIns="0" tIns="0" rIns="0" bIns="0" rtlCol="0" anchor="t"/>
          <a:lstStyle/>
          <a:p>
            <a:pPr indent="0" marL="0">
              <a:buNone/>
            </a:pPr>
            <a:r>
              <a:rPr lang="en-US" sz="1250" dirty="0">
                <a:solidFill>
                  <a:srgbClr val="55524E"/>
                </a:solidFill>
                <a:latin typeface="Calibri" pitchFamily="34" charset="0"/>
                <a:ea typeface="Calibri" pitchFamily="34" charset="-122"/>
                <a:cs typeface="Calibri" pitchFamily="34" charset="-120"/>
              </a:rPr>
              <a:t>Forest: one programmed over-taker among five language-model agents; neighbours' cuts hidden or visible.</a:t>
            </a:r>
            <a:endParaRPr lang="en-US" sz="1250" dirty="0"/>
          </a:p>
        </p:txBody>
      </p:sp>
      <p:sp>
        <p:nvSpPr>
          <p:cNvPr id="18" name="Shape 16"/>
          <p:cNvSpPr/>
          <p:nvPr/>
        </p:nvSpPr>
        <p:spPr>
          <a:xfrm>
            <a:off x="6080760" y="5118354"/>
            <a:ext cx="5562295" cy="1026414"/>
          </a:xfrm>
          <a:prstGeom prst="roundRect">
            <a:avLst>
              <a:gd name="adj" fmla="val 5345"/>
            </a:avLst>
          </a:prstGeom>
          <a:solidFill>
            <a:srgbClr val="FFFFFF"/>
          </a:solidFill>
          <a:ln w="12700">
            <a:solidFill>
              <a:srgbClr val="C9C6C1"/>
            </a:solidFill>
            <a:prstDash val="dash"/>
          </a:ln>
        </p:spPr>
      </p:sp>
      <p:sp>
        <p:nvSpPr>
          <p:cNvPr id="19" name="Text 17"/>
          <p:cNvSpPr txBox="1"/>
          <p:nvPr/>
        </p:nvSpPr>
        <p:spPr>
          <a:xfrm>
            <a:off x="6217920" y="5191506"/>
            <a:ext cx="5287975" cy="274320"/>
          </a:xfrm>
          <a:prstGeom prst="rect">
            <a:avLst/>
          </a:prstGeom>
          <a:noFill/>
          <a:ln/>
        </p:spPr>
        <p:txBody>
          <a:bodyPr wrap="square" lIns="0" tIns="0" rIns="0" bIns="0" rtlCol="0" anchor="t"/>
          <a:lstStyle/>
          <a:p>
            <a:pPr indent="0" marL="0">
              <a:buNone/>
            </a:pPr>
            <a:r>
              <a:rPr lang="en-US" sz="1100" i="1" dirty="0">
                <a:solidFill>
                  <a:srgbClr val="8F8F8F"/>
                </a:solidFill>
                <a:latin typeface="Calibri" pitchFamily="34" charset="0"/>
                <a:ea typeface="Calibri" pitchFamily="34" charset="-122"/>
                <a:cs typeface="Calibri" pitchFamily="34" charset="-120"/>
              </a:rPr>
              <a:t>Result (to fill in):</a:t>
            </a:r>
            <a:endParaRPr lang="en-US" sz="1100" dirty="0"/>
          </a:p>
        </p:txBody>
      </p:sp>
      <p:sp>
        <p:nvSpPr>
          <p:cNvPr id="20" name="Text 18"/>
          <p:cNvSpPr txBox="1"/>
          <p:nvPr/>
        </p:nvSpPr>
        <p:spPr>
          <a:xfrm>
            <a:off x="11368735" y="6400800"/>
            <a:ext cx="457200" cy="274320"/>
          </a:xfrm>
          <a:prstGeom prst="rect">
            <a:avLst/>
          </a:prstGeom>
          <a:noFill/>
          <a:ln/>
        </p:spPr>
        <p:txBody>
          <a:bodyPr wrap="square" lIns="0" tIns="0" rIns="0" bIns="0" rtlCol="0" anchor="ctr"/>
          <a:lstStyle/>
          <a:p>
            <a:pPr algn="r" indent="0" marL="0">
              <a:buNone/>
            </a:pPr>
            <a:r>
              <a:rPr lang="en-US" sz="1000" dirty="0">
                <a:solidFill>
                  <a:srgbClr val="1C191A"/>
                </a:solidFill>
                <a:latin typeface="Calibri" pitchFamily="34" charset="0"/>
                <a:ea typeface="Calibri" pitchFamily="34" charset="-122"/>
                <a:cs typeface="Calibri" pitchFamily="34" charset="-120"/>
              </a:rPr>
              <a:t>13</a:t>
            </a:r>
            <a:endParaRPr lang="en-US" sz="1000" dirty="0"/>
          </a:p>
        </p:txBody>
      </p:sp>
    </p:spTree>
  </p:cSld>
  <p:clrMapOvr>
    <a:masterClrMapping/>
  </p:clrMapOvr>
</p:sld>
</file>

<file path=ppt/slides/slide14.xml><?xml version="1.0" encoding="utf-8"?>
<p:sld xmlns:a="http://schemas.openxmlformats.org/drawingml/2006/main" xmlns:r="http://schemas.openxmlformats.org/officeDocument/2006/relationships" xmlns:p="http://schemas.openxmlformats.org/presentationml/2006/main">
  <p:cSld name="Slide 14">
    <p:spTree>
      <p:nvGrpSpPr>
        <p:cNvPr id="1" name=""/>
        <p:cNvGrpSpPr/>
        <p:nvPr/>
      </p:nvGrpSpPr>
      <p:grpSpPr>
        <a:xfrm>
          <a:off x="0" y="0"/>
          <a:ext cx="0" cy="0"/>
          <a:chOff x="0" y="0"/>
          <a:chExt cx="0" cy="0"/>
        </a:xfrm>
      </p:grpSpPr>
      <p:sp>
        <p:nvSpPr>
          <p:cNvPr id="2" name="Text 0"/>
          <p:cNvSpPr txBox="1"/>
          <p:nvPr/>
        </p:nvSpPr>
        <p:spPr>
          <a:xfrm>
            <a:off x="548640" y="365760"/>
            <a:ext cx="11094415" cy="777240"/>
          </a:xfrm>
          <a:prstGeom prst="rect">
            <a:avLst/>
          </a:prstGeom>
          <a:noFill/>
          <a:ln/>
        </p:spPr>
        <p:txBody>
          <a:bodyPr wrap="square" lIns="0" tIns="0" rIns="0" bIns="0" rtlCol="0" anchor="b"/>
          <a:lstStyle/>
          <a:p>
            <a:pPr algn="l" indent="0" marL="0">
              <a:lnSpc>
                <a:spcPct val="95000"/>
              </a:lnSpc>
              <a:buNone/>
            </a:pPr>
            <a:r>
              <a:rPr lang="en-US" sz="3400" b="1" dirty="0">
                <a:solidFill>
                  <a:srgbClr val="062746"/>
                </a:solidFill>
                <a:latin typeface="Georgia" pitchFamily="34" charset="0"/>
                <a:ea typeface="Georgia" pitchFamily="34" charset="-122"/>
                <a:cs typeface="Georgia" pitchFamily="34" charset="-120"/>
              </a:rPr>
              <a:t>Where This Is Going</a:t>
            </a:r>
            <a:endParaRPr lang="en-US" sz="3400" dirty="0"/>
          </a:p>
        </p:txBody>
      </p:sp>
      <p:sp>
        <p:nvSpPr>
          <p:cNvPr id="3" name="Shape 1"/>
          <p:cNvSpPr/>
          <p:nvPr/>
        </p:nvSpPr>
        <p:spPr>
          <a:xfrm>
            <a:off x="548640" y="1271016"/>
            <a:ext cx="3291840" cy="91440"/>
          </a:xfrm>
          <a:prstGeom prst="rect">
            <a:avLst/>
          </a:prstGeom>
          <a:solidFill>
            <a:srgbClr val="131B28"/>
          </a:solidFill>
          <a:ln w="12700">
            <a:solidFill>
              <a:srgbClr val="131B28"/>
            </a:solidFill>
            <a:prstDash val="solid"/>
          </a:ln>
        </p:spPr>
      </p:sp>
      <p:sp>
        <p:nvSpPr>
          <p:cNvPr id="4" name="Shape 2"/>
          <p:cNvSpPr/>
          <p:nvPr/>
        </p:nvSpPr>
        <p:spPr>
          <a:xfrm>
            <a:off x="1935442" y="3017520"/>
            <a:ext cx="8320811" cy="0"/>
          </a:xfrm>
          <a:prstGeom prst="line">
            <a:avLst/>
          </a:prstGeom>
          <a:noFill/>
          <a:ln w="25400">
            <a:solidFill>
              <a:srgbClr val="C9C6C1"/>
            </a:solidFill>
            <a:prstDash val="solid"/>
          </a:ln>
        </p:spPr>
      </p:sp>
      <p:sp>
        <p:nvSpPr>
          <p:cNvPr id="5" name="Shape 3"/>
          <p:cNvSpPr/>
          <p:nvPr/>
        </p:nvSpPr>
        <p:spPr>
          <a:xfrm>
            <a:off x="1779994" y="2862072"/>
            <a:ext cx="310896" cy="310896"/>
          </a:xfrm>
          <a:prstGeom prst="ellipse">
            <a:avLst/>
          </a:prstGeom>
          <a:solidFill>
            <a:srgbClr val="062746"/>
          </a:solidFill>
          <a:ln w="19050">
            <a:solidFill>
              <a:srgbClr val="062746"/>
            </a:solidFill>
            <a:prstDash val="solid"/>
          </a:ln>
        </p:spPr>
      </p:sp>
      <p:sp>
        <p:nvSpPr>
          <p:cNvPr id="6" name="Text 4"/>
          <p:cNvSpPr txBox="1"/>
          <p:nvPr/>
        </p:nvSpPr>
        <p:spPr>
          <a:xfrm>
            <a:off x="640080" y="3310128"/>
            <a:ext cx="2590724" cy="365760"/>
          </a:xfrm>
          <a:prstGeom prst="rect">
            <a:avLst/>
          </a:prstGeom>
          <a:noFill/>
          <a:ln/>
        </p:spPr>
        <p:txBody>
          <a:bodyPr wrap="square" lIns="0" tIns="0" rIns="0" bIns="0" rtlCol="0" anchor="ctr"/>
          <a:lstStyle/>
          <a:p>
            <a:pPr algn="ctr" indent="0" marL="0">
              <a:buNone/>
            </a:pPr>
            <a:r>
              <a:rPr lang="en-US" sz="1500" b="1" dirty="0">
                <a:solidFill>
                  <a:srgbClr val="062746"/>
                </a:solidFill>
                <a:latin typeface="Georgia" pitchFamily="34" charset="0"/>
                <a:ea typeface="Georgia" pitchFamily="34" charset="-122"/>
                <a:cs typeface="Georgia" pitchFamily="34" charset="-120"/>
              </a:rPr>
              <a:t>Sep – 8 Oct</a:t>
            </a:r>
            <a:endParaRPr lang="en-US" sz="1500" dirty="0"/>
          </a:p>
        </p:txBody>
      </p:sp>
      <p:sp>
        <p:nvSpPr>
          <p:cNvPr id="7" name="Text 5"/>
          <p:cNvSpPr txBox="1"/>
          <p:nvPr/>
        </p:nvSpPr>
        <p:spPr>
          <a:xfrm>
            <a:off x="658368" y="3703320"/>
            <a:ext cx="2554148" cy="2194560"/>
          </a:xfrm>
          <a:prstGeom prst="rect">
            <a:avLst/>
          </a:prstGeom>
          <a:noFill/>
          <a:ln/>
        </p:spPr>
        <p:txBody>
          <a:bodyPr wrap="square" lIns="0" tIns="0" rIns="0" bIns="0" rtlCol="0" anchor="t"/>
          <a:lstStyle/>
          <a:p>
            <a:pPr algn="ctr" indent="0" marL="0">
              <a:buNone/>
            </a:pPr>
            <a:r>
              <a:rPr lang="en-US" sz="1300" dirty="0">
                <a:solidFill>
                  <a:srgbClr val="1C191A"/>
                </a:solidFill>
                <a:latin typeface="Calibri" pitchFamily="34" charset="0"/>
                <a:ea typeface="Calibri" pitchFamily="34" charset="-122"/>
                <a:cs typeface="Calibri" pitchFamily="34" charset="-120"/>
              </a:rPr>
              <a:t>Programmed agents in three settings; language models in Fishery</a:t>
            </a:r>
            <a:endParaRPr lang="en-US" sz="1300" dirty="0"/>
          </a:p>
        </p:txBody>
      </p:sp>
      <p:sp>
        <p:nvSpPr>
          <p:cNvPr id="8" name="Shape 6"/>
          <p:cNvSpPr/>
          <p:nvPr/>
        </p:nvSpPr>
        <p:spPr>
          <a:xfrm>
            <a:off x="4553598" y="2862072"/>
            <a:ext cx="310896" cy="310896"/>
          </a:xfrm>
          <a:prstGeom prst="ellipse">
            <a:avLst/>
          </a:prstGeom>
          <a:solidFill>
            <a:srgbClr val="FFFFFF"/>
          </a:solidFill>
          <a:ln w="19050">
            <a:solidFill>
              <a:srgbClr val="062746"/>
            </a:solidFill>
            <a:prstDash val="solid"/>
          </a:ln>
        </p:spPr>
      </p:sp>
      <p:sp>
        <p:nvSpPr>
          <p:cNvPr id="9" name="Text 7"/>
          <p:cNvSpPr txBox="1"/>
          <p:nvPr/>
        </p:nvSpPr>
        <p:spPr>
          <a:xfrm>
            <a:off x="3413684" y="3310128"/>
            <a:ext cx="2590724" cy="365760"/>
          </a:xfrm>
          <a:prstGeom prst="rect">
            <a:avLst/>
          </a:prstGeom>
          <a:noFill/>
          <a:ln/>
        </p:spPr>
        <p:txBody>
          <a:bodyPr wrap="square" lIns="0" tIns="0" rIns="0" bIns="0" rtlCol="0" anchor="ctr"/>
          <a:lstStyle/>
          <a:p>
            <a:pPr algn="ctr" indent="0" marL="0">
              <a:buNone/>
            </a:pPr>
            <a:r>
              <a:rPr lang="en-US" sz="1500" b="1" dirty="0">
                <a:solidFill>
                  <a:srgbClr val="062746"/>
                </a:solidFill>
                <a:latin typeface="Georgia" pitchFamily="34" charset="0"/>
                <a:ea typeface="Georgia" pitchFamily="34" charset="-122"/>
                <a:cs typeface="Georgia" pitchFamily="34" charset="-120"/>
              </a:rPr>
              <a:t>12 – 14 Oct</a:t>
            </a:r>
            <a:endParaRPr lang="en-US" sz="1500" dirty="0"/>
          </a:p>
        </p:txBody>
      </p:sp>
      <p:sp>
        <p:nvSpPr>
          <p:cNvPr id="10" name="Text 8"/>
          <p:cNvSpPr txBox="1"/>
          <p:nvPr/>
        </p:nvSpPr>
        <p:spPr>
          <a:xfrm>
            <a:off x="3431972" y="3703320"/>
            <a:ext cx="2554148" cy="2194560"/>
          </a:xfrm>
          <a:prstGeom prst="rect">
            <a:avLst/>
          </a:prstGeom>
          <a:noFill/>
          <a:ln/>
        </p:spPr>
        <p:txBody>
          <a:bodyPr wrap="square" lIns="0" tIns="0" rIns="0" bIns="0" rtlCol="0" anchor="t"/>
          <a:lstStyle/>
          <a:p>
            <a:pPr algn="ctr" indent="0" marL="0">
              <a:buNone/>
            </a:pPr>
            <a:r>
              <a:rPr lang="en-US" sz="1300" dirty="0">
                <a:solidFill>
                  <a:srgbClr val="1C191A"/>
                </a:solidFill>
                <a:latin typeface="Calibri" pitchFamily="34" charset="0"/>
                <a:ea typeface="Calibri" pitchFamily="34" charset="-122"/>
                <a:cs typeface="Calibri" pitchFamily="34" charset="-120"/>
              </a:rPr>
              <a:t>Follow-up tests from two outside reviews</a:t>
            </a:r>
            <a:endParaRPr lang="en-US" sz="1300" dirty="0"/>
          </a:p>
        </p:txBody>
      </p:sp>
      <p:sp>
        <p:nvSpPr>
          <p:cNvPr id="11" name="Shape 9"/>
          <p:cNvSpPr/>
          <p:nvPr/>
        </p:nvSpPr>
        <p:spPr>
          <a:xfrm>
            <a:off x="7327202" y="2862072"/>
            <a:ext cx="310896" cy="310896"/>
          </a:xfrm>
          <a:prstGeom prst="ellipse">
            <a:avLst/>
          </a:prstGeom>
          <a:solidFill>
            <a:srgbClr val="FFFFFF"/>
          </a:solidFill>
          <a:ln w="19050">
            <a:solidFill>
              <a:srgbClr val="062746"/>
            </a:solidFill>
            <a:prstDash val="solid"/>
          </a:ln>
        </p:spPr>
      </p:sp>
      <p:sp>
        <p:nvSpPr>
          <p:cNvPr id="12" name="Text 10"/>
          <p:cNvSpPr txBox="1"/>
          <p:nvPr/>
        </p:nvSpPr>
        <p:spPr>
          <a:xfrm>
            <a:off x="6187288" y="3310128"/>
            <a:ext cx="2590724" cy="365760"/>
          </a:xfrm>
          <a:prstGeom prst="rect">
            <a:avLst/>
          </a:prstGeom>
          <a:noFill/>
          <a:ln/>
        </p:spPr>
        <p:txBody>
          <a:bodyPr wrap="square" lIns="0" tIns="0" rIns="0" bIns="0" rtlCol="0" anchor="ctr"/>
          <a:lstStyle/>
          <a:p>
            <a:pPr algn="ctr" indent="0" marL="0">
              <a:buNone/>
            </a:pPr>
            <a:r>
              <a:rPr lang="en-US" sz="1500" b="1" dirty="0">
                <a:solidFill>
                  <a:srgbClr val="062746"/>
                </a:solidFill>
                <a:latin typeface="Georgia" pitchFamily="34" charset="0"/>
                <a:ea typeface="Georgia" pitchFamily="34" charset="-122"/>
                <a:cs typeface="Georgia" pitchFamily="34" charset="-120"/>
              </a:rPr>
              <a:t>20 Nov</a:t>
            </a:r>
            <a:endParaRPr lang="en-US" sz="1500" dirty="0"/>
          </a:p>
        </p:txBody>
      </p:sp>
      <p:sp>
        <p:nvSpPr>
          <p:cNvPr id="13" name="Text 11"/>
          <p:cNvSpPr txBox="1"/>
          <p:nvPr/>
        </p:nvSpPr>
        <p:spPr>
          <a:xfrm>
            <a:off x="6205576" y="3703320"/>
            <a:ext cx="2554148" cy="2194560"/>
          </a:xfrm>
          <a:prstGeom prst="rect">
            <a:avLst/>
          </a:prstGeom>
          <a:noFill/>
          <a:ln/>
        </p:spPr>
        <p:txBody>
          <a:bodyPr wrap="square" lIns="0" tIns="0" rIns="0" bIns="0" rtlCol="0" anchor="t"/>
          <a:lstStyle/>
          <a:p>
            <a:pPr algn="ctr" indent="0" marL="0">
              <a:buNone/>
            </a:pPr>
            <a:r>
              <a:rPr lang="en-US" sz="1300" dirty="0">
                <a:solidFill>
                  <a:srgbClr val="1C191A"/>
                </a:solidFill>
                <a:latin typeface="Calibri" pitchFamily="34" charset="0"/>
                <a:ea typeface="Calibri" pitchFamily="34" charset="-122"/>
                <a:cs typeface="Calibri" pitchFamily="34" charset="-120"/>
              </a:rPr>
              <a:t>AAAI-27 workshop and arXiv</a:t>
            </a:r>
            <a:endParaRPr lang="en-US" sz="1300" dirty="0"/>
          </a:p>
        </p:txBody>
      </p:sp>
      <p:sp>
        <p:nvSpPr>
          <p:cNvPr id="14" name="Shape 12"/>
          <p:cNvSpPr/>
          <p:nvPr/>
        </p:nvSpPr>
        <p:spPr>
          <a:xfrm>
            <a:off x="10100805" y="2862072"/>
            <a:ext cx="310896" cy="310896"/>
          </a:xfrm>
          <a:prstGeom prst="ellipse">
            <a:avLst/>
          </a:prstGeom>
          <a:solidFill>
            <a:srgbClr val="FFFFFF"/>
          </a:solidFill>
          <a:ln w="19050">
            <a:solidFill>
              <a:srgbClr val="062746"/>
            </a:solidFill>
            <a:prstDash val="solid"/>
          </a:ln>
        </p:spPr>
      </p:sp>
      <p:sp>
        <p:nvSpPr>
          <p:cNvPr id="15" name="Text 13"/>
          <p:cNvSpPr txBox="1"/>
          <p:nvPr/>
        </p:nvSpPr>
        <p:spPr>
          <a:xfrm>
            <a:off x="8960891" y="3310128"/>
            <a:ext cx="2590724" cy="365760"/>
          </a:xfrm>
          <a:prstGeom prst="rect">
            <a:avLst/>
          </a:prstGeom>
          <a:noFill/>
          <a:ln/>
        </p:spPr>
        <p:txBody>
          <a:bodyPr wrap="square" lIns="0" tIns="0" rIns="0" bIns="0" rtlCol="0" anchor="ctr"/>
          <a:lstStyle/>
          <a:p>
            <a:pPr algn="ctr" indent="0" marL="0">
              <a:buNone/>
            </a:pPr>
            <a:r>
              <a:rPr lang="en-US" sz="1500" b="1" dirty="0">
                <a:solidFill>
                  <a:srgbClr val="062746"/>
                </a:solidFill>
                <a:latin typeface="Georgia" pitchFamily="34" charset="0"/>
                <a:ea typeface="Georgia" pitchFamily="34" charset="-122"/>
                <a:cs typeface="Georgia" pitchFamily="34" charset="-120"/>
              </a:rPr>
              <a:t>Jan 2027</a:t>
            </a:r>
            <a:endParaRPr lang="en-US" sz="1500" dirty="0"/>
          </a:p>
        </p:txBody>
      </p:sp>
      <p:sp>
        <p:nvSpPr>
          <p:cNvPr id="16" name="Text 14"/>
          <p:cNvSpPr txBox="1"/>
          <p:nvPr/>
        </p:nvSpPr>
        <p:spPr>
          <a:xfrm>
            <a:off x="8979179" y="3703320"/>
            <a:ext cx="2554148" cy="2194560"/>
          </a:xfrm>
          <a:prstGeom prst="rect">
            <a:avLst/>
          </a:prstGeom>
          <a:noFill/>
          <a:ln/>
        </p:spPr>
        <p:txBody>
          <a:bodyPr wrap="square" lIns="0" tIns="0" rIns="0" bIns="0" rtlCol="0" anchor="t"/>
          <a:lstStyle/>
          <a:p>
            <a:pPr algn="ctr" indent="0" marL="0">
              <a:buNone/>
            </a:pPr>
            <a:r>
              <a:rPr lang="en-US" sz="1300" dirty="0">
                <a:solidFill>
                  <a:srgbClr val="1C191A"/>
                </a:solidFill>
                <a:latin typeface="Calibri" pitchFamily="34" charset="0"/>
                <a:ea typeface="Calibri" pitchFamily="34" charset="-122"/>
                <a:cs typeface="Calibri" pitchFamily="34" charset="-120"/>
              </a:rPr>
              <a:t>Main conference (IJCAI or ICML)</a:t>
            </a:r>
            <a:endParaRPr lang="en-US" sz="1300" dirty="0"/>
          </a:p>
        </p:txBody>
      </p:sp>
      <p:sp>
        <p:nvSpPr>
          <p:cNvPr id="17" name="Text 15"/>
          <p:cNvSpPr txBox="1"/>
          <p:nvPr/>
        </p:nvSpPr>
        <p:spPr>
          <a:xfrm>
            <a:off x="548640" y="5852160"/>
            <a:ext cx="11094415" cy="457200"/>
          </a:xfrm>
          <a:prstGeom prst="rect">
            <a:avLst/>
          </a:prstGeom>
          <a:noFill/>
          <a:ln/>
        </p:spPr>
        <p:txBody>
          <a:bodyPr wrap="square" lIns="0" tIns="0" rIns="0" bIns="0" rtlCol="0" anchor="ctr"/>
          <a:lstStyle/>
          <a:p>
            <a:pPr algn="ctr" indent="0" marL="0">
              <a:buNone/>
            </a:pPr>
            <a:r>
              <a:rPr lang="en-US" sz="1200" i="1" dirty="0">
                <a:solidFill>
                  <a:srgbClr val="55524E"/>
                </a:solidFill>
                <a:latin typeface="Calibri" pitchFamily="34" charset="0"/>
                <a:ea typeface="Calibri" pitchFamily="34" charset="-122"/>
                <a:cs typeface="Calibri" pitchFamily="34" charset="-120"/>
              </a:rPr>
              <a:t>Every study was pre-registered locally before its code; failed predictions are reported.</a:t>
            </a:r>
            <a:endParaRPr lang="en-US" sz="1200" dirty="0"/>
          </a:p>
        </p:txBody>
      </p:sp>
      <p:sp>
        <p:nvSpPr>
          <p:cNvPr id="18" name="Text 16"/>
          <p:cNvSpPr txBox="1"/>
          <p:nvPr/>
        </p:nvSpPr>
        <p:spPr>
          <a:xfrm>
            <a:off x="11368735" y="6400800"/>
            <a:ext cx="457200" cy="274320"/>
          </a:xfrm>
          <a:prstGeom prst="rect">
            <a:avLst/>
          </a:prstGeom>
          <a:noFill/>
          <a:ln/>
        </p:spPr>
        <p:txBody>
          <a:bodyPr wrap="square" lIns="0" tIns="0" rIns="0" bIns="0" rtlCol="0" anchor="ctr"/>
          <a:lstStyle/>
          <a:p>
            <a:pPr algn="r" indent="0" marL="0">
              <a:buNone/>
            </a:pPr>
            <a:r>
              <a:rPr lang="en-US" sz="1000" dirty="0">
                <a:solidFill>
                  <a:srgbClr val="1C191A"/>
                </a:solidFill>
                <a:latin typeface="Calibri" pitchFamily="34" charset="0"/>
                <a:ea typeface="Calibri" pitchFamily="34" charset="-122"/>
                <a:cs typeface="Calibri" pitchFamily="34" charset="-120"/>
              </a:rPr>
              <a:t>14</a:t>
            </a:r>
            <a:endParaRPr lang="en-US" sz="1000" dirty="0"/>
          </a:p>
        </p:txBody>
      </p:sp>
    </p:spTree>
  </p:cSld>
  <p:clrMapOvr>
    <a:masterClrMapping/>
  </p:clrMapOvr>
</p:sld>
</file>

<file path=ppt/slides/slide15.xml><?xml version="1.0" encoding="utf-8"?>
<p:sld xmlns:a="http://schemas.openxmlformats.org/drawingml/2006/main" xmlns:r="http://schemas.openxmlformats.org/officeDocument/2006/relationships" xmlns:p="http://schemas.openxmlformats.org/presentationml/2006/main">
  <p:cSld name="Slide 15">
    <p:spTree>
      <p:nvGrpSpPr>
        <p:cNvPr id="1" name=""/>
        <p:cNvGrpSpPr/>
        <p:nvPr/>
      </p:nvGrpSpPr>
      <p:grpSpPr>
        <a:xfrm>
          <a:off x="0" y="0"/>
          <a:ext cx="0" cy="0"/>
          <a:chOff x="0" y="0"/>
          <a:chExt cx="0" cy="0"/>
        </a:xfrm>
      </p:grpSpPr>
      <p:sp>
        <p:nvSpPr>
          <p:cNvPr id="2" name="Text 0"/>
          <p:cNvSpPr txBox="1"/>
          <p:nvPr/>
        </p:nvSpPr>
        <p:spPr>
          <a:xfrm>
            <a:off x="6613855" y="365760"/>
            <a:ext cx="5029200" cy="1188720"/>
          </a:xfrm>
          <a:prstGeom prst="rect">
            <a:avLst/>
          </a:prstGeom>
          <a:noFill/>
          <a:ln/>
        </p:spPr>
        <p:txBody>
          <a:bodyPr wrap="square" lIns="0" tIns="0" rIns="0" bIns="0" rtlCol="0" anchor="b"/>
          <a:lstStyle/>
          <a:p>
            <a:pPr algn="r" indent="0" marL="0">
              <a:lnSpc>
                <a:spcPct val="95000"/>
              </a:lnSpc>
              <a:buNone/>
            </a:pPr>
            <a:r>
              <a:rPr lang="en-US" sz="3600" b="1" dirty="0">
                <a:solidFill>
                  <a:srgbClr val="062746"/>
                </a:solidFill>
                <a:latin typeface="Georgia" pitchFamily="34" charset="0"/>
                <a:ea typeface="Georgia" pitchFamily="34" charset="-122"/>
                <a:cs typeface="Georgia" pitchFamily="34" charset="-120"/>
              </a:rPr>
              <a:t>Questions for You</a:t>
            </a:r>
            <a:endParaRPr lang="en-US" sz="3600" dirty="0"/>
          </a:p>
        </p:txBody>
      </p:sp>
      <p:sp>
        <p:nvSpPr>
          <p:cNvPr id="3" name="Shape 1"/>
          <p:cNvSpPr/>
          <p:nvPr/>
        </p:nvSpPr>
        <p:spPr>
          <a:xfrm>
            <a:off x="8351215" y="1682496"/>
            <a:ext cx="3291840" cy="91440"/>
          </a:xfrm>
          <a:prstGeom prst="rect">
            <a:avLst/>
          </a:prstGeom>
          <a:solidFill>
            <a:srgbClr val="131B28"/>
          </a:solidFill>
          <a:ln w="12700">
            <a:solidFill>
              <a:srgbClr val="131B28"/>
            </a:solidFill>
            <a:prstDash val="solid"/>
          </a:ln>
        </p:spPr>
      </p:sp>
      <p:sp>
        <p:nvSpPr>
          <p:cNvPr id="4" name="Text 2"/>
          <p:cNvSpPr txBox="1"/>
          <p:nvPr/>
        </p:nvSpPr>
        <p:spPr>
          <a:xfrm>
            <a:off x="548640" y="2148840"/>
            <a:ext cx="731520" cy="457200"/>
          </a:xfrm>
          <a:prstGeom prst="rect">
            <a:avLst/>
          </a:prstGeom>
          <a:noFill/>
          <a:ln/>
        </p:spPr>
        <p:txBody>
          <a:bodyPr wrap="square" lIns="0" tIns="0" rIns="0" bIns="0" rtlCol="0" anchor="t"/>
          <a:lstStyle/>
          <a:p>
            <a:pPr indent="0" marL="0">
              <a:buNone/>
            </a:pPr>
            <a:r>
              <a:rPr lang="en-US" sz="2600" dirty="0">
                <a:solidFill>
                  <a:srgbClr val="8F8F8F"/>
                </a:solidFill>
                <a:latin typeface="Calibri Light" pitchFamily="34" charset="0"/>
                <a:ea typeface="Calibri Light" pitchFamily="34" charset="-122"/>
                <a:cs typeface="Calibri Light" pitchFamily="34" charset="-120"/>
              </a:rPr>
              <a:t>01</a:t>
            </a:r>
            <a:endParaRPr lang="en-US" sz="2600" dirty="0"/>
          </a:p>
        </p:txBody>
      </p:sp>
      <p:sp>
        <p:nvSpPr>
          <p:cNvPr id="5" name="Text 3"/>
          <p:cNvSpPr txBox="1"/>
          <p:nvPr/>
        </p:nvSpPr>
        <p:spPr>
          <a:xfrm>
            <a:off x="1417320" y="2167128"/>
            <a:ext cx="10180015" cy="914400"/>
          </a:xfrm>
          <a:prstGeom prst="rect">
            <a:avLst/>
          </a:prstGeom>
          <a:noFill/>
          <a:ln/>
        </p:spPr>
        <p:txBody>
          <a:bodyPr wrap="square" lIns="0" tIns="0" rIns="0" bIns="0" rtlCol="0" anchor="t"/>
          <a:lstStyle/>
          <a:p>
            <a:pPr indent="0" marL="0">
              <a:buNone/>
            </a:pPr>
            <a:r>
              <a:rPr lang="en-US" sz="1800" dirty="0">
                <a:solidFill>
                  <a:srgbClr val="1C191A"/>
                </a:solidFill>
                <a:latin typeface="Georgia" pitchFamily="34" charset="0"/>
                <a:ea typeface="Georgia" pitchFamily="34" charset="-122"/>
                <a:cs typeface="Georgia" pitchFamily="34" charset="-120"/>
              </a:rPr>
              <a:t>Is over-taking an allowance a fair stand-in for AI misbehaviour?</a:t>
            </a:r>
            <a:endParaRPr lang="en-US" sz="1800" dirty="0"/>
          </a:p>
        </p:txBody>
      </p:sp>
      <p:sp>
        <p:nvSpPr>
          <p:cNvPr id="6" name="Text 4"/>
          <p:cNvSpPr txBox="1"/>
          <p:nvPr/>
        </p:nvSpPr>
        <p:spPr>
          <a:xfrm>
            <a:off x="548640" y="3200400"/>
            <a:ext cx="731520" cy="457200"/>
          </a:xfrm>
          <a:prstGeom prst="rect">
            <a:avLst/>
          </a:prstGeom>
          <a:noFill/>
          <a:ln/>
        </p:spPr>
        <p:txBody>
          <a:bodyPr wrap="square" lIns="0" tIns="0" rIns="0" bIns="0" rtlCol="0" anchor="t"/>
          <a:lstStyle/>
          <a:p>
            <a:pPr indent="0" marL="0">
              <a:buNone/>
            </a:pPr>
            <a:r>
              <a:rPr lang="en-US" sz="2600" dirty="0">
                <a:solidFill>
                  <a:srgbClr val="8F8F8F"/>
                </a:solidFill>
                <a:latin typeface="Calibri Light" pitchFamily="34" charset="0"/>
                <a:ea typeface="Calibri Light" pitchFamily="34" charset="-122"/>
                <a:cs typeface="Calibri Light" pitchFamily="34" charset="-120"/>
              </a:rPr>
              <a:t>02</a:t>
            </a:r>
            <a:endParaRPr lang="en-US" sz="2600" dirty="0"/>
          </a:p>
        </p:txBody>
      </p:sp>
      <p:sp>
        <p:nvSpPr>
          <p:cNvPr id="7" name="Text 5"/>
          <p:cNvSpPr txBox="1"/>
          <p:nvPr/>
        </p:nvSpPr>
        <p:spPr>
          <a:xfrm>
            <a:off x="1417320" y="3218688"/>
            <a:ext cx="10180015" cy="914400"/>
          </a:xfrm>
          <a:prstGeom prst="rect">
            <a:avLst/>
          </a:prstGeom>
          <a:noFill/>
          <a:ln/>
        </p:spPr>
        <p:txBody>
          <a:bodyPr wrap="square" lIns="0" tIns="0" rIns="0" bIns="0" rtlCol="0" anchor="t"/>
          <a:lstStyle/>
          <a:p>
            <a:pPr indent="0" marL="0">
              <a:buNone/>
            </a:pPr>
            <a:r>
              <a:rPr lang="en-US" sz="1800" dirty="0">
                <a:solidFill>
                  <a:srgbClr val="1C191A"/>
                </a:solidFill>
                <a:latin typeface="Georgia" pitchFamily="34" charset="0"/>
                <a:ea typeface="Georgia" pitchFamily="34" charset="-122"/>
                <a:cs typeface="Georgia" pitchFamily="34" charset="-120"/>
              </a:rPr>
              <a:t>If a fine works under one wording of the rules, would you trust it under another?</a:t>
            </a:r>
            <a:endParaRPr lang="en-US" sz="1800" dirty="0"/>
          </a:p>
        </p:txBody>
      </p:sp>
      <p:sp>
        <p:nvSpPr>
          <p:cNvPr id="8" name="Text 6"/>
          <p:cNvSpPr txBox="1"/>
          <p:nvPr/>
        </p:nvSpPr>
        <p:spPr>
          <a:xfrm>
            <a:off x="548640" y="4251960"/>
            <a:ext cx="731520" cy="457200"/>
          </a:xfrm>
          <a:prstGeom prst="rect">
            <a:avLst/>
          </a:prstGeom>
          <a:noFill/>
          <a:ln/>
        </p:spPr>
        <p:txBody>
          <a:bodyPr wrap="square" lIns="0" tIns="0" rIns="0" bIns="0" rtlCol="0" anchor="t"/>
          <a:lstStyle/>
          <a:p>
            <a:pPr indent="0" marL="0">
              <a:buNone/>
            </a:pPr>
            <a:r>
              <a:rPr lang="en-US" sz="2600" dirty="0">
                <a:solidFill>
                  <a:srgbClr val="8F8F8F"/>
                </a:solidFill>
                <a:latin typeface="Calibri Light" pitchFamily="34" charset="0"/>
                <a:ea typeface="Calibri Light" pitchFamily="34" charset="-122"/>
                <a:cs typeface="Calibri Light" pitchFamily="34" charset="-120"/>
              </a:rPr>
              <a:t>03</a:t>
            </a:r>
            <a:endParaRPr lang="en-US" sz="2600" dirty="0"/>
          </a:p>
        </p:txBody>
      </p:sp>
      <p:sp>
        <p:nvSpPr>
          <p:cNvPr id="9" name="Text 7"/>
          <p:cNvSpPr txBox="1"/>
          <p:nvPr/>
        </p:nvSpPr>
        <p:spPr>
          <a:xfrm>
            <a:off x="1417320" y="4270248"/>
            <a:ext cx="10180015" cy="914400"/>
          </a:xfrm>
          <a:prstGeom prst="rect">
            <a:avLst/>
          </a:prstGeom>
          <a:noFill/>
          <a:ln/>
        </p:spPr>
        <p:txBody>
          <a:bodyPr wrap="square" lIns="0" tIns="0" rIns="0" bIns="0" rtlCol="0" anchor="t"/>
          <a:lstStyle/>
          <a:p>
            <a:pPr indent="0" marL="0">
              <a:buNone/>
            </a:pPr>
            <a:r>
              <a:rPr lang="en-US" sz="1800" dirty="0">
                <a:solidFill>
                  <a:srgbClr val="1C191A"/>
                </a:solidFill>
                <a:latin typeface="Georgia" pitchFamily="34" charset="0"/>
                <a:ea typeface="Georgia" pitchFamily="34" charset="-122"/>
                <a:cs typeface="Georgia" pitchFamily="34" charset="-120"/>
              </a:rPr>
              <a:t>Which would convince you more: more models, or more settings?</a:t>
            </a:r>
            <a:endParaRPr lang="en-US" sz="1800" dirty="0"/>
          </a:p>
        </p:txBody>
      </p:sp>
      <p:sp>
        <p:nvSpPr>
          <p:cNvPr id="10" name="Text 8"/>
          <p:cNvSpPr txBox="1"/>
          <p:nvPr/>
        </p:nvSpPr>
        <p:spPr>
          <a:xfrm>
            <a:off x="548640" y="5303520"/>
            <a:ext cx="731520" cy="457200"/>
          </a:xfrm>
          <a:prstGeom prst="rect">
            <a:avLst/>
          </a:prstGeom>
          <a:noFill/>
          <a:ln/>
        </p:spPr>
        <p:txBody>
          <a:bodyPr wrap="square" lIns="0" tIns="0" rIns="0" bIns="0" rtlCol="0" anchor="t"/>
          <a:lstStyle/>
          <a:p>
            <a:pPr indent="0" marL="0">
              <a:buNone/>
            </a:pPr>
            <a:r>
              <a:rPr lang="en-US" sz="2600" dirty="0">
                <a:solidFill>
                  <a:srgbClr val="8F8F8F"/>
                </a:solidFill>
                <a:latin typeface="Calibri Light" pitchFamily="34" charset="0"/>
                <a:ea typeface="Calibri Light" pitchFamily="34" charset="-122"/>
                <a:cs typeface="Calibri Light" pitchFamily="34" charset="-120"/>
              </a:rPr>
              <a:t>04</a:t>
            </a:r>
            <a:endParaRPr lang="en-US" sz="2600" dirty="0"/>
          </a:p>
        </p:txBody>
      </p:sp>
      <p:sp>
        <p:nvSpPr>
          <p:cNvPr id="11" name="Text 9"/>
          <p:cNvSpPr txBox="1"/>
          <p:nvPr/>
        </p:nvSpPr>
        <p:spPr>
          <a:xfrm>
            <a:off x="1417320" y="5321808"/>
            <a:ext cx="10180015" cy="914400"/>
          </a:xfrm>
          <a:prstGeom prst="rect">
            <a:avLst/>
          </a:prstGeom>
          <a:noFill/>
          <a:ln/>
        </p:spPr>
        <p:txBody>
          <a:bodyPr wrap="square" lIns="0" tIns="0" rIns="0" bIns="0" rtlCol="0" anchor="t"/>
          <a:lstStyle/>
          <a:p>
            <a:pPr indent="0" marL="0">
              <a:buNone/>
            </a:pPr>
            <a:r>
              <a:rPr lang="en-US" sz="1800" dirty="0">
                <a:solidFill>
                  <a:srgbClr val="1C191A"/>
                </a:solidFill>
                <a:latin typeface="Georgia" pitchFamily="34" charset="0"/>
                <a:ea typeface="Georgia" pitchFamily="34" charset="-122"/>
                <a:cs typeface="Georgia" pitchFamily="34" charset="-120"/>
              </a:rPr>
              <a:t>Where in your work does someone audit only a sample, and what follows a catch?</a:t>
            </a:r>
            <a:endParaRPr lang="en-US" sz="1800" dirty="0"/>
          </a:p>
        </p:txBody>
      </p:sp>
      <p:sp>
        <p:nvSpPr>
          <p:cNvPr id="12" name="Text 10"/>
          <p:cNvSpPr txBox="1"/>
          <p:nvPr/>
        </p:nvSpPr>
        <p:spPr>
          <a:xfrm>
            <a:off x="11368735" y="6400800"/>
            <a:ext cx="457200" cy="274320"/>
          </a:xfrm>
          <a:prstGeom prst="rect">
            <a:avLst/>
          </a:prstGeom>
          <a:noFill/>
          <a:ln/>
        </p:spPr>
        <p:txBody>
          <a:bodyPr wrap="square" lIns="0" tIns="0" rIns="0" bIns="0" rtlCol="0" anchor="ctr"/>
          <a:lstStyle/>
          <a:p>
            <a:pPr algn="r" indent="0" marL="0">
              <a:buNone/>
            </a:pPr>
            <a:r>
              <a:rPr lang="en-US" sz="1000" dirty="0">
                <a:solidFill>
                  <a:srgbClr val="1C191A"/>
                </a:solidFill>
                <a:latin typeface="Calibri" pitchFamily="34" charset="0"/>
                <a:ea typeface="Calibri" pitchFamily="34" charset="-122"/>
                <a:cs typeface="Calibri" pitchFamily="34" charset="-120"/>
              </a:rPr>
              <a:t>15</a:t>
            </a:r>
            <a:endParaRPr lang="en-US" sz="1000" dirty="0"/>
          </a:p>
        </p:txBody>
      </p:sp>
    </p:spTree>
  </p:cSld>
  <p:clrMapOvr>
    <a:masterClrMapping/>
  </p:clrMapOvr>
</p:sld>
</file>

<file path=ppt/slides/slide16.xml><?xml version="1.0" encoding="utf-8"?>
<p:sld xmlns:a="http://schemas.openxmlformats.org/drawingml/2006/main" xmlns:r="http://schemas.openxmlformats.org/officeDocument/2006/relationships" xmlns:p="http://schemas.openxmlformats.org/presentationml/2006/main">
  <p:cSld name="Slide 16">
    <p:bg>
      <p:bgPr>
        <a:solidFill>
          <a:srgbClr val="29343A"/>
        </a:solidFill>
      </p:bgPr>
    </p:bg>
    <p:spTree>
      <p:nvGrpSpPr>
        <p:cNvPr id="1" name=""/>
        <p:cNvGrpSpPr/>
        <p:nvPr/>
      </p:nvGrpSpPr>
      <p:grpSpPr>
        <a:xfrm>
          <a:off x="0" y="0"/>
          <a:ext cx="0" cy="0"/>
          <a:chOff x="0" y="0"/>
          <a:chExt cx="0" cy="0"/>
        </a:xfrm>
      </p:grpSpPr>
      <p:sp>
        <p:nvSpPr>
          <p:cNvPr id="2" name="Text 0"/>
          <p:cNvSpPr txBox="1"/>
          <p:nvPr/>
        </p:nvSpPr>
        <p:spPr>
          <a:xfrm>
            <a:off x="1828800" y="1828800"/>
            <a:ext cx="8534095" cy="2194560"/>
          </a:xfrm>
          <a:prstGeom prst="rect">
            <a:avLst/>
          </a:prstGeom>
          <a:noFill/>
          <a:ln/>
        </p:spPr>
        <p:txBody>
          <a:bodyPr wrap="square" lIns="0" tIns="0" rIns="0" bIns="0" rtlCol="0" anchor="b"/>
          <a:lstStyle/>
          <a:p>
            <a:pPr algn="ctr" indent="0" marL="0">
              <a:lnSpc>
                <a:spcPct val="90000"/>
              </a:lnSpc>
              <a:buNone/>
            </a:pPr>
            <a:r>
              <a:rPr lang="en-US" sz="7200" dirty="0">
                <a:solidFill>
                  <a:srgbClr val="F0F0F0"/>
                </a:solidFill>
                <a:latin typeface="Calibri" pitchFamily="34" charset="0"/>
                <a:ea typeface="Calibri" pitchFamily="34" charset="-122"/>
                <a:cs typeface="Calibri" pitchFamily="34" charset="-120"/>
              </a:rPr>
              <a:t>Thank You</a:t>
            </a:r>
            <a:endParaRPr lang="en-US" sz="7200" dirty="0"/>
          </a:p>
        </p:txBody>
      </p:sp>
      <p:sp>
        <p:nvSpPr>
          <p:cNvPr id="3" name="Shape 1"/>
          <p:cNvSpPr/>
          <p:nvPr/>
        </p:nvSpPr>
        <p:spPr>
          <a:xfrm>
            <a:off x="4312768" y="4297680"/>
            <a:ext cx="3566160" cy="118872"/>
          </a:xfrm>
          <a:prstGeom prst="rect">
            <a:avLst/>
          </a:prstGeom>
          <a:solidFill>
            <a:srgbClr val="B09E88"/>
          </a:solidFill>
          <a:ln w="12700">
            <a:solidFill>
              <a:srgbClr val="B09E88"/>
            </a:solidFill>
            <a:prstDash val="solid"/>
          </a:ln>
        </p:spPr>
      </p:sp>
      <p:sp>
        <p:nvSpPr>
          <p:cNvPr id="4" name="Text 2"/>
          <p:cNvSpPr txBox="1"/>
          <p:nvPr/>
        </p:nvSpPr>
        <p:spPr>
          <a:xfrm rot="5400000">
            <a:off x="9631375" y="2971800"/>
            <a:ext cx="3200400" cy="457200"/>
          </a:xfrm>
          <a:prstGeom prst="rect">
            <a:avLst/>
          </a:prstGeom>
          <a:noFill/>
          <a:ln/>
        </p:spPr>
        <p:txBody>
          <a:bodyPr wrap="square" lIns="0" tIns="0" rIns="0" bIns="0" rtlCol="0" anchor="ctr"/>
          <a:lstStyle/>
          <a:p>
            <a:pPr algn="ctr" indent="0" marL="0">
              <a:buNone/>
            </a:pPr>
            <a:r>
              <a:rPr lang="en-US" sz="1400" dirty="0">
                <a:solidFill>
                  <a:srgbClr val="F0F0F0"/>
                </a:solidFill>
                <a:latin typeface="Calibri" pitchFamily="34" charset="0"/>
                <a:ea typeface="Calibri" pitchFamily="34" charset="-122"/>
                <a:cs typeface="Calibri" pitchFamily="34" charset="-120"/>
              </a:rPr>
              <a:t>13 October 2026</a:t>
            </a:r>
            <a:endParaRPr lang="en-US" sz="1400" dirty="0"/>
          </a:p>
        </p:txBody>
      </p:sp>
      <p:sp>
        <p:nvSpPr>
          <p:cNvPr id="5" name="Text 3"/>
          <p:cNvSpPr txBox="1"/>
          <p:nvPr/>
        </p:nvSpPr>
        <p:spPr>
          <a:xfrm>
            <a:off x="548640" y="5760720"/>
            <a:ext cx="4572000" cy="548640"/>
          </a:xfrm>
          <a:prstGeom prst="rect">
            <a:avLst/>
          </a:prstGeom>
          <a:noFill/>
          <a:ln/>
        </p:spPr>
        <p:txBody>
          <a:bodyPr wrap="square" lIns="0" tIns="0" rIns="0" bIns="0" rtlCol="0" anchor="b"/>
          <a:lstStyle/>
          <a:p>
            <a:pPr indent="0" marL="0">
              <a:buNone/>
            </a:pPr>
            <a:r>
              <a:rPr lang="en-US" sz="1100" dirty="0">
                <a:solidFill>
                  <a:srgbClr val="F0F0F0"/>
                </a:solidFill>
                <a:latin typeface="Calibri" pitchFamily="34" charset="0"/>
                <a:ea typeface="Calibri" pitchFamily="34" charset="-122"/>
                <a:cs typeface="Calibri" pitchFamily="34" charset="-120"/>
              </a:rPr>
              <a:t>Ameer Alhashemi</a:t>
            </a:r>
            <a:endParaRPr lang="en-US" sz="1100" dirty="0"/>
          </a:p>
          <a:p>
            <a:pPr indent="0" marL="0">
              <a:buNone/>
            </a:pPr>
            <a:r>
              <a:rPr lang="en-US" sz="1100" dirty="0">
                <a:solidFill>
                  <a:srgbClr val="F0F0F0"/>
                </a:solidFill>
                <a:latin typeface="Calibri" pitchFamily="34" charset="0"/>
                <a:ea typeface="Calibri" pitchFamily="34" charset="-122"/>
                <a:cs typeface="Calibri" pitchFamily="34" charset="-120"/>
              </a:rPr>
              <a:t>k26108758@kcl.ac.uk</a:t>
            </a:r>
            <a:endParaRPr lang="en-US" sz="1100" dirty="0"/>
          </a:p>
        </p:txBody>
      </p:sp>
      <p:sp>
        <p:nvSpPr>
          <p:cNvPr id="6" name="Text 4"/>
          <p:cNvSpPr txBox="1"/>
          <p:nvPr/>
        </p:nvSpPr>
        <p:spPr>
          <a:xfrm>
            <a:off x="11368735" y="6400800"/>
            <a:ext cx="457200" cy="274320"/>
          </a:xfrm>
          <a:prstGeom prst="rect">
            <a:avLst/>
          </a:prstGeom>
          <a:noFill/>
          <a:ln/>
        </p:spPr>
        <p:txBody>
          <a:bodyPr wrap="square" lIns="0" tIns="0" rIns="0" bIns="0" rtlCol="0" anchor="ctr"/>
          <a:lstStyle/>
          <a:p>
            <a:pPr algn="r" indent="0" marL="0">
              <a:buNone/>
            </a:pPr>
            <a:r>
              <a:rPr lang="en-US" sz="1000" dirty="0">
                <a:solidFill>
                  <a:srgbClr val="F0F0F0"/>
                </a:solidFill>
                <a:latin typeface="Calibri" pitchFamily="34" charset="0"/>
                <a:ea typeface="Calibri" pitchFamily="34" charset="-122"/>
                <a:cs typeface="Calibri" pitchFamily="34" charset="-120"/>
              </a:rPr>
              <a:t>16</a:t>
            </a:r>
            <a:endParaRPr lang="en-US" sz="1000" dirty="0"/>
          </a:p>
        </p:txBody>
      </p:sp>
    </p:spTree>
  </p:cSld>
  <p:clrMapOvr>
    <a:masterClrMapping/>
  </p:clrMapOvr>
</p:sld>
</file>

<file path=ppt/theme/theme1.xml><?xml version="1.0" encoding="utf-8"?>
<a:theme xmlns:a="http://schemas.openxmlformats.org/drawingml/2006/main" name="Office Theme">
  <a:themeElements>
    <a:clrScheme name="Office">
      <a:dk1>
        <a:sysClr val="windowText" lastClr="000000"/>
      </a:dk1>
      <a:lt1>
        <a:sysClr val="window" lastClr="FFFFFF"/>
      </a:lt1>
      <a:dk2>
        <a:srgbClr val="44546A"/>
      </a:dk2>
      <a:lt2>
        <a:srgbClr val="E7E6E6"/>
      </a:lt2>
      <a:accent1>
        <a:srgbClr val="4472C4"/>
      </a:accent1>
      <a:accent2>
        <a:srgbClr val="ED7D31"/>
      </a:accent2>
      <a:accent3>
        <a:srgbClr val="A5A5A5"/>
      </a:accent3>
      <a:accent4>
        <a:srgbClr val="FFC000"/>
      </a:accent4>
      <a:accent5>
        <a:srgbClr val="5B9BD5"/>
      </a:accent5>
      <a:accent6>
        <a:srgbClr val="70AD47"/>
      </a:accent6>
      <a:hlink>
        <a:srgbClr val="0563C1"/>
      </a:hlink>
      <a:folHlink>
        <a:srgbClr val="954F72"/>
      </a:folHlink>
    </a:clrScheme>
    <a:fontScheme name="Office">
      <a:majorFont>
        <a:latin typeface="Georgia"/>
        <a:ea typeface=""/>
        <a:cs typeface=""/>
        <a:font script="Jpan" typeface="游ゴシック Light"/>
        <a:font script="Hang" typeface="맑은 고딕"/>
        <a:font script="Hans" typeface="等线 Light"/>
        <a:font script="Hant" typeface="新細明體"/>
        <a:font script="Arab" typeface="Times New Roman"/>
        <a:font script="Hebr" typeface="Times New Roman"/>
        <a:font script="Thai" typeface="Angsana New"/>
        <a:font script="Ethi" typeface="Nyala"/>
        <a:font script="Beng" typeface="Vrinda"/>
        <a:font script="Gujr" typeface="Shruti"/>
        <a:font script="Khmr" typeface="MoolBoran"/>
        <a:font script="Knda" typeface="Tunga"/>
        <a:font script="Guru" typeface="Raavi"/>
        <a:font script="Cans" typeface="Euphemia"/>
        <a:font script="Cher" typeface="Plantagenet Cherokee"/>
        <a:font script="Yiii" typeface="Microsoft Yi Baiti"/>
        <a:font script="Tibt" typeface="Microsoft Himalaya"/>
        <a:font script="Thaa" typeface="MV Boli"/>
        <a:font script="Deva" typeface="Mangal"/>
        <a:font script="Telu" typeface="Gautami"/>
        <a:font script="Taml" typeface="Latha"/>
        <a:font script="Syrc" typeface="Estrangelo Edessa"/>
        <a:font script="Orya" typeface="Kalinga"/>
        <a:font script="Mlym" typeface="Kartika"/>
        <a:font script="Laoo" typeface="DokChampa"/>
        <a:font script="Sinh" typeface="Iskoola Pota"/>
        <a:font script="Mong" typeface="Mongolian Baiti"/>
        <a:font script="Viet" typeface="Times New Roman"/>
        <a:font script="Uigh" typeface="Microsoft Uighur"/>
        <a:font script="Geor" typeface="Sylfaen"/>
        <a:font script="Armn" typeface="Arial"/>
        <a:font script="Bugi" typeface="Leelawadee UI"/>
        <a:font script="Bopo" typeface="Microsoft JhengHei"/>
        <a:font script="Java" typeface="Javanese Text"/>
        <a:font script="Lisu" typeface="Segoe UI"/>
        <a:font script="Mymr" typeface="Myanmar Text"/>
        <a:font script="Nkoo" typeface="Ebrima"/>
        <a:font script="Olck" typeface="Nirmala UI"/>
        <a:font script="Osma" typeface="Ebrima"/>
        <a:font script="Phag" typeface="Phagspa"/>
        <a:font script="Syrn" typeface="Estrangelo Edessa"/>
        <a:font script="Syrj" typeface="Estrangelo Edessa"/>
        <a:font script="Syre" typeface="Estrangelo Edessa"/>
        <a:font script="Sora" typeface="Nirmala UI"/>
        <a:font script="Tale" typeface="Microsoft Tai Le"/>
        <a:font script="Talu" typeface="Microsoft New Tai Lue"/>
        <a:font script="Tfng" typeface="Ebrima"/>
      </a:majorFont>
      <a:minorFont>
        <a:latin typeface="Calibri"/>
        <a:ea typeface=""/>
        <a:cs typeface=""/>
        <a:font script="Jpan" typeface="游ゴシック"/>
        <a:font script="Hang" typeface="맑은 고딕"/>
        <a:font script="Hans" typeface="等线"/>
        <a:font script="Hant" typeface="新細明體"/>
        <a:font script="Arab" typeface="Arial"/>
        <a:font script="Hebr" typeface="Arial"/>
        <a:font script="Thai" typeface="Cordia New"/>
        <a:font script="Ethi" typeface="Nyala"/>
        <a:font script="Beng" typeface="Vrinda"/>
        <a:font script="Gujr" typeface="Shruti"/>
        <a:font script="Khmr" typeface="DaunPenh"/>
        <a:font script="Knda" typeface="Tunga"/>
        <a:font script="Guru" typeface="Raavi"/>
        <a:font script="Cans" typeface="Euphemia"/>
        <a:font script="Cher" typeface="Plantagenet Cherokee"/>
        <a:font script="Yiii" typeface="Microsoft Yi Baiti"/>
        <a:font script="Tibt" typeface="Microsoft Himalaya"/>
        <a:font script="Thaa" typeface="MV Boli"/>
        <a:font script="Deva" typeface="Mangal"/>
        <a:font script="Telu" typeface="Gautami"/>
        <a:font script="Taml" typeface="Latha"/>
        <a:font script="Syrc" typeface="Estrangelo Edessa"/>
        <a:font script="Orya" typeface="Kalinga"/>
        <a:font script="Mlym" typeface="Kartika"/>
        <a:font script="Laoo" typeface="DokChampa"/>
        <a:font script="Sinh" typeface="Iskoola Pota"/>
        <a:font script="Mong" typeface="Mongolian Baiti"/>
        <a:font script="Viet" typeface="Arial"/>
        <a:font script="Uigh" typeface="Microsoft Uighur"/>
        <a:font script="Geor" typeface="Sylfaen"/>
        <a:font script="Armn" typeface="Arial"/>
        <a:font script="Bugi" typeface="Leelawadee UI"/>
        <a:font script="Bopo" typeface="Microsoft JhengHei"/>
        <a:font script="Java" typeface="Javanese Text"/>
        <a:font script="Lisu" typeface="Segoe UI"/>
        <a:font script="Mymr" typeface="Myanmar Text"/>
        <a:font script="Nkoo" typeface="Ebrima"/>
        <a:font script="Olck" typeface="Nirmala UI"/>
        <a:font script="Osma" typeface="Ebrima"/>
        <a:font script="Phag" typeface="Phagspa"/>
        <a:font script="Syrn" typeface="Estrangelo Edessa"/>
        <a:font script="Syrj" typeface="Estrangelo Edessa"/>
        <a:font script="Syre" typeface="Estrangelo Edessa"/>
        <a:font script="Sora" typeface="Nirmala UI"/>
        <a:font script="Tale" typeface="Microsoft Tai Le"/>
        <a:font script="Talu" typeface="Microsoft New Tai Lue"/>
        <a:font script="Tfng" typeface="Ebrima"/>
      </a:minorFont>
    </a:fontScheme>
    <a:fmtScheme name="Office">
      <a:fillStyleLst>
        <a:solidFill>
          <a:schemeClr val="phClr"/>
        </a:solidFill>
        <a:gradFill rotWithShape="1">
          <a:gsLst>
            <a:gs pos="0">
              <a:schemeClr val="phClr">
                <a:lumMod val="110000"/>
                <a:satMod val="105000"/>
                <a:tint val="67000"/>
              </a:schemeClr>
            </a:gs>
            <a:gs pos="50000">
              <a:schemeClr val="phClr">
                <a:lumMod val="105000"/>
                <a:satMod val="103000"/>
                <a:tint val="73000"/>
              </a:schemeClr>
            </a:gs>
            <a:gs pos="100000">
              <a:schemeClr val="phClr">
                <a:lumMod val="105000"/>
                <a:satMod val="109000"/>
                <a:tint val="81000"/>
              </a:schemeClr>
            </a:gs>
          </a:gsLst>
          <a:lin ang="5400000" scaled="0"/>
        </a:gradFill>
        <a:gradFill rotWithShape="1">
          <a:gsLst>
            <a:gs pos="0">
              <a:schemeClr val="phClr">
                <a:satMod val="103000"/>
                <a:lumMod val="102000"/>
                <a:tint val="94000"/>
              </a:schemeClr>
            </a:gs>
            <a:gs pos="50000">
              <a:schemeClr val="phClr">
                <a:satMod val="110000"/>
                <a:lumMod val="100000"/>
                <a:shade val="100000"/>
              </a:schemeClr>
            </a:gs>
            <a:gs pos="100000">
              <a:schemeClr val="phClr">
                <a:lumMod val="99000"/>
                <a:satMod val="120000"/>
                <a:shade val="78000"/>
              </a:schemeClr>
            </a:gs>
          </a:gsLst>
          <a:lin ang="5400000" scaled="0"/>
        </a:gradFill>
      </a:fillStyleLst>
      <a:lnStyleLst>
        <a:ln w="6350" cap="flat" cmpd="sng" algn="ctr">
          <a:solidFill>
            <a:schemeClr val="phClr"/>
          </a:solidFill>
          <a:prstDash val="solid"/>
          <a:miter lim="800000"/>
        </a:ln>
        <a:ln w="12700" cap="flat" cmpd="sng" algn="ctr">
          <a:solidFill>
            <a:schemeClr val="phClr"/>
          </a:solidFill>
          <a:prstDash val="solid"/>
          <a:miter lim="800000"/>
        </a:ln>
        <a:ln w="19050" cap="flat" cmpd="sng" algn="ctr">
          <a:solidFill>
            <a:schemeClr val="phClr"/>
          </a:solidFill>
          <a:prstDash val="solid"/>
          <a:miter lim="800000"/>
        </a:ln>
      </a:lnStyleLst>
      <a:effectStyleLst>
        <a:effectStyle>
          <a:effectLst/>
        </a:effectStyle>
        <a:effectStyle>
          <a:effectLst/>
        </a:effectStyle>
        <a:effectStyle>
          <a:effectLst>
            <a:outerShdw blurRad="57150" dist="19050" dir="5400000" algn="ctr" rotWithShape="0">
              <a:srgbClr val="000000">
                <a:alpha val="63000"/>
              </a:srgbClr>
            </a:outerShdw>
          </a:effectLst>
        </a:effectStyle>
      </a:effectStyleLst>
      <a:bgFillStyleLst>
        <a:solidFill>
          <a:schemeClr val="phClr"/>
        </a:solidFill>
        <a:solidFill>
          <a:schemeClr val="phClr">
            <a:tint val="95000"/>
            <a:satMod val="170000"/>
          </a:schemeClr>
        </a:solidFill>
        <a:gradFill rotWithShape="1">
          <a:gsLst>
            <a:gs pos="0">
              <a:schemeClr val="phClr">
                <a:tint val="93000"/>
                <a:satMod val="150000"/>
                <a:shade val="98000"/>
                <a:lumMod val="102000"/>
              </a:schemeClr>
            </a:gs>
            <a:gs pos="50000">
              <a:schemeClr val="phClr">
                <a:tint val="98000"/>
                <a:satMod val="130000"/>
                <a:shade val="90000"/>
                <a:lumMod val="103000"/>
              </a:schemeClr>
            </a:gs>
            <a:gs pos="100000">
              <a:schemeClr val="phClr">
                <a:shade val="63000"/>
                <a:satMod val="120000"/>
              </a:schemeClr>
            </a:gs>
          </a:gsLst>
          <a:lin ang="5400000" scaled="0"/>
        </a:gradFill>
      </a:bgFillStyleLst>
    </a:fmtScheme>
  </a:themeElements>
  <a:objectDefaults/>
  <a:extraClrSchemeLst/>
  <a:extLst>
    <a:ext uri="{05A4C25C-085E-4340-85A3-A5531E510DB2}">
      <thm15:themeFamily xmlns:thm15="http://schemas.microsoft.com/office/thememl/2012/main" name="Office Theme" id="{62F939B6-93AF-4DB8-9C6B-D6C7DFDC589F}" vid="{4A3C46E8-61CC-4603-A589-7422A47A8E4A}"/>
    </a:ext>
  </a:extLst>
</a:theme>
</file>

<file path=docProps/app.xml><?xml version="1.0" encoding="utf-8"?>
<Properties xmlns="http://schemas.openxmlformats.org/officeDocument/2006/extended-properties" xmlns:vt="http://schemas.openxmlformats.org/officeDocument/2006/docPropsVTypes">
  <TotalTime>0</TotalTime>
  <Words>0</Words>
  <Application>Microsoft Office PowerPoint</Application>
  <PresentationFormat>On-screen Show (16:9)</PresentationFormat>
  <Paragraphs>0</Paragraphs>
  <Slides>16</Slides>
  <Notes>16</Notes>
  <HiddenSlides>0</HiddenSlides>
  <MMClips>0</MMClips>
  <ScaleCrop>false</ScaleCrop>
  <HeadingPairs>
    <vt:vector size="6" baseType="variant">
      <vt:variant>
        <vt:lpstr>Fonts Used</vt:lpstr>
      </vt:variant>
      <vt:variant>
        <vt:i4>2</vt:i4>
      </vt:variant>
      <vt:variant>
        <vt:lpstr>Theme</vt:lpstr>
      </vt:variant>
      <vt:variant>
        <vt:i4>1</vt:i4>
      </vt:variant>
      <vt:variant>
        <vt:lpstr>Slide Titles</vt:lpstr>
      </vt:variant>
      <vt:variant>
        <vt:i4>16</vt:i4>
      </vt:variant>
    </vt:vector>
  </HeadingPairs>
  <TitlesOfParts>
    <vt:vector size="19" baseType="lpstr">
      <vt:lpstr>Arial</vt:lpstr>
      <vt:lpstr>Calibri</vt:lpstr>
      <vt:lpstr>Office Theme</vt:lpstr>
      <vt:lpstr>Slide 1</vt:lpstr>
      <vt:lpstr>Slide 2</vt:lpstr>
      <vt:lpstr>Slide 3</vt:lpstr>
      <vt:lpstr>Slide 4</vt:lpstr>
      <vt:lpstr>Slide 5</vt:lpstr>
      <vt:lpstr>Slide 6</vt:lpstr>
      <vt:lpstr>Slide 7</vt:lpstr>
      <vt:lpstr>Slide 8</vt:lpstr>
      <vt:lpstr>Slide 9</vt:lpstr>
      <vt:lpstr>Slide 10</vt:lpstr>
      <vt:lpstr>Slide 11</vt:lpstr>
      <vt:lpstr>Slide 12</vt:lpstr>
      <vt:lpstr>Slide 13</vt:lpstr>
      <vt:lpstr>Slide 14</vt:lpstr>
      <vt:lpstr>Slide 15</vt:lpstr>
      <vt:lpstr>Slide 16</vt:lpstr>
    </vt:vector>
  </TitlesOfParts>
  <Company>PptxGenJS</Company>
  <LinksUpToDate>false</LinksUpToDate>
  <SharedDoc>false</SharedDoc>
  <HyperlinksChanged>false</HyperlinksChanged>
  <AppVersion>16.0000</AppVersion>
</Properties>
</file>

<file path=docProps/core.xml><?xml version="1.0" encoding="utf-8"?>
<cp:coreProperties xmlns:cp="http://schemas.openxmlformats.org/package/2006/metadata/core-properties" xmlns:dc="http://purl.org/dc/elements/1.1/" xmlns:dcterms="http://purl.org/dc/terms/" xmlns:dcmitype="http://purl.org/dc/dcmitype/" xmlns:xsi="http://www.w3.org/2001/XMLSchema-instance">
  <dc:title>Penalties Sized to the Gain: PhD catch-up</dc:title>
  <dc:subject>PptxGenJS Presentation</dc:subject>
  <dc:creator>Ameer Alhashemi</dc:creator>
  <cp:lastModifiedBy>Ameer Alhashemi</cp:lastModifiedBy>
  <cp:revision>1</cp:revision>
  <dcterms:created xsi:type="dcterms:W3CDTF">2026-10-12T22:22:43Z</dcterms:created>
  <dcterms:modified xsi:type="dcterms:W3CDTF">2026-10-12T22:22:43Z</dcterms:modified>
</cp:coreProperties>
</file>