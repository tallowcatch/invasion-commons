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9" d="100"/>
          <a:sy n="119" d="100"/>
        </p:scale>
        <p:origin x="216" y="2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4361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all. My project asks one question: when do random audits stop AI agents from over-using a shared resource? And can we predict the fine that stops them?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overview first. AI agents increasingly share limited resources, like compute, energy and budgets, and an overseer can only audit a few of their actions. So I built an audited shared resource: six agents, a reviewer who sets each agent's allowance, and random audits every round. I tested two things: what a caught agent should face (a fine, a memory of the offence, or both), and whether the stopping fine can be predicted in advance. Short answer: audits only work through consequences, and the stopping fine is predictable from what an agent gains by over-taking.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idea is an allowance: what an agent may take this round. Taking more, which I call over-taking, helps that agent and costs everyone else. Auditing everything is too costly, so a random few are audited, like tax inspections. I run this in three settings where harm spreads differently: one shared stock, damage to neighbours on a ring, and pollution that is only harmful in combination. If a result holds in all three, it doesn't hinge on one structure.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three questions. What must follow a catch? Can we predict the stopping fine? And do language models follow the same rule?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round. Agents request a share. The reviewer predicts the effect and scales everyone by the same factor if needed. Agents then take their allowance, or more. The resource regrows, and random audits check a few agents. Harm means the resource dropping below half capacity: the maximum-sustainable-yield level, where it regrows fastest.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 has four steps. Play without fines and measure the gain from one round of over-taking. Predict the fine that should stop it. Freeze that prediction. Then test it on new games. The rule is Becker's: the expected fine, which is the audit probability times the fine, should beat the gain. With a one-in-six audit chance and a 30-tonne fine, that's 5 tonnes expected, just above the roughly 4.5 tonnes the models gained.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one, with programmed agents that under-report. Audits that only correct the caught round remove just 10 to 46 percent of the harm. Add memory, so the reviewer remembers each caught lie and adjusts later allowances, and harm falls in all 12 settings. In Fishery it goes from up to 99 percent of rounds below half capacity to under 3. A catch needs a consequence.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two: the threshold is predictable. From games without audits I predicted where programmed cheaters would stop, and 5 of 5 new settings landed within one step. To be fair, these agents optimise by design, so this mainly validates the method.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three: two shortcuts backfire. Cutting everyone's allowance to absorb the cheaters actually let cheaters gain more than with no audits at all. And always auditing the largest report caught only a quarter of the liars, against all of them with random audits. Shortcuts that save audits create blind spots.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language models. Four open models ran four of the six fishers, over 520 games. Two over-took on purpose: gpt-oss and Nemotron. Before testing, I predicted both would stop at 30 tonnes. Nemotron stopped at exactly 30, and gpt-oss one step early, at 24. A side note: a small fine made gpt-oss over-take more, as if the fine became a price.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five: what predicts the stop is the gain from one round, not the gain over the whole game, which was near zero or even negative. Both models also stopped earlier than a perfect optimiser would. That tells us what predicts the stop, not necessarily why they stop.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protects the lake even without a fine. Same audits in both conditions, a one-in-six chance, no fine. With memory, over-taking fell from 55 to 20 percent of decisions for gpt-oss and from 65 to 33 for Nemotron, so it reduced over-taking but didn't stop it. The lake did much better: below half capacity in about a fifth of rounds instead of nine in ten for gpt-oss, and no lake collapsed. The two 20s for gpt-oss are a coincidence: one counts decisions, the other counts rounds. A fine above the gain is what stops over-taking completely.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running now, so the boxes are blank. The big one: do models respond to the expected fine, or just to the size of the fine? I hold the expected fine fixed and change the mix of audit probability and fine. The others test whether the prediction transfers to new games and reworded rules, what happens with no audits at all, and whether over-taking spreads to neighbours.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a workshop paper and arXiv in November, then a main conference in January. Every study was pre-registered before its code, and I report the predictions that failed.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love your take on these.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5F4F2"/>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960120" y="2011680"/>
            <a:ext cx="10058400" cy="1188720"/>
          </a:xfrm>
          <a:prstGeom prst="rect">
            <a:avLst/>
          </a:prstGeom>
          <a:noFill/>
          <a:ln/>
        </p:spPr>
        <p:txBody>
          <a:bodyPr wrap="square" lIns="0" tIns="0" rIns="0" bIns="0" rtlCol="0" anchor="b"/>
          <a:lstStyle/>
          <a:p>
            <a:pPr marL="0" indent="0">
              <a:buNone/>
            </a:pPr>
            <a:r>
              <a:rPr lang="en-US" sz="5400" dirty="0">
                <a:solidFill>
                  <a:srgbClr val="2B2F33"/>
                </a:solidFill>
                <a:latin typeface="Calibri Light" pitchFamily="34" charset="0"/>
                <a:ea typeface="Calibri Light" pitchFamily="34" charset="-122"/>
                <a:cs typeface="Calibri Light" pitchFamily="34" charset="-120"/>
              </a:rPr>
              <a:t>Penalties Sized to the Gain</a:t>
            </a:r>
            <a:endParaRPr lang="en-US" sz="5400" dirty="0"/>
          </a:p>
        </p:txBody>
      </p:sp>
      <p:sp>
        <p:nvSpPr>
          <p:cNvPr id="3" name="Text 1"/>
          <p:cNvSpPr txBox="1"/>
          <p:nvPr/>
        </p:nvSpPr>
        <p:spPr>
          <a:xfrm>
            <a:off x="960120" y="3291840"/>
            <a:ext cx="7863840" cy="777240"/>
          </a:xfrm>
          <a:prstGeom prst="rect">
            <a:avLst/>
          </a:prstGeom>
          <a:noFill/>
          <a:ln/>
        </p:spPr>
        <p:txBody>
          <a:bodyPr wrap="square" lIns="0" tIns="0" rIns="0" bIns="0" rtlCol="0" anchor="t"/>
          <a:lstStyle/>
          <a:p>
            <a:pPr marL="0" indent="0">
              <a:buNone/>
            </a:pPr>
            <a:r>
              <a:rPr lang="en-US" sz="1900" i="1" dirty="0">
                <a:solidFill>
                  <a:srgbClr val="2B2F33"/>
                </a:solidFill>
                <a:latin typeface="Calibri" pitchFamily="34" charset="0"/>
                <a:ea typeface="Calibri" pitchFamily="34" charset="-122"/>
                <a:cs typeface="Calibri" pitchFamily="34" charset="-120"/>
              </a:rPr>
              <a:t>When do random audits stop AI agents from over-using a shared resource?</a:t>
            </a:r>
            <a:endParaRPr lang="en-US" sz="1900" dirty="0"/>
          </a:p>
        </p:txBody>
      </p:sp>
      <p:sp>
        <p:nvSpPr>
          <p:cNvPr id="4" name="Shape 2"/>
          <p:cNvSpPr/>
          <p:nvPr/>
        </p:nvSpPr>
        <p:spPr>
          <a:xfrm>
            <a:off x="960120" y="4206240"/>
            <a:ext cx="3383280" cy="109728"/>
          </a:xfrm>
          <a:prstGeom prst="rect">
            <a:avLst/>
          </a:prstGeom>
          <a:solidFill>
            <a:srgbClr val="131B28"/>
          </a:solidFill>
          <a:ln w="12700">
            <a:solidFill>
              <a:srgbClr val="131B28"/>
            </a:solidFill>
            <a:prstDash val="solid"/>
          </a:ln>
        </p:spPr>
        <p:txBody>
          <a:bodyPr/>
          <a:lstStyle/>
          <a:p>
            <a:endParaRPr lang="en-GB"/>
          </a:p>
        </p:txBody>
      </p:sp>
      <p:sp>
        <p:nvSpPr>
          <p:cNvPr id="5" name="Text 3"/>
          <p:cNvSpPr txBox="1"/>
          <p:nvPr/>
        </p:nvSpPr>
        <p:spPr>
          <a:xfrm>
            <a:off x="6522415" y="5440680"/>
            <a:ext cx="4937760" cy="822960"/>
          </a:xfrm>
          <a:prstGeom prst="rect">
            <a:avLst/>
          </a:prstGeom>
          <a:noFill/>
          <a:ln/>
        </p:spPr>
        <p:txBody>
          <a:bodyPr wrap="square" lIns="0" tIns="0" rIns="0" bIns="0" rtlCol="0" anchor="b"/>
          <a:lstStyle/>
          <a:p>
            <a:pPr marL="0" indent="0" algn="r">
              <a:buNone/>
            </a:pPr>
            <a:r>
              <a:rPr lang="en-US" sz="1100" dirty="0">
                <a:solidFill>
                  <a:srgbClr val="1C191A"/>
                </a:solidFill>
                <a:latin typeface="Calibri" pitchFamily="34" charset="0"/>
                <a:ea typeface="Calibri" pitchFamily="34" charset="-122"/>
                <a:cs typeface="Calibri" pitchFamily="34" charset="-120"/>
              </a:rPr>
              <a:t>Ameer Alhashemi</a:t>
            </a:r>
            <a:endParaRPr lang="en-US" sz="1100" dirty="0"/>
          </a:p>
          <a:p>
            <a:pPr marL="0" indent="0" algn="r">
              <a:buNone/>
            </a:pPr>
            <a:r>
              <a:rPr lang="en-US" sz="1100" dirty="0">
                <a:solidFill>
                  <a:srgbClr val="1C191A"/>
                </a:solidFill>
                <a:latin typeface="Calibri" pitchFamily="34" charset="0"/>
                <a:ea typeface="Calibri" pitchFamily="34" charset="-122"/>
                <a:cs typeface="Calibri" pitchFamily="34" charset="-120"/>
              </a:rPr>
              <a:t>PhD catch-up</a:t>
            </a:r>
            <a:endParaRPr lang="en-US" sz="1100" dirty="0"/>
          </a:p>
          <a:p>
            <a:pPr marL="0" indent="0" algn="r">
              <a:buNone/>
            </a:pPr>
            <a:r>
              <a:rPr lang="en-US" sz="1100" dirty="0">
                <a:solidFill>
                  <a:srgbClr val="1C191A"/>
                </a:solidFill>
                <a:latin typeface="Calibri" pitchFamily="34" charset="0"/>
                <a:ea typeface="Calibri" pitchFamily="34" charset="-122"/>
                <a:cs typeface="Calibri" pitchFamily="34" charset="-120"/>
              </a:rPr>
              <a:t>King's College London, 13 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marL="0" indent="0" algn="l">
              <a:lnSpc>
                <a:spcPct val="95000"/>
              </a:lnSpc>
              <a:buNone/>
            </a:pPr>
            <a:r>
              <a:rPr lang="en-US" sz="3400" b="1" dirty="0">
                <a:solidFill>
                  <a:srgbClr val="062746"/>
                </a:solidFill>
                <a:latin typeface="Georgia" pitchFamily="34" charset="0"/>
                <a:ea typeface="Georgia" pitchFamily="34" charset="-122"/>
                <a:cs typeface="Georgia" pitchFamily="34" charset="-120"/>
              </a:rPr>
              <a:t>A Recap of my Work so Far</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Shape 2"/>
          <p:cNvSpPr/>
          <p:nvPr/>
        </p:nvSpPr>
        <p:spPr>
          <a:xfrm>
            <a:off x="548640" y="1682496"/>
            <a:ext cx="2567864" cy="3758184"/>
          </a:xfrm>
          <a:prstGeom prst="roundRect">
            <a:avLst>
              <a:gd name="adj" fmla="val 2849"/>
            </a:avLst>
          </a:prstGeom>
          <a:solidFill>
            <a:srgbClr val="FFFFFF"/>
          </a:solidFill>
          <a:ln w="9525">
            <a:solidFill>
              <a:srgbClr val="E9E7E3"/>
            </a:solidFill>
            <a:prstDash val="solid"/>
          </a:ln>
          <a:effectLst>
            <a:outerShdw blurRad="76200" dist="25400" dir="5400000" algn="bl" rotWithShape="0">
              <a:srgbClr val="000000">
                <a:alpha val="8000"/>
              </a:srgbClr>
            </a:outerShdw>
          </a:effectLst>
        </p:spPr>
        <p:txBody>
          <a:bodyPr/>
          <a:lstStyle/>
          <a:p>
            <a:endParaRPr lang="en-GB"/>
          </a:p>
        </p:txBody>
      </p:sp>
      <p:sp>
        <p:nvSpPr>
          <p:cNvPr id="5" name="Text 3"/>
          <p:cNvSpPr txBox="1"/>
          <p:nvPr/>
        </p:nvSpPr>
        <p:spPr>
          <a:xfrm>
            <a:off x="777240" y="1883664"/>
            <a:ext cx="2110664" cy="320040"/>
          </a:xfrm>
          <a:prstGeom prst="rect">
            <a:avLst/>
          </a:prstGeom>
          <a:noFill/>
          <a:ln/>
        </p:spPr>
        <p:txBody>
          <a:bodyPr wrap="square" lIns="0" tIns="0" rIns="0" bIns="0" rtlCol="0" anchor="ctr"/>
          <a:lstStyle/>
          <a:p>
            <a:pPr marL="0" indent="0">
              <a:buNone/>
            </a:pPr>
            <a:r>
              <a:rPr lang="en-US" sz="1300" kern="0" spc="100" dirty="0">
                <a:solidFill>
                  <a:srgbClr val="8F8F8F"/>
                </a:solidFill>
                <a:latin typeface="Calibri Light" pitchFamily="34" charset="0"/>
                <a:ea typeface="Calibri Light" pitchFamily="34" charset="-122"/>
                <a:cs typeface="Calibri Light" pitchFamily="34" charset="-120"/>
              </a:rPr>
              <a:t>01   WHY</a:t>
            </a:r>
            <a:endParaRPr lang="en-US" sz="1300" dirty="0"/>
          </a:p>
        </p:txBody>
      </p:sp>
      <p:sp>
        <p:nvSpPr>
          <p:cNvPr id="6" name="Text 4"/>
          <p:cNvSpPr txBox="1"/>
          <p:nvPr/>
        </p:nvSpPr>
        <p:spPr>
          <a:xfrm>
            <a:off x="777240" y="2276856"/>
            <a:ext cx="2110664" cy="676656"/>
          </a:xfrm>
          <a:prstGeom prst="rect">
            <a:avLst/>
          </a:prstGeom>
          <a:noFill/>
          <a:ln/>
        </p:spPr>
        <p:txBody>
          <a:bodyPr wrap="square" lIns="0" tIns="0" rIns="0" bIns="0" rtlCol="0" anchor="t"/>
          <a:lstStyle/>
          <a:p>
            <a:pPr marL="0" indent="0">
              <a:buNone/>
            </a:pPr>
            <a:r>
              <a:rPr lang="en-US" sz="1700" b="1" dirty="0">
                <a:solidFill>
                  <a:srgbClr val="062746"/>
                </a:solidFill>
                <a:latin typeface="Georgia" pitchFamily="34" charset="0"/>
                <a:ea typeface="Georgia" pitchFamily="34" charset="-122"/>
                <a:cs typeface="Georgia" pitchFamily="34" charset="-120"/>
              </a:rPr>
              <a:t>Oversight is sampled</a:t>
            </a:r>
            <a:endParaRPr lang="en-US" sz="1700" dirty="0"/>
          </a:p>
        </p:txBody>
      </p:sp>
      <p:sp>
        <p:nvSpPr>
          <p:cNvPr id="7" name="Text 5"/>
          <p:cNvSpPr txBox="1"/>
          <p:nvPr/>
        </p:nvSpPr>
        <p:spPr>
          <a:xfrm>
            <a:off x="777240" y="2999232"/>
            <a:ext cx="2110664" cy="2212848"/>
          </a:xfrm>
          <a:prstGeom prst="rect">
            <a:avLst/>
          </a:prstGeom>
          <a:noFill/>
          <a:ln/>
        </p:spPr>
        <p:txBody>
          <a:bodyPr wrap="square" lIns="0" tIns="0" rIns="0" bIns="0" rtlCol="0" anchor="t"/>
          <a:lstStyle/>
          <a:p>
            <a:pPr marL="0" indent="0">
              <a:buNone/>
            </a:pPr>
            <a:r>
              <a:rPr lang="en-US" sz="1350" dirty="0">
                <a:solidFill>
                  <a:srgbClr val="1C191A"/>
                </a:solidFill>
                <a:latin typeface="Calibri" pitchFamily="34" charset="0"/>
                <a:ea typeface="Calibri" pitchFamily="34" charset="-122"/>
                <a:cs typeface="Calibri" pitchFamily="34" charset="-120"/>
              </a:rPr>
              <a:t>AI agents increasingly share limited resources, such as compute, energy and budgets. An overseer can only audit a few of their actions.</a:t>
            </a:r>
            <a:endParaRPr lang="en-US" sz="1350" dirty="0"/>
          </a:p>
        </p:txBody>
      </p:sp>
      <p:sp>
        <p:nvSpPr>
          <p:cNvPr id="8" name="Shape 6"/>
          <p:cNvSpPr/>
          <p:nvPr/>
        </p:nvSpPr>
        <p:spPr>
          <a:xfrm>
            <a:off x="3390824" y="1682496"/>
            <a:ext cx="2567864" cy="3758184"/>
          </a:xfrm>
          <a:prstGeom prst="roundRect">
            <a:avLst>
              <a:gd name="adj" fmla="val 2849"/>
            </a:avLst>
          </a:prstGeom>
          <a:solidFill>
            <a:srgbClr val="FFFFFF"/>
          </a:solidFill>
          <a:ln w="9525">
            <a:solidFill>
              <a:srgbClr val="E9E7E3"/>
            </a:solidFill>
            <a:prstDash val="solid"/>
          </a:ln>
          <a:effectLst>
            <a:outerShdw blurRad="76200" dist="25400" dir="5400000" algn="bl" rotWithShape="0">
              <a:srgbClr val="000000">
                <a:alpha val="8000"/>
              </a:srgbClr>
            </a:outerShdw>
          </a:effectLst>
        </p:spPr>
        <p:txBody>
          <a:bodyPr/>
          <a:lstStyle/>
          <a:p>
            <a:endParaRPr lang="en-GB"/>
          </a:p>
        </p:txBody>
      </p:sp>
      <p:sp>
        <p:nvSpPr>
          <p:cNvPr id="9" name="Text 7"/>
          <p:cNvSpPr txBox="1"/>
          <p:nvPr/>
        </p:nvSpPr>
        <p:spPr>
          <a:xfrm>
            <a:off x="3619424" y="1883664"/>
            <a:ext cx="2110664" cy="320040"/>
          </a:xfrm>
          <a:prstGeom prst="rect">
            <a:avLst/>
          </a:prstGeom>
          <a:noFill/>
          <a:ln/>
        </p:spPr>
        <p:txBody>
          <a:bodyPr wrap="square" lIns="0" tIns="0" rIns="0" bIns="0" rtlCol="0" anchor="ctr"/>
          <a:lstStyle/>
          <a:p>
            <a:pPr marL="0" indent="0">
              <a:buNone/>
            </a:pPr>
            <a:r>
              <a:rPr lang="en-US" sz="1300" kern="0" spc="100" dirty="0">
                <a:solidFill>
                  <a:srgbClr val="8F8F8F"/>
                </a:solidFill>
                <a:latin typeface="Calibri Light" pitchFamily="34" charset="0"/>
                <a:ea typeface="Calibri Light" pitchFamily="34" charset="-122"/>
                <a:cs typeface="Calibri Light" pitchFamily="34" charset="-120"/>
              </a:rPr>
              <a:t>02   WHAT I BUILT</a:t>
            </a:r>
            <a:endParaRPr lang="en-US" sz="1300" dirty="0"/>
          </a:p>
        </p:txBody>
      </p:sp>
      <p:sp>
        <p:nvSpPr>
          <p:cNvPr id="10" name="Text 8"/>
          <p:cNvSpPr txBox="1"/>
          <p:nvPr/>
        </p:nvSpPr>
        <p:spPr>
          <a:xfrm>
            <a:off x="3619424" y="2276856"/>
            <a:ext cx="2110664" cy="676656"/>
          </a:xfrm>
          <a:prstGeom prst="rect">
            <a:avLst/>
          </a:prstGeom>
          <a:noFill/>
          <a:ln/>
        </p:spPr>
        <p:txBody>
          <a:bodyPr wrap="square" lIns="0" tIns="0" rIns="0" bIns="0" rtlCol="0" anchor="t"/>
          <a:lstStyle/>
          <a:p>
            <a:pPr marL="0" indent="0">
              <a:buNone/>
            </a:pPr>
            <a:r>
              <a:rPr lang="en-US" sz="1700" b="1" dirty="0">
                <a:solidFill>
                  <a:srgbClr val="062746"/>
                </a:solidFill>
                <a:latin typeface="Georgia" pitchFamily="34" charset="0"/>
                <a:ea typeface="Georgia" pitchFamily="34" charset="-122"/>
                <a:cs typeface="Georgia" pitchFamily="34" charset="-120"/>
              </a:rPr>
              <a:t>An audited shared resource</a:t>
            </a:r>
            <a:endParaRPr lang="en-US" sz="1700" dirty="0"/>
          </a:p>
        </p:txBody>
      </p:sp>
      <p:sp>
        <p:nvSpPr>
          <p:cNvPr id="11" name="Text 9"/>
          <p:cNvSpPr txBox="1"/>
          <p:nvPr/>
        </p:nvSpPr>
        <p:spPr>
          <a:xfrm>
            <a:off x="3619424" y="2999232"/>
            <a:ext cx="2110664" cy="2212848"/>
          </a:xfrm>
          <a:prstGeom prst="rect">
            <a:avLst/>
          </a:prstGeom>
          <a:noFill/>
          <a:ln/>
        </p:spPr>
        <p:txBody>
          <a:bodyPr wrap="square" lIns="0" tIns="0" rIns="0" bIns="0" rtlCol="0" anchor="t"/>
          <a:lstStyle/>
          <a:p>
            <a:pPr marL="0" indent="0">
              <a:buNone/>
            </a:pPr>
            <a:r>
              <a:rPr lang="en-US" sz="1350" dirty="0">
                <a:solidFill>
                  <a:srgbClr val="1C191A"/>
                </a:solidFill>
                <a:latin typeface="Calibri" pitchFamily="34" charset="0"/>
                <a:ea typeface="Calibri" pitchFamily="34" charset="-122"/>
                <a:cs typeface="Calibri" pitchFamily="34" charset="-120"/>
              </a:rPr>
              <a:t>Six agents use one renewable resource. A reviewer sets each agent's allowance, and with random audits, checks a few agents each round.</a:t>
            </a:r>
            <a:endParaRPr lang="en-US" sz="1350" dirty="0"/>
          </a:p>
        </p:txBody>
      </p:sp>
      <p:sp>
        <p:nvSpPr>
          <p:cNvPr id="12" name="Shape 10"/>
          <p:cNvSpPr/>
          <p:nvPr/>
        </p:nvSpPr>
        <p:spPr>
          <a:xfrm>
            <a:off x="6233008" y="1682496"/>
            <a:ext cx="2567864" cy="3758184"/>
          </a:xfrm>
          <a:prstGeom prst="roundRect">
            <a:avLst>
              <a:gd name="adj" fmla="val 2849"/>
            </a:avLst>
          </a:prstGeom>
          <a:solidFill>
            <a:srgbClr val="FFFFFF"/>
          </a:solidFill>
          <a:ln w="9525">
            <a:solidFill>
              <a:srgbClr val="E9E7E3"/>
            </a:solidFill>
            <a:prstDash val="solid"/>
          </a:ln>
          <a:effectLst>
            <a:outerShdw blurRad="76200" dist="25400" dir="5400000" algn="bl" rotWithShape="0">
              <a:srgbClr val="000000">
                <a:alpha val="8000"/>
              </a:srgbClr>
            </a:outerShdw>
          </a:effectLst>
        </p:spPr>
        <p:txBody>
          <a:bodyPr/>
          <a:lstStyle/>
          <a:p>
            <a:endParaRPr lang="en-GB"/>
          </a:p>
        </p:txBody>
      </p:sp>
      <p:sp>
        <p:nvSpPr>
          <p:cNvPr id="13" name="Text 11"/>
          <p:cNvSpPr txBox="1"/>
          <p:nvPr/>
        </p:nvSpPr>
        <p:spPr>
          <a:xfrm>
            <a:off x="6461608" y="1883664"/>
            <a:ext cx="2110664" cy="320040"/>
          </a:xfrm>
          <a:prstGeom prst="rect">
            <a:avLst/>
          </a:prstGeom>
          <a:noFill/>
          <a:ln/>
        </p:spPr>
        <p:txBody>
          <a:bodyPr wrap="square" lIns="0" tIns="0" rIns="0" bIns="0" rtlCol="0" anchor="ctr"/>
          <a:lstStyle/>
          <a:p>
            <a:pPr marL="0" indent="0">
              <a:buNone/>
            </a:pPr>
            <a:r>
              <a:rPr lang="en-US" sz="1300" kern="0" spc="100" dirty="0">
                <a:solidFill>
                  <a:srgbClr val="8F8F8F"/>
                </a:solidFill>
                <a:latin typeface="Calibri Light" pitchFamily="34" charset="0"/>
                <a:ea typeface="Calibri Light" pitchFamily="34" charset="-122"/>
                <a:cs typeface="Calibri Light" pitchFamily="34" charset="-120"/>
              </a:rPr>
              <a:t>03   WHAT I TESTED</a:t>
            </a:r>
            <a:endParaRPr lang="en-US" sz="1300" dirty="0"/>
          </a:p>
        </p:txBody>
      </p:sp>
      <p:sp>
        <p:nvSpPr>
          <p:cNvPr id="14" name="Text 12"/>
          <p:cNvSpPr txBox="1"/>
          <p:nvPr/>
        </p:nvSpPr>
        <p:spPr>
          <a:xfrm>
            <a:off x="6461608" y="2276856"/>
            <a:ext cx="2110664" cy="676656"/>
          </a:xfrm>
          <a:prstGeom prst="rect">
            <a:avLst/>
          </a:prstGeom>
          <a:noFill/>
          <a:ln/>
        </p:spPr>
        <p:txBody>
          <a:bodyPr wrap="square" lIns="0" tIns="0" rIns="0" bIns="0" rtlCol="0" anchor="t"/>
          <a:lstStyle/>
          <a:p>
            <a:pPr marL="0" indent="0">
              <a:buNone/>
            </a:pPr>
            <a:r>
              <a:rPr lang="en-US" sz="1700" b="1" dirty="0">
                <a:solidFill>
                  <a:srgbClr val="062746"/>
                </a:solidFill>
                <a:latin typeface="Georgia" pitchFamily="34" charset="0"/>
                <a:ea typeface="Georgia" pitchFamily="34" charset="-122"/>
                <a:cs typeface="Georgia" pitchFamily="34" charset="-120"/>
              </a:rPr>
              <a:t>Consequences and fine size</a:t>
            </a:r>
            <a:endParaRPr lang="en-US" sz="1700" dirty="0"/>
          </a:p>
        </p:txBody>
      </p:sp>
      <p:sp>
        <p:nvSpPr>
          <p:cNvPr id="15" name="Text 13"/>
          <p:cNvSpPr txBox="1"/>
          <p:nvPr/>
        </p:nvSpPr>
        <p:spPr>
          <a:xfrm>
            <a:off x="6461608" y="2999232"/>
            <a:ext cx="2110664" cy="2212848"/>
          </a:xfrm>
          <a:prstGeom prst="rect">
            <a:avLst/>
          </a:prstGeom>
          <a:noFill/>
          <a:ln/>
        </p:spPr>
        <p:txBody>
          <a:bodyPr wrap="square" lIns="0" tIns="0" rIns="0" bIns="0" rtlCol="0" anchor="t"/>
          <a:lstStyle/>
          <a:p>
            <a:pPr marL="0" indent="0">
              <a:buNone/>
            </a:pPr>
            <a:r>
              <a:rPr lang="en-US" sz="1350" dirty="0">
                <a:solidFill>
                  <a:srgbClr val="1C191A"/>
                </a:solidFill>
                <a:latin typeface="Calibri" pitchFamily="34" charset="0"/>
                <a:ea typeface="Calibri" pitchFamily="34" charset="-122"/>
                <a:cs typeface="Calibri" pitchFamily="34" charset="-120"/>
              </a:rPr>
              <a:t>What a caught agent should face (a fine, a memory of the offence, or both), and whether the stopping fine can be predicted in advance.</a:t>
            </a:r>
            <a:endParaRPr lang="en-US" sz="1350" dirty="0"/>
          </a:p>
        </p:txBody>
      </p:sp>
      <p:sp>
        <p:nvSpPr>
          <p:cNvPr id="16" name="Shape 14"/>
          <p:cNvSpPr/>
          <p:nvPr/>
        </p:nvSpPr>
        <p:spPr>
          <a:xfrm>
            <a:off x="9075191" y="1682496"/>
            <a:ext cx="2567864" cy="3758184"/>
          </a:xfrm>
          <a:prstGeom prst="roundRect">
            <a:avLst>
              <a:gd name="adj" fmla="val 2849"/>
            </a:avLst>
          </a:prstGeom>
          <a:solidFill>
            <a:srgbClr val="FFFFFF"/>
          </a:solidFill>
          <a:ln w="9525">
            <a:solidFill>
              <a:srgbClr val="E9E7E3"/>
            </a:solidFill>
            <a:prstDash val="solid"/>
          </a:ln>
          <a:effectLst>
            <a:outerShdw blurRad="76200" dist="25400" dir="5400000" algn="bl" rotWithShape="0">
              <a:srgbClr val="000000">
                <a:alpha val="8000"/>
              </a:srgbClr>
            </a:outerShdw>
          </a:effectLst>
        </p:spPr>
        <p:txBody>
          <a:bodyPr/>
          <a:lstStyle/>
          <a:p>
            <a:endParaRPr lang="en-GB"/>
          </a:p>
        </p:txBody>
      </p:sp>
      <p:sp>
        <p:nvSpPr>
          <p:cNvPr id="17" name="Text 15"/>
          <p:cNvSpPr txBox="1"/>
          <p:nvPr/>
        </p:nvSpPr>
        <p:spPr>
          <a:xfrm>
            <a:off x="9303791" y="1883664"/>
            <a:ext cx="2110664" cy="320040"/>
          </a:xfrm>
          <a:prstGeom prst="rect">
            <a:avLst/>
          </a:prstGeom>
          <a:noFill/>
          <a:ln/>
        </p:spPr>
        <p:txBody>
          <a:bodyPr wrap="square" lIns="0" tIns="0" rIns="0" bIns="0" rtlCol="0" anchor="ctr"/>
          <a:lstStyle/>
          <a:p>
            <a:pPr marL="0" indent="0">
              <a:buNone/>
            </a:pPr>
            <a:r>
              <a:rPr lang="en-US" sz="1300" kern="0" spc="100" dirty="0">
                <a:solidFill>
                  <a:srgbClr val="8F8F8F"/>
                </a:solidFill>
                <a:latin typeface="Calibri Light" pitchFamily="34" charset="0"/>
                <a:ea typeface="Calibri Light" pitchFamily="34" charset="-122"/>
                <a:cs typeface="Calibri Light" pitchFamily="34" charset="-120"/>
              </a:rPr>
              <a:t>04   WHAT I FOUND</a:t>
            </a:r>
            <a:endParaRPr lang="en-US" sz="1300" dirty="0"/>
          </a:p>
        </p:txBody>
      </p:sp>
      <p:sp>
        <p:nvSpPr>
          <p:cNvPr id="18" name="Text 16"/>
          <p:cNvSpPr txBox="1"/>
          <p:nvPr/>
        </p:nvSpPr>
        <p:spPr>
          <a:xfrm>
            <a:off x="9303791" y="2276856"/>
            <a:ext cx="2110664" cy="969264"/>
          </a:xfrm>
          <a:prstGeom prst="rect">
            <a:avLst/>
          </a:prstGeom>
          <a:noFill/>
          <a:ln/>
        </p:spPr>
        <p:txBody>
          <a:bodyPr wrap="square" lIns="0" tIns="0" rIns="0" bIns="0" rtlCol="0" anchor="t"/>
          <a:lstStyle/>
          <a:p>
            <a:pPr marL="0" indent="0">
              <a:buNone/>
            </a:pPr>
            <a:r>
              <a:rPr lang="en-US" sz="1700" b="1" dirty="0">
                <a:solidFill>
                  <a:srgbClr val="062746"/>
                </a:solidFill>
                <a:latin typeface="Georgia" pitchFamily="34" charset="0"/>
                <a:ea typeface="Georgia" pitchFamily="34" charset="-122"/>
                <a:cs typeface="Georgia" pitchFamily="34" charset="-120"/>
              </a:rPr>
              <a:t>Audits work via consequences</a:t>
            </a:r>
            <a:endParaRPr lang="en-US" sz="1700" dirty="0"/>
          </a:p>
        </p:txBody>
      </p:sp>
      <p:sp>
        <p:nvSpPr>
          <p:cNvPr id="19" name="Text 17"/>
          <p:cNvSpPr txBox="1"/>
          <p:nvPr/>
        </p:nvSpPr>
        <p:spPr>
          <a:xfrm>
            <a:off x="9303791" y="3005418"/>
            <a:ext cx="2110664" cy="1920240"/>
          </a:xfrm>
          <a:prstGeom prst="rect">
            <a:avLst/>
          </a:prstGeom>
          <a:noFill/>
          <a:ln/>
        </p:spPr>
        <p:txBody>
          <a:bodyPr wrap="square" lIns="0" tIns="0" rIns="0" bIns="0" rtlCol="0" anchor="t"/>
          <a:lstStyle/>
          <a:p>
            <a:pPr marL="0" indent="0">
              <a:buNone/>
            </a:pPr>
            <a:r>
              <a:rPr lang="en-US" sz="1350" dirty="0">
                <a:solidFill>
                  <a:srgbClr val="1C191A"/>
                </a:solidFill>
                <a:latin typeface="Calibri" pitchFamily="34" charset="0"/>
                <a:ea typeface="Calibri" pitchFamily="34" charset="-122"/>
                <a:cs typeface="Calibri" pitchFamily="34" charset="-120"/>
              </a:rPr>
              <a:t>The stopping fine is predictable from an agent's gain from over-taking, for both programmed agents and for language models.</a:t>
            </a:r>
            <a:endParaRPr lang="en-US" sz="135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marL="0" indent="0" algn="l">
              <a:lnSpc>
                <a:spcPct val="95000"/>
              </a:lnSpc>
              <a:buNone/>
            </a:pPr>
            <a:r>
              <a:rPr lang="en-US" sz="3400" b="1" dirty="0">
                <a:solidFill>
                  <a:srgbClr val="062746"/>
                </a:solidFill>
                <a:latin typeface="Georgia" pitchFamily="34" charset="0"/>
                <a:ea typeface="Georgia" pitchFamily="34" charset="-122"/>
                <a:cs typeface="Georgia" pitchFamily="34" charset="-120"/>
              </a:rPr>
              <a:t>The Problem</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Text 2"/>
          <p:cNvSpPr txBox="1"/>
          <p:nvPr/>
        </p:nvSpPr>
        <p:spPr>
          <a:xfrm>
            <a:off x="548640" y="1545336"/>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Allowances</a:t>
            </a:r>
            <a:endParaRPr lang="en-US" sz="1700" dirty="0"/>
          </a:p>
        </p:txBody>
      </p:sp>
      <p:sp>
        <p:nvSpPr>
          <p:cNvPr id="5" name="Text 3"/>
          <p:cNvSpPr txBox="1"/>
          <p:nvPr/>
        </p:nvSpPr>
        <p:spPr>
          <a:xfrm>
            <a:off x="548640" y="1929384"/>
            <a:ext cx="4572000" cy="745236"/>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Each round, an agent may take its allowance. Taking more </a:t>
            </a:r>
            <a:r>
              <a:rPr lang="en-US" sz="1400" b="1" dirty="0">
                <a:solidFill>
                  <a:srgbClr val="1C191A"/>
                </a:solidFill>
                <a:latin typeface="Calibri" pitchFamily="34" charset="0"/>
                <a:ea typeface="Calibri" pitchFamily="34" charset="-122"/>
                <a:cs typeface="Calibri" pitchFamily="34" charset="-120"/>
              </a:rPr>
              <a:t>aka over-taking</a:t>
            </a:r>
            <a:r>
              <a:rPr lang="en-US" sz="1400" dirty="0">
                <a:solidFill>
                  <a:srgbClr val="1C191A"/>
                </a:solidFill>
                <a:latin typeface="Calibri" pitchFamily="34" charset="0"/>
                <a:ea typeface="Calibri" pitchFamily="34" charset="-122"/>
                <a:cs typeface="Calibri" pitchFamily="34" charset="-120"/>
              </a:rPr>
              <a:t> helps that agent and costs everyone else.</a:t>
            </a:r>
            <a:endParaRPr lang="en-US" sz="1400" dirty="0"/>
          </a:p>
        </p:txBody>
      </p:sp>
      <p:sp>
        <p:nvSpPr>
          <p:cNvPr id="6" name="Text 4"/>
          <p:cNvSpPr txBox="1"/>
          <p:nvPr/>
        </p:nvSpPr>
        <p:spPr>
          <a:xfrm>
            <a:off x="548640" y="2839212"/>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Sampled oversight</a:t>
            </a:r>
            <a:endParaRPr lang="en-US" sz="1700" dirty="0"/>
          </a:p>
        </p:txBody>
      </p:sp>
      <p:sp>
        <p:nvSpPr>
          <p:cNvPr id="7" name="Text 5"/>
          <p:cNvSpPr txBox="1"/>
          <p:nvPr/>
        </p:nvSpPr>
        <p:spPr>
          <a:xfrm>
            <a:off x="548640" y="3223260"/>
            <a:ext cx="4572000" cy="745236"/>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Auditing every action is too costly, so random audits check a few agents, similar to taxing/behavior of fishery inspectors.</a:t>
            </a:r>
            <a:endParaRPr lang="en-US" sz="1400" dirty="0"/>
          </a:p>
        </p:txBody>
      </p:sp>
      <p:sp>
        <p:nvSpPr>
          <p:cNvPr id="8" name="Text 6"/>
          <p:cNvSpPr txBox="1"/>
          <p:nvPr/>
        </p:nvSpPr>
        <p:spPr>
          <a:xfrm>
            <a:off x="548640" y="4133088"/>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The question</a:t>
            </a:r>
            <a:endParaRPr lang="en-US" sz="1700" dirty="0"/>
          </a:p>
        </p:txBody>
      </p:sp>
      <p:sp>
        <p:nvSpPr>
          <p:cNvPr id="9" name="Text 7"/>
          <p:cNvSpPr txBox="1"/>
          <p:nvPr/>
        </p:nvSpPr>
        <p:spPr>
          <a:xfrm>
            <a:off x="548640" y="4517136"/>
            <a:ext cx="4572000" cy="521208"/>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When do random audits stop over-taking, and how large must the fine be?</a:t>
            </a:r>
            <a:endParaRPr lang="en-US" sz="1400" dirty="0"/>
          </a:p>
        </p:txBody>
      </p:sp>
      <p:pic>
        <p:nvPicPr>
          <p:cNvPr id="10" name="Image 0" descr="fig_networks.png"/>
          <p:cNvPicPr>
            <a:picLocks noChangeAspect="1"/>
          </p:cNvPicPr>
          <p:nvPr/>
        </p:nvPicPr>
        <p:blipFill>
          <a:blip r:embed="rId3"/>
          <a:stretch>
            <a:fillRect/>
          </a:stretch>
        </p:blipFill>
        <p:spPr>
          <a:xfrm>
            <a:off x="5532120" y="2314163"/>
            <a:ext cx="6110935" cy="2311970"/>
          </a:xfrm>
          <a:prstGeom prst="rect">
            <a:avLst/>
          </a:prstGeom>
        </p:spPr>
      </p:pic>
      <p:sp>
        <p:nvSpPr>
          <p:cNvPr id="11" name="Text 8"/>
          <p:cNvSpPr txBox="1"/>
          <p:nvPr/>
        </p:nvSpPr>
        <p:spPr>
          <a:xfrm>
            <a:off x="5532120" y="4735861"/>
            <a:ext cx="6110935" cy="502920"/>
          </a:xfrm>
          <a:prstGeom prst="rect">
            <a:avLst/>
          </a:prstGeom>
          <a:noFill/>
          <a:ln/>
        </p:spPr>
        <p:txBody>
          <a:bodyPr wrap="square" lIns="0" tIns="0" rIns="0" bIns="0" rtlCol="0" anchor="t"/>
          <a:lstStyle/>
          <a:p>
            <a:pPr marL="0" indent="0" algn="ctr">
              <a:buNone/>
            </a:pPr>
            <a:r>
              <a:rPr lang="en-US" sz="1100" i="1" dirty="0">
                <a:solidFill>
                  <a:srgbClr val="55524E"/>
                </a:solidFill>
                <a:latin typeface="Calibri" pitchFamily="34" charset="0"/>
                <a:ea typeface="Calibri" pitchFamily="34" charset="-122"/>
                <a:cs typeface="Calibri" pitchFamily="34" charset="-120"/>
              </a:rPr>
              <a:t>Three settings where harm spreads differently: one shared stock (Fishery), damage to neighbours on a ring (Forest), and pollution that is harmful only in combination (River). A result that holds in all three does not depend on one structure.</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1097280"/>
            <a:ext cx="4754880" cy="1828800"/>
          </a:xfrm>
          <a:prstGeom prst="rect">
            <a:avLst/>
          </a:prstGeom>
          <a:noFill/>
          <a:ln/>
        </p:spPr>
        <p:txBody>
          <a:bodyPr wrap="square" lIns="0" tIns="0" rIns="0" bIns="0" rtlCol="0" anchor="b"/>
          <a:lstStyle/>
          <a:p>
            <a:pPr marL="0" indent="0" algn="l">
              <a:lnSpc>
                <a:spcPct val="95000"/>
              </a:lnSpc>
              <a:buNone/>
            </a:pPr>
            <a:r>
              <a:rPr lang="en-US" sz="3600" b="1" dirty="0">
                <a:solidFill>
                  <a:srgbClr val="062746"/>
                </a:solidFill>
                <a:latin typeface="Georgia" pitchFamily="34" charset="0"/>
                <a:ea typeface="Georgia" pitchFamily="34" charset="-122"/>
                <a:cs typeface="Georgia" pitchFamily="34" charset="-120"/>
              </a:rPr>
              <a:t>Three Questions</a:t>
            </a:r>
            <a:endParaRPr lang="en-US" sz="3600" dirty="0"/>
          </a:p>
        </p:txBody>
      </p:sp>
      <p:sp>
        <p:nvSpPr>
          <p:cNvPr id="3" name="Shape 1"/>
          <p:cNvSpPr/>
          <p:nvPr/>
        </p:nvSpPr>
        <p:spPr>
          <a:xfrm>
            <a:off x="548640" y="305409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Text 2"/>
          <p:cNvSpPr txBox="1"/>
          <p:nvPr/>
        </p:nvSpPr>
        <p:spPr>
          <a:xfrm>
            <a:off x="5989320" y="914400"/>
            <a:ext cx="731520" cy="457200"/>
          </a:xfrm>
          <a:prstGeom prst="rect">
            <a:avLst/>
          </a:prstGeom>
          <a:noFill/>
          <a:ln/>
        </p:spPr>
        <p:txBody>
          <a:bodyPr wrap="square" lIns="0" tIns="0" rIns="0" bIns="0" rtlCol="0" anchor="t"/>
          <a:lstStyle/>
          <a:p>
            <a:pPr marL="0" indent="0">
              <a:buNone/>
            </a:pPr>
            <a:r>
              <a:rPr lang="en-US" sz="2600" dirty="0">
                <a:solidFill>
                  <a:srgbClr val="8F8F8F"/>
                </a:solidFill>
                <a:latin typeface="Calibri Light" pitchFamily="34" charset="0"/>
                <a:ea typeface="Calibri Light" pitchFamily="34" charset="-122"/>
                <a:cs typeface="Calibri Light" pitchFamily="34" charset="-120"/>
              </a:rPr>
              <a:t>01</a:t>
            </a:r>
            <a:endParaRPr lang="en-US" sz="2600" dirty="0"/>
          </a:p>
        </p:txBody>
      </p:sp>
      <p:sp>
        <p:nvSpPr>
          <p:cNvPr id="5" name="Text 3"/>
          <p:cNvSpPr txBox="1"/>
          <p:nvPr/>
        </p:nvSpPr>
        <p:spPr>
          <a:xfrm>
            <a:off x="6812280" y="896112"/>
            <a:ext cx="4846320" cy="402336"/>
          </a:xfrm>
          <a:prstGeom prst="rect">
            <a:avLst/>
          </a:prstGeom>
          <a:noFill/>
          <a:ln/>
        </p:spPr>
        <p:txBody>
          <a:bodyPr wrap="square" lIns="0" tIns="0" rIns="0" bIns="0" rtlCol="0" anchor="t"/>
          <a:lstStyle/>
          <a:p>
            <a:pPr marL="0" indent="0">
              <a:buNone/>
            </a:pPr>
            <a:r>
              <a:rPr lang="en-US" sz="1900" b="1" dirty="0">
                <a:solidFill>
                  <a:srgbClr val="1C191A"/>
                </a:solidFill>
                <a:latin typeface="Georgia" pitchFamily="34" charset="0"/>
                <a:ea typeface="Georgia" pitchFamily="34" charset="-122"/>
                <a:cs typeface="Georgia" pitchFamily="34" charset="-120"/>
              </a:rPr>
              <a:t>What must follow a catch?</a:t>
            </a:r>
            <a:endParaRPr lang="en-US" sz="1900" dirty="0"/>
          </a:p>
        </p:txBody>
      </p:sp>
      <p:sp>
        <p:nvSpPr>
          <p:cNvPr id="6" name="Text 4"/>
          <p:cNvSpPr txBox="1"/>
          <p:nvPr/>
        </p:nvSpPr>
        <p:spPr>
          <a:xfrm>
            <a:off x="6812280" y="1316736"/>
            <a:ext cx="4846320" cy="868680"/>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A fine, a memory of the offence, or nothing: which one reduces harm?</a:t>
            </a:r>
            <a:endParaRPr lang="en-US" sz="1400" dirty="0"/>
          </a:p>
        </p:txBody>
      </p:sp>
      <p:sp>
        <p:nvSpPr>
          <p:cNvPr id="7" name="Text 5"/>
          <p:cNvSpPr txBox="1"/>
          <p:nvPr/>
        </p:nvSpPr>
        <p:spPr>
          <a:xfrm>
            <a:off x="5989320" y="2240280"/>
            <a:ext cx="731520" cy="457200"/>
          </a:xfrm>
          <a:prstGeom prst="rect">
            <a:avLst/>
          </a:prstGeom>
          <a:noFill/>
          <a:ln/>
        </p:spPr>
        <p:txBody>
          <a:bodyPr wrap="square" lIns="0" tIns="0" rIns="0" bIns="0" rtlCol="0" anchor="t"/>
          <a:lstStyle/>
          <a:p>
            <a:pPr marL="0" indent="0">
              <a:buNone/>
            </a:pPr>
            <a:r>
              <a:rPr lang="en-US" sz="2600" dirty="0">
                <a:solidFill>
                  <a:srgbClr val="8F8F8F"/>
                </a:solidFill>
                <a:latin typeface="Calibri Light" pitchFamily="34" charset="0"/>
                <a:ea typeface="Calibri Light" pitchFamily="34" charset="-122"/>
                <a:cs typeface="Calibri Light" pitchFamily="34" charset="-120"/>
              </a:rPr>
              <a:t>02</a:t>
            </a:r>
            <a:endParaRPr lang="en-US" sz="2600" dirty="0"/>
          </a:p>
        </p:txBody>
      </p:sp>
      <p:sp>
        <p:nvSpPr>
          <p:cNvPr id="8" name="Text 6"/>
          <p:cNvSpPr txBox="1"/>
          <p:nvPr/>
        </p:nvSpPr>
        <p:spPr>
          <a:xfrm>
            <a:off x="6812280" y="2221992"/>
            <a:ext cx="4846320" cy="731520"/>
          </a:xfrm>
          <a:prstGeom prst="rect">
            <a:avLst/>
          </a:prstGeom>
          <a:noFill/>
          <a:ln/>
        </p:spPr>
        <p:txBody>
          <a:bodyPr wrap="square" lIns="0" tIns="0" rIns="0" bIns="0" rtlCol="0" anchor="t"/>
          <a:lstStyle/>
          <a:p>
            <a:pPr marL="0" indent="0">
              <a:buNone/>
            </a:pPr>
            <a:r>
              <a:rPr lang="en-US" sz="1900" b="1" dirty="0">
                <a:solidFill>
                  <a:srgbClr val="1C191A"/>
                </a:solidFill>
                <a:latin typeface="Georgia" pitchFamily="34" charset="0"/>
                <a:ea typeface="Georgia" pitchFamily="34" charset="-122"/>
                <a:cs typeface="Georgia" pitchFamily="34" charset="-120"/>
              </a:rPr>
              <a:t>Can the stopping fine be predicted?</a:t>
            </a:r>
            <a:endParaRPr lang="en-US" sz="1900" dirty="0"/>
          </a:p>
        </p:txBody>
      </p:sp>
      <p:sp>
        <p:nvSpPr>
          <p:cNvPr id="9" name="Text 7"/>
          <p:cNvSpPr txBox="1"/>
          <p:nvPr/>
        </p:nvSpPr>
        <p:spPr>
          <a:xfrm>
            <a:off x="6812280" y="2971800"/>
            <a:ext cx="4846320" cy="868680"/>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Can we compute it before trying it?</a:t>
            </a:r>
            <a:endParaRPr lang="en-US" sz="1400" dirty="0"/>
          </a:p>
        </p:txBody>
      </p:sp>
      <p:sp>
        <p:nvSpPr>
          <p:cNvPr id="10" name="Text 8"/>
          <p:cNvSpPr txBox="1"/>
          <p:nvPr/>
        </p:nvSpPr>
        <p:spPr>
          <a:xfrm>
            <a:off x="5989320" y="3566160"/>
            <a:ext cx="731520" cy="457200"/>
          </a:xfrm>
          <a:prstGeom prst="rect">
            <a:avLst/>
          </a:prstGeom>
          <a:noFill/>
          <a:ln/>
        </p:spPr>
        <p:txBody>
          <a:bodyPr wrap="square" lIns="0" tIns="0" rIns="0" bIns="0" rtlCol="0" anchor="t"/>
          <a:lstStyle/>
          <a:p>
            <a:pPr marL="0" indent="0">
              <a:buNone/>
            </a:pPr>
            <a:r>
              <a:rPr lang="en-US" sz="2600" dirty="0">
                <a:solidFill>
                  <a:srgbClr val="8F8F8F"/>
                </a:solidFill>
                <a:latin typeface="Calibri Light" pitchFamily="34" charset="0"/>
                <a:ea typeface="Calibri Light" pitchFamily="34" charset="-122"/>
                <a:cs typeface="Calibri Light" pitchFamily="34" charset="-120"/>
              </a:rPr>
              <a:t>03</a:t>
            </a:r>
            <a:endParaRPr lang="en-US" sz="2600" dirty="0"/>
          </a:p>
        </p:txBody>
      </p:sp>
      <p:sp>
        <p:nvSpPr>
          <p:cNvPr id="11" name="Text 9"/>
          <p:cNvSpPr txBox="1"/>
          <p:nvPr/>
        </p:nvSpPr>
        <p:spPr>
          <a:xfrm>
            <a:off x="6812280" y="3547872"/>
            <a:ext cx="4846320" cy="731520"/>
          </a:xfrm>
          <a:prstGeom prst="rect">
            <a:avLst/>
          </a:prstGeom>
          <a:noFill/>
          <a:ln/>
        </p:spPr>
        <p:txBody>
          <a:bodyPr wrap="square" lIns="0" tIns="0" rIns="0" bIns="0" rtlCol="0" anchor="t"/>
          <a:lstStyle/>
          <a:p>
            <a:pPr marL="0" indent="0">
              <a:buNone/>
            </a:pPr>
            <a:r>
              <a:rPr lang="en-US" sz="1900" b="1" dirty="0">
                <a:solidFill>
                  <a:srgbClr val="1C191A"/>
                </a:solidFill>
                <a:latin typeface="Georgia" pitchFamily="34" charset="0"/>
                <a:ea typeface="Georgia" pitchFamily="34" charset="-122"/>
                <a:cs typeface="Georgia" pitchFamily="34" charset="-120"/>
              </a:rPr>
              <a:t>Do language models follow the same rule?</a:t>
            </a:r>
            <a:endParaRPr lang="en-US" sz="1900" dirty="0"/>
          </a:p>
        </p:txBody>
      </p:sp>
      <p:sp>
        <p:nvSpPr>
          <p:cNvPr id="12" name="Text 10"/>
          <p:cNvSpPr txBox="1"/>
          <p:nvPr/>
        </p:nvSpPr>
        <p:spPr>
          <a:xfrm>
            <a:off x="6812280" y="4297680"/>
            <a:ext cx="4846320" cy="868680"/>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Do they stop where the prediction says?</a:t>
            </a:r>
            <a:endParaRPr lang="en-US" sz="1400" dirty="0"/>
          </a:p>
        </p:txBody>
      </p:sp>
      <p:sp>
        <p:nvSpPr>
          <p:cNvPr id="13" name="Text 11"/>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74320"/>
            <a:ext cx="11094415" cy="822960"/>
          </a:xfrm>
          <a:prstGeom prst="rect">
            <a:avLst/>
          </a:prstGeom>
          <a:noFill/>
          <a:ln/>
        </p:spPr>
        <p:txBody>
          <a:bodyPr wrap="square" lIns="0" tIns="0" rIns="0" bIns="0" rtlCol="0" anchor="b"/>
          <a:lstStyle/>
          <a:p>
            <a:pPr marL="0" indent="0" algn="ctr">
              <a:lnSpc>
                <a:spcPct val="95000"/>
              </a:lnSpc>
              <a:buNone/>
            </a:pPr>
            <a:r>
              <a:rPr lang="en-US" sz="3200" b="1" dirty="0">
                <a:solidFill>
                  <a:srgbClr val="062746"/>
                </a:solidFill>
                <a:latin typeface="Georgia" pitchFamily="34" charset="0"/>
                <a:ea typeface="Georgia" pitchFamily="34" charset="-122"/>
                <a:cs typeface="Georgia" pitchFamily="34" charset="-120"/>
              </a:rPr>
              <a:t>How One Round Works</a:t>
            </a:r>
            <a:endParaRPr lang="en-US" sz="3200" dirty="0"/>
          </a:p>
        </p:txBody>
      </p:sp>
      <p:pic>
        <p:nvPicPr>
          <p:cNvPr id="3" name="Image 0" descr="fig1_game_step.png"/>
          <p:cNvPicPr>
            <a:picLocks noChangeAspect="1"/>
          </p:cNvPicPr>
          <p:nvPr/>
        </p:nvPicPr>
        <p:blipFill>
          <a:blip r:embed="rId3"/>
          <a:stretch>
            <a:fillRect/>
          </a:stretch>
        </p:blipFill>
        <p:spPr>
          <a:xfrm>
            <a:off x="1659818" y="1234440"/>
            <a:ext cx="8872059" cy="3977640"/>
          </a:xfrm>
          <a:prstGeom prst="rect">
            <a:avLst/>
          </a:prstGeom>
        </p:spPr>
      </p:pic>
      <p:sp>
        <p:nvSpPr>
          <p:cNvPr id="4" name="Text 1"/>
          <p:cNvSpPr txBox="1"/>
          <p:nvPr/>
        </p:nvSpPr>
        <p:spPr>
          <a:xfrm>
            <a:off x="1463040" y="5303520"/>
            <a:ext cx="9265615" cy="502920"/>
          </a:xfrm>
          <a:prstGeom prst="rect">
            <a:avLst/>
          </a:prstGeom>
          <a:noFill/>
          <a:ln/>
        </p:spPr>
        <p:txBody>
          <a:bodyPr wrap="square" lIns="0" tIns="0" rIns="0" bIns="0" rtlCol="0" anchor="t"/>
          <a:lstStyle/>
          <a:p>
            <a:pPr marL="0" indent="0" algn="ctr">
              <a:buNone/>
            </a:pPr>
            <a:r>
              <a:rPr lang="en-US" sz="1100" i="1" dirty="0">
                <a:solidFill>
                  <a:srgbClr val="55524E"/>
                </a:solidFill>
                <a:latin typeface="Calibri" pitchFamily="34" charset="0"/>
                <a:ea typeface="Calibri" pitchFamily="34" charset="-122"/>
                <a:cs typeface="Calibri" pitchFamily="34" charset="-120"/>
              </a:rPr>
              <a:t>Agents request a share; the reviewer scales all requests by one factor; agents take their allowance or more; the resource regrows; random audits check a few agents.</a:t>
            </a:r>
            <a:endParaRPr lang="en-US" sz="1100" dirty="0"/>
          </a:p>
        </p:txBody>
      </p:sp>
      <p:sp>
        <p:nvSpPr>
          <p:cNvPr id="5" name="Text 2"/>
          <p:cNvSpPr txBox="1"/>
          <p:nvPr/>
        </p:nvSpPr>
        <p:spPr>
          <a:xfrm>
            <a:off x="1005840" y="5897880"/>
            <a:ext cx="10180015" cy="411480"/>
          </a:xfrm>
          <a:prstGeom prst="rect">
            <a:avLst/>
          </a:prstGeom>
          <a:noFill/>
          <a:ln/>
        </p:spPr>
        <p:txBody>
          <a:bodyPr wrap="square" lIns="0" tIns="0" rIns="0" bIns="0" rtlCol="0" anchor="ctr"/>
          <a:lstStyle/>
          <a:p>
            <a:pPr marL="0" indent="0" algn="ctr">
              <a:buNone/>
            </a:pPr>
            <a:r>
              <a:rPr lang="en-US" sz="1700" b="1" dirty="0">
                <a:solidFill>
                  <a:srgbClr val="062746"/>
                </a:solidFill>
                <a:latin typeface="Georgia" pitchFamily="34" charset="0"/>
                <a:ea typeface="Georgia" pitchFamily="34" charset="-122"/>
                <a:cs typeface="Georgia" pitchFamily="34" charset="-120"/>
              </a:rPr>
              <a:t>Harm = the resource below half capacity, the maximum-sustainable-yield level</a:t>
            </a:r>
            <a:endParaRPr lang="en-US" sz="1700" dirty="0"/>
          </a:p>
        </p:txBody>
      </p:sp>
      <p:sp>
        <p:nvSpPr>
          <p:cNvPr id="6" name="Text 3"/>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65760"/>
            <a:ext cx="5852160" cy="777240"/>
          </a:xfrm>
          <a:prstGeom prst="rect">
            <a:avLst/>
          </a:prstGeom>
          <a:noFill/>
          <a:ln/>
        </p:spPr>
        <p:txBody>
          <a:bodyPr wrap="square" lIns="0" tIns="0" rIns="0" bIns="0" rtlCol="0" anchor="b"/>
          <a:lstStyle/>
          <a:p>
            <a:pPr marL="0" indent="0" algn="l">
              <a:lnSpc>
                <a:spcPct val="95000"/>
              </a:lnSpc>
              <a:buNone/>
            </a:pPr>
            <a:r>
              <a:rPr lang="en-US" sz="3400" b="1" dirty="0">
                <a:solidFill>
                  <a:srgbClr val="062746"/>
                </a:solidFill>
                <a:latin typeface="Georgia" pitchFamily="34" charset="0"/>
                <a:ea typeface="Georgia" pitchFamily="34" charset="-122"/>
                <a:cs typeface="Georgia" pitchFamily="34" charset="-120"/>
              </a:rPr>
              <a:t>How I Test It</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Text 2"/>
          <p:cNvSpPr txBox="1"/>
          <p:nvPr/>
        </p:nvSpPr>
        <p:spPr>
          <a:xfrm>
            <a:off x="548640" y="1499616"/>
            <a:ext cx="640080" cy="411480"/>
          </a:xfrm>
          <a:prstGeom prst="rect">
            <a:avLst/>
          </a:prstGeom>
          <a:noFill/>
          <a:ln/>
        </p:spPr>
        <p:txBody>
          <a:bodyPr wrap="square" lIns="0" tIns="0" rIns="0" bIns="0" rtlCol="0" anchor="t"/>
          <a:lstStyle/>
          <a:p>
            <a:pPr marL="0" indent="0">
              <a:buNone/>
            </a:pPr>
            <a:r>
              <a:rPr lang="en-US" sz="2200" dirty="0">
                <a:solidFill>
                  <a:srgbClr val="8F8F8F"/>
                </a:solidFill>
                <a:latin typeface="Calibri Light" pitchFamily="34" charset="0"/>
                <a:ea typeface="Calibri Light" pitchFamily="34" charset="-122"/>
                <a:cs typeface="Calibri Light" pitchFamily="34" charset="-120"/>
              </a:rPr>
              <a:t>01</a:t>
            </a:r>
            <a:endParaRPr lang="en-US" sz="2200" dirty="0"/>
          </a:p>
        </p:txBody>
      </p:sp>
      <p:sp>
        <p:nvSpPr>
          <p:cNvPr id="5" name="Text 3"/>
          <p:cNvSpPr txBox="1"/>
          <p:nvPr/>
        </p:nvSpPr>
        <p:spPr>
          <a:xfrm>
            <a:off x="1280160" y="1517904"/>
            <a:ext cx="5120640" cy="347472"/>
          </a:xfrm>
          <a:prstGeom prst="rect">
            <a:avLst/>
          </a:prstGeom>
          <a:noFill/>
          <a:ln/>
        </p:spPr>
        <p:txBody>
          <a:bodyPr wrap="square" lIns="0" tIns="0" rIns="0" bIns="0" rtlCol="0" anchor="t"/>
          <a:lstStyle/>
          <a:p>
            <a:pPr marL="0" indent="0">
              <a:buNone/>
            </a:pPr>
            <a:r>
              <a:rPr lang="en-US" sz="1600" b="1" dirty="0">
                <a:solidFill>
                  <a:srgbClr val="1C191A"/>
                </a:solidFill>
                <a:latin typeface="Georgia" pitchFamily="34" charset="0"/>
                <a:ea typeface="Georgia" pitchFamily="34" charset="-122"/>
                <a:cs typeface="Georgia" pitchFamily="34" charset="-120"/>
              </a:rPr>
              <a:t>Measure the gain</a:t>
            </a:r>
            <a:endParaRPr lang="en-US" sz="1600" dirty="0"/>
          </a:p>
        </p:txBody>
      </p:sp>
      <p:sp>
        <p:nvSpPr>
          <p:cNvPr id="6" name="Text 4"/>
          <p:cNvSpPr txBox="1"/>
          <p:nvPr/>
        </p:nvSpPr>
        <p:spPr>
          <a:xfrm>
            <a:off x="1280160" y="1865376"/>
            <a:ext cx="5120640" cy="685800"/>
          </a:xfrm>
          <a:prstGeom prst="rect">
            <a:avLst/>
          </a:prstGeom>
          <a:noFill/>
          <a:ln/>
        </p:spPr>
        <p:txBody>
          <a:bodyPr wrap="square" lIns="0" tIns="0" rIns="0" bIns="0" rtlCol="0" anchor="t"/>
          <a:lstStyle/>
          <a:p>
            <a:pPr marL="0" indent="0">
              <a:buNone/>
            </a:pPr>
            <a:r>
              <a:rPr lang="en-US" sz="1300" dirty="0">
                <a:solidFill>
                  <a:srgbClr val="1C191A"/>
                </a:solidFill>
                <a:latin typeface="Calibri" pitchFamily="34" charset="0"/>
                <a:ea typeface="Calibri" pitchFamily="34" charset="-122"/>
                <a:cs typeface="Calibri" pitchFamily="34" charset="-120"/>
              </a:rPr>
              <a:t>Play games without fines and record what one round of over-taking gains an agent.</a:t>
            </a:r>
            <a:endParaRPr lang="en-US" sz="1300" dirty="0"/>
          </a:p>
        </p:txBody>
      </p:sp>
      <p:sp>
        <p:nvSpPr>
          <p:cNvPr id="7" name="Text 5"/>
          <p:cNvSpPr txBox="1"/>
          <p:nvPr/>
        </p:nvSpPr>
        <p:spPr>
          <a:xfrm>
            <a:off x="548640" y="2596896"/>
            <a:ext cx="640080" cy="411480"/>
          </a:xfrm>
          <a:prstGeom prst="rect">
            <a:avLst/>
          </a:prstGeom>
          <a:noFill/>
          <a:ln/>
        </p:spPr>
        <p:txBody>
          <a:bodyPr wrap="square" lIns="0" tIns="0" rIns="0" bIns="0" rtlCol="0" anchor="t"/>
          <a:lstStyle/>
          <a:p>
            <a:pPr marL="0" indent="0">
              <a:buNone/>
            </a:pPr>
            <a:r>
              <a:rPr lang="en-US" sz="2200" dirty="0">
                <a:solidFill>
                  <a:srgbClr val="8F8F8F"/>
                </a:solidFill>
                <a:latin typeface="Calibri Light" pitchFamily="34" charset="0"/>
                <a:ea typeface="Calibri Light" pitchFamily="34" charset="-122"/>
                <a:cs typeface="Calibri Light" pitchFamily="34" charset="-120"/>
              </a:rPr>
              <a:t>02</a:t>
            </a:r>
            <a:endParaRPr lang="en-US" sz="2200" dirty="0"/>
          </a:p>
        </p:txBody>
      </p:sp>
      <p:sp>
        <p:nvSpPr>
          <p:cNvPr id="8" name="Text 6"/>
          <p:cNvSpPr txBox="1"/>
          <p:nvPr/>
        </p:nvSpPr>
        <p:spPr>
          <a:xfrm>
            <a:off x="1280160" y="2615184"/>
            <a:ext cx="5120640" cy="347472"/>
          </a:xfrm>
          <a:prstGeom prst="rect">
            <a:avLst/>
          </a:prstGeom>
          <a:noFill/>
          <a:ln/>
        </p:spPr>
        <p:txBody>
          <a:bodyPr wrap="square" lIns="0" tIns="0" rIns="0" bIns="0" rtlCol="0" anchor="t"/>
          <a:lstStyle/>
          <a:p>
            <a:pPr marL="0" indent="0">
              <a:buNone/>
            </a:pPr>
            <a:r>
              <a:rPr lang="en-US" sz="1600" b="1" dirty="0">
                <a:solidFill>
                  <a:srgbClr val="1C191A"/>
                </a:solidFill>
                <a:latin typeface="Georgia" pitchFamily="34" charset="0"/>
                <a:ea typeface="Georgia" pitchFamily="34" charset="-122"/>
                <a:cs typeface="Georgia" pitchFamily="34" charset="-120"/>
              </a:rPr>
              <a:t>Predict the stopping fine</a:t>
            </a:r>
            <a:endParaRPr lang="en-US" sz="1600" dirty="0"/>
          </a:p>
        </p:txBody>
      </p:sp>
      <p:sp>
        <p:nvSpPr>
          <p:cNvPr id="9" name="Text 7"/>
          <p:cNvSpPr txBox="1"/>
          <p:nvPr/>
        </p:nvSpPr>
        <p:spPr>
          <a:xfrm>
            <a:off x="1280160" y="2962656"/>
            <a:ext cx="5120640" cy="685800"/>
          </a:xfrm>
          <a:prstGeom prst="rect">
            <a:avLst/>
          </a:prstGeom>
          <a:noFill/>
          <a:ln/>
        </p:spPr>
        <p:txBody>
          <a:bodyPr wrap="square" lIns="0" tIns="0" rIns="0" bIns="0" rtlCol="0" anchor="t"/>
          <a:lstStyle/>
          <a:p>
            <a:pPr marL="0" indent="0">
              <a:buNone/>
            </a:pPr>
            <a:r>
              <a:rPr lang="en-US" sz="1300" dirty="0">
                <a:solidFill>
                  <a:srgbClr val="1C191A"/>
                </a:solidFill>
                <a:latin typeface="Calibri" pitchFamily="34" charset="0"/>
                <a:ea typeface="Calibri" pitchFamily="34" charset="-122"/>
                <a:cs typeface="Calibri" pitchFamily="34" charset="-120"/>
              </a:rPr>
              <a:t>Over-taking should stop once the expected fine exceeds that gain.</a:t>
            </a:r>
            <a:endParaRPr lang="en-US" sz="1300" dirty="0"/>
          </a:p>
        </p:txBody>
      </p:sp>
      <p:sp>
        <p:nvSpPr>
          <p:cNvPr id="10" name="Text 8"/>
          <p:cNvSpPr txBox="1"/>
          <p:nvPr/>
        </p:nvSpPr>
        <p:spPr>
          <a:xfrm>
            <a:off x="548640" y="3694176"/>
            <a:ext cx="640080" cy="411480"/>
          </a:xfrm>
          <a:prstGeom prst="rect">
            <a:avLst/>
          </a:prstGeom>
          <a:noFill/>
          <a:ln/>
        </p:spPr>
        <p:txBody>
          <a:bodyPr wrap="square" lIns="0" tIns="0" rIns="0" bIns="0" rtlCol="0" anchor="t"/>
          <a:lstStyle/>
          <a:p>
            <a:pPr marL="0" indent="0">
              <a:buNone/>
            </a:pPr>
            <a:r>
              <a:rPr lang="en-US" sz="2200" dirty="0">
                <a:solidFill>
                  <a:srgbClr val="8F8F8F"/>
                </a:solidFill>
                <a:latin typeface="Calibri Light" pitchFamily="34" charset="0"/>
                <a:ea typeface="Calibri Light" pitchFamily="34" charset="-122"/>
                <a:cs typeface="Calibri Light" pitchFamily="34" charset="-120"/>
              </a:rPr>
              <a:t>03</a:t>
            </a:r>
            <a:endParaRPr lang="en-US" sz="2200" dirty="0"/>
          </a:p>
        </p:txBody>
      </p:sp>
      <p:sp>
        <p:nvSpPr>
          <p:cNvPr id="11" name="Text 9"/>
          <p:cNvSpPr txBox="1"/>
          <p:nvPr/>
        </p:nvSpPr>
        <p:spPr>
          <a:xfrm>
            <a:off x="1280160" y="3712464"/>
            <a:ext cx="5120640" cy="347472"/>
          </a:xfrm>
          <a:prstGeom prst="rect">
            <a:avLst/>
          </a:prstGeom>
          <a:noFill/>
          <a:ln/>
        </p:spPr>
        <p:txBody>
          <a:bodyPr wrap="square" lIns="0" tIns="0" rIns="0" bIns="0" rtlCol="0" anchor="t"/>
          <a:lstStyle/>
          <a:p>
            <a:pPr marL="0" indent="0">
              <a:buNone/>
            </a:pPr>
            <a:r>
              <a:rPr lang="en-US" sz="1600" b="1" dirty="0">
                <a:solidFill>
                  <a:srgbClr val="1C191A"/>
                </a:solidFill>
                <a:latin typeface="Georgia" pitchFamily="34" charset="0"/>
                <a:ea typeface="Georgia" pitchFamily="34" charset="-122"/>
                <a:cs typeface="Georgia" pitchFamily="34" charset="-120"/>
              </a:rPr>
              <a:t>Freeze the prediction</a:t>
            </a:r>
            <a:endParaRPr lang="en-US" sz="1600" dirty="0"/>
          </a:p>
        </p:txBody>
      </p:sp>
      <p:sp>
        <p:nvSpPr>
          <p:cNvPr id="12" name="Text 10"/>
          <p:cNvSpPr txBox="1"/>
          <p:nvPr/>
        </p:nvSpPr>
        <p:spPr>
          <a:xfrm>
            <a:off x="1280160" y="4059936"/>
            <a:ext cx="5120640" cy="685800"/>
          </a:xfrm>
          <a:prstGeom prst="rect">
            <a:avLst/>
          </a:prstGeom>
          <a:noFill/>
          <a:ln/>
        </p:spPr>
        <p:txBody>
          <a:bodyPr wrap="square" lIns="0" tIns="0" rIns="0" bIns="0" rtlCol="0" anchor="t"/>
          <a:lstStyle/>
          <a:p>
            <a:pPr marL="0" indent="0">
              <a:buNone/>
            </a:pPr>
            <a:r>
              <a:rPr lang="en-US" sz="1300" dirty="0">
                <a:solidFill>
                  <a:srgbClr val="1C191A"/>
                </a:solidFill>
                <a:latin typeface="Calibri" pitchFamily="34" charset="0"/>
                <a:ea typeface="Calibri" pitchFamily="34" charset="-122"/>
                <a:cs typeface="Calibri" pitchFamily="34" charset="-120"/>
              </a:rPr>
              <a:t>Record it before any game with that fine is played.</a:t>
            </a:r>
            <a:endParaRPr lang="en-US" sz="1300" dirty="0"/>
          </a:p>
        </p:txBody>
      </p:sp>
      <p:sp>
        <p:nvSpPr>
          <p:cNvPr id="13" name="Text 11"/>
          <p:cNvSpPr txBox="1"/>
          <p:nvPr/>
        </p:nvSpPr>
        <p:spPr>
          <a:xfrm>
            <a:off x="548640" y="4791456"/>
            <a:ext cx="640080" cy="411480"/>
          </a:xfrm>
          <a:prstGeom prst="rect">
            <a:avLst/>
          </a:prstGeom>
          <a:noFill/>
          <a:ln/>
        </p:spPr>
        <p:txBody>
          <a:bodyPr wrap="square" lIns="0" tIns="0" rIns="0" bIns="0" rtlCol="0" anchor="t"/>
          <a:lstStyle/>
          <a:p>
            <a:pPr marL="0" indent="0">
              <a:buNone/>
            </a:pPr>
            <a:r>
              <a:rPr lang="en-US" sz="2200" dirty="0">
                <a:solidFill>
                  <a:srgbClr val="8F8F8F"/>
                </a:solidFill>
                <a:latin typeface="Calibri Light" pitchFamily="34" charset="0"/>
                <a:ea typeface="Calibri Light" pitchFamily="34" charset="-122"/>
                <a:cs typeface="Calibri Light" pitchFamily="34" charset="-120"/>
              </a:rPr>
              <a:t>04</a:t>
            </a:r>
            <a:endParaRPr lang="en-US" sz="2200" dirty="0"/>
          </a:p>
        </p:txBody>
      </p:sp>
      <p:sp>
        <p:nvSpPr>
          <p:cNvPr id="14" name="Text 12"/>
          <p:cNvSpPr txBox="1"/>
          <p:nvPr/>
        </p:nvSpPr>
        <p:spPr>
          <a:xfrm>
            <a:off x="1280160" y="4809744"/>
            <a:ext cx="5120640" cy="347472"/>
          </a:xfrm>
          <a:prstGeom prst="rect">
            <a:avLst/>
          </a:prstGeom>
          <a:noFill/>
          <a:ln/>
        </p:spPr>
        <p:txBody>
          <a:bodyPr wrap="square" lIns="0" tIns="0" rIns="0" bIns="0" rtlCol="0" anchor="t"/>
          <a:lstStyle/>
          <a:p>
            <a:pPr marL="0" indent="0">
              <a:buNone/>
            </a:pPr>
            <a:r>
              <a:rPr lang="en-US" sz="1600" b="1" dirty="0">
                <a:solidFill>
                  <a:srgbClr val="1C191A"/>
                </a:solidFill>
                <a:latin typeface="Georgia" pitchFamily="34" charset="0"/>
                <a:ea typeface="Georgia" pitchFamily="34" charset="-122"/>
                <a:cs typeface="Georgia" pitchFamily="34" charset="-120"/>
              </a:rPr>
              <a:t>Test on new games</a:t>
            </a:r>
            <a:endParaRPr lang="en-US" sz="1600" dirty="0"/>
          </a:p>
        </p:txBody>
      </p:sp>
      <p:sp>
        <p:nvSpPr>
          <p:cNvPr id="15" name="Text 13"/>
          <p:cNvSpPr txBox="1"/>
          <p:nvPr/>
        </p:nvSpPr>
        <p:spPr>
          <a:xfrm>
            <a:off x="1280160" y="5157216"/>
            <a:ext cx="5120640" cy="685800"/>
          </a:xfrm>
          <a:prstGeom prst="rect">
            <a:avLst/>
          </a:prstGeom>
          <a:noFill/>
          <a:ln/>
        </p:spPr>
        <p:txBody>
          <a:bodyPr wrap="square" lIns="0" tIns="0" rIns="0" bIns="0" rtlCol="0" anchor="t"/>
          <a:lstStyle/>
          <a:p>
            <a:pPr marL="0" indent="0">
              <a:buNone/>
            </a:pPr>
            <a:r>
              <a:rPr lang="en-US" sz="1300" dirty="0">
                <a:solidFill>
                  <a:srgbClr val="1C191A"/>
                </a:solidFill>
                <a:latin typeface="Calibri" pitchFamily="34" charset="0"/>
                <a:ea typeface="Calibri" pitchFamily="34" charset="-122"/>
                <a:cs typeface="Calibri" pitchFamily="34" charset="-120"/>
              </a:rPr>
              <a:t>Run the predicted fine and its neighbours on unseen games, and report the outcome either way.</a:t>
            </a:r>
            <a:endParaRPr lang="en-US" sz="1300" dirty="0"/>
          </a:p>
        </p:txBody>
      </p:sp>
      <p:sp>
        <p:nvSpPr>
          <p:cNvPr id="16" name="Shape 14"/>
          <p:cNvSpPr/>
          <p:nvPr/>
        </p:nvSpPr>
        <p:spPr>
          <a:xfrm>
            <a:off x="6858000" y="1120140"/>
            <a:ext cx="4785055" cy="4617720"/>
          </a:xfrm>
          <a:prstGeom prst="roundRect">
            <a:avLst>
              <a:gd name="adj" fmla="val 1584"/>
            </a:avLst>
          </a:prstGeom>
          <a:solidFill>
            <a:srgbClr val="FFFFFF"/>
          </a:solidFill>
          <a:ln w="9525">
            <a:solidFill>
              <a:srgbClr val="E9E7E3"/>
            </a:solidFill>
            <a:prstDash val="solid"/>
          </a:ln>
          <a:effectLst>
            <a:outerShdw blurRad="76200" dist="25400" dir="5400000" algn="bl" rotWithShape="0">
              <a:srgbClr val="000000">
                <a:alpha val="8000"/>
              </a:srgbClr>
            </a:outerShdw>
          </a:effectLst>
        </p:spPr>
        <p:txBody>
          <a:bodyPr/>
          <a:lstStyle/>
          <a:p>
            <a:endParaRPr lang="en-GB"/>
          </a:p>
        </p:txBody>
      </p:sp>
      <p:sp>
        <p:nvSpPr>
          <p:cNvPr id="17" name="Text 15"/>
          <p:cNvSpPr txBox="1"/>
          <p:nvPr/>
        </p:nvSpPr>
        <p:spPr>
          <a:xfrm>
            <a:off x="7132320" y="1348740"/>
            <a:ext cx="4236415" cy="365760"/>
          </a:xfrm>
          <a:prstGeom prst="rect">
            <a:avLst/>
          </a:prstGeom>
          <a:noFill/>
          <a:ln/>
        </p:spPr>
        <p:txBody>
          <a:bodyPr wrap="square" lIns="0" tIns="0" rIns="0" bIns="0" rtlCol="0" anchor="ctr"/>
          <a:lstStyle/>
          <a:p>
            <a:pPr marL="0" indent="0">
              <a:buNone/>
            </a:pPr>
            <a:r>
              <a:rPr lang="en-US" sz="1600" b="1" dirty="0">
                <a:solidFill>
                  <a:srgbClr val="062746"/>
                </a:solidFill>
                <a:latin typeface="Georgia" pitchFamily="34" charset="0"/>
                <a:ea typeface="Georgia" pitchFamily="34" charset="-122"/>
                <a:cs typeface="Georgia" pitchFamily="34" charset="-120"/>
              </a:rPr>
              <a:t>Key quantities</a:t>
            </a:r>
            <a:endParaRPr lang="en-US" sz="1600" dirty="0"/>
          </a:p>
        </p:txBody>
      </p:sp>
      <p:sp>
        <p:nvSpPr>
          <p:cNvPr id="18" name="Text 16"/>
          <p:cNvSpPr txBox="1"/>
          <p:nvPr/>
        </p:nvSpPr>
        <p:spPr>
          <a:xfrm>
            <a:off x="7132320" y="1897380"/>
            <a:ext cx="1417320" cy="548640"/>
          </a:xfrm>
          <a:prstGeom prst="rect">
            <a:avLst/>
          </a:prstGeom>
          <a:noFill/>
          <a:ln/>
        </p:spPr>
        <p:txBody>
          <a:bodyPr wrap="square" lIns="0" tIns="0" rIns="0" bIns="0" rtlCol="0" anchor="t"/>
          <a:lstStyle/>
          <a:p>
            <a:pPr marL="0" indent="0">
              <a:buNone/>
            </a:pPr>
            <a:r>
              <a:rPr lang="en-US" sz="1700" i="1" dirty="0">
                <a:solidFill>
                  <a:srgbClr val="1C191A"/>
                </a:solidFill>
                <a:latin typeface="Georgia" pitchFamily="34" charset="0"/>
                <a:ea typeface="Georgia" pitchFamily="34" charset="-122"/>
                <a:cs typeface="Georgia" pitchFamily="34" charset="-120"/>
              </a:rPr>
              <a:t>q</a:t>
            </a:r>
            <a:endParaRPr lang="en-US" sz="1700" dirty="0"/>
          </a:p>
        </p:txBody>
      </p:sp>
      <p:sp>
        <p:nvSpPr>
          <p:cNvPr id="19" name="Text 17"/>
          <p:cNvSpPr txBox="1"/>
          <p:nvPr/>
        </p:nvSpPr>
        <p:spPr>
          <a:xfrm>
            <a:off x="8641080" y="1915668"/>
            <a:ext cx="2727655" cy="658368"/>
          </a:xfrm>
          <a:prstGeom prst="rect">
            <a:avLst/>
          </a:prstGeom>
          <a:noFill/>
          <a:ln/>
        </p:spPr>
        <p:txBody>
          <a:bodyPr wrap="square" lIns="0" tIns="0" rIns="0" bIns="0" rtlCol="0" anchor="t"/>
          <a:lstStyle/>
          <a:p>
            <a:pPr marL="0" indent="0">
              <a:buNone/>
            </a:pPr>
            <a:r>
              <a:rPr lang="en-US" sz="1250" dirty="0">
                <a:solidFill>
                  <a:srgbClr val="1C191A"/>
                </a:solidFill>
                <a:latin typeface="Calibri" pitchFamily="34" charset="0"/>
                <a:ea typeface="Calibri" pitchFamily="34" charset="-122"/>
                <a:cs typeface="Calibri" pitchFamily="34" charset="-120"/>
              </a:rPr>
              <a:t>audit probability per agent and round (1 in 6 for the language models)</a:t>
            </a:r>
            <a:endParaRPr lang="en-US" sz="1250" dirty="0"/>
          </a:p>
        </p:txBody>
      </p:sp>
      <p:sp>
        <p:nvSpPr>
          <p:cNvPr id="20" name="Text 18"/>
          <p:cNvSpPr txBox="1"/>
          <p:nvPr/>
        </p:nvSpPr>
        <p:spPr>
          <a:xfrm>
            <a:off x="7132320" y="2647188"/>
            <a:ext cx="1417320" cy="548640"/>
          </a:xfrm>
          <a:prstGeom prst="rect">
            <a:avLst/>
          </a:prstGeom>
          <a:noFill/>
          <a:ln/>
        </p:spPr>
        <p:txBody>
          <a:bodyPr wrap="square" lIns="0" tIns="0" rIns="0" bIns="0" rtlCol="0" anchor="t"/>
          <a:lstStyle/>
          <a:p>
            <a:pPr marL="0" indent="0">
              <a:buNone/>
            </a:pPr>
            <a:r>
              <a:rPr lang="en-US" sz="1700" i="1" dirty="0">
                <a:solidFill>
                  <a:srgbClr val="1C191A"/>
                </a:solidFill>
                <a:latin typeface="Georgia" pitchFamily="34" charset="0"/>
                <a:ea typeface="Georgia" pitchFamily="34" charset="-122"/>
                <a:cs typeface="Georgia" pitchFamily="34" charset="-120"/>
              </a:rPr>
              <a:t>F</a:t>
            </a:r>
            <a:endParaRPr lang="en-US" sz="1700" dirty="0"/>
          </a:p>
        </p:txBody>
      </p:sp>
      <p:sp>
        <p:nvSpPr>
          <p:cNvPr id="21" name="Text 19"/>
          <p:cNvSpPr txBox="1"/>
          <p:nvPr/>
        </p:nvSpPr>
        <p:spPr>
          <a:xfrm>
            <a:off x="8641080" y="2665476"/>
            <a:ext cx="2727655" cy="658368"/>
          </a:xfrm>
          <a:prstGeom prst="rect">
            <a:avLst/>
          </a:prstGeom>
          <a:noFill/>
          <a:ln/>
        </p:spPr>
        <p:txBody>
          <a:bodyPr wrap="square" lIns="0" tIns="0" rIns="0" bIns="0" rtlCol="0" anchor="t"/>
          <a:lstStyle/>
          <a:p>
            <a:pPr marL="0" indent="0">
              <a:buNone/>
            </a:pPr>
            <a:r>
              <a:rPr lang="en-US" sz="1250" dirty="0">
                <a:solidFill>
                  <a:srgbClr val="1C191A"/>
                </a:solidFill>
                <a:latin typeface="Calibri" pitchFamily="34" charset="0"/>
                <a:ea typeface="Calibri" pitchFamily="34" charset="-122"/>
                <a:cs typeface="Calibri" pitchFamily="34" charset="-120"/>
              </a:rPr>
              <a:t>fine paid when an audit catches over-taking</a:t>
            </a:r>
            <a:endParaRPr lang="en-US" sz="1250" dirty="0"/>
          </a:p>
        </p:txBody>
      </p:sp>
      <p:sp>
        <p:nvSpPr>
          <p:cNvPr id="22" name="Text 20"/>
          <p:cNvSpPr txBox="1"/>
          <p:nvPr/>
        </p:nvSpPr>
        <p:spPr>
          <a:xfrm>
            <a:off x="7132320" y="3396996"/>
            <a:ext cx="1417320" cy="548640"/>
          </a:xfrm>
          <a:prstGeom prst="rect">
            <a:avLst/>
          </a:prstGeom>
          <a:noFill/>
          <a:ln/>
        </p:spPr>
        <p:txBody>
          <a:bodyPr wrap="square" lIns="0" tIns="0" rIns="0" bIns="0" rtlCol="0" anchor="t"/>
          <a:lstStyle/>
          <a:p>
            <a:pPr marL="0" indent="0">
              <a:buNone/>
            </a:pPr>
            <a:r>
              <a:rPr lang="en-US" sz="1700" dirty="0">
                <a:solidFill>
                  <a:srgbClr val="1C191A"/>
                </a:solidFill>
                <a:latin typeface="Georgia" pitchFamily="34" charset="0"/>
                <a:ea typeface="Georgia" pitchFamily="34" charset="-122"/>
                <a:cs typeface="Georgia" pitchFamily="34" charset="-120"/>
              </a:rPr>
              <a:t>e = q × F</a:t>
            </a:r>
            <a:endParaRPr lang="en-US" sz="1700" dirty="0"/>
          </a:p>
        </p:txBody>
      </p:sp>
      <p:sp>
        <p:nvSpPr>
          <p:cNvPr id="23" name="Text 21"/>
          <p:cNvSpPr txBox="1"/>
          <p:nvPr/>
        </p:nvSpPr>
        <p:spPr>
          <a:xfrm>
            <a:off x="8641080" y="3415284"/>
            <a:ext cx="2727655" cy="658368"/>
          </a:xfrm>
          <a:prstGeom prst="rect">
            <a:avLst/>
          </a:prstGeom>
          <a:noFill/>
          <a:ln/>
        </p:spPr>
        <p:txBody>
          <a:bodyPr wrap="square" lIns="0" tIns="0" rIns="0" bIns="0" rtlCol="0" anchor="t"/>
          <a:lstStyle/>
          <a:p>
            <a:pPr marL="0" indent="0">
              <a:buNone/>
            </a:pPr>
            <a:r>
              <a:rPr lang="en-US" sz="1250" dirty="0">
                <a:solidFill>
                  <a:srgbClr val="1C191A"/>
                </a:solidFill>
                <a:latin typeface="Calibri" pitchFamily="34" charset="0"/>
                <a:ea typeface="Calibri" pitchFamily="34" charset="-122"/>
                <a:cs typeface="Calibri" pitchFamily="34" charset="-120"/>
              </a:rPr>
              <a:t>expected fine per round of over-taking</a:t>
            </a:r>
            <a:endParaRPr lang="en-US" sz="1250" dirty="0"/>
          </a:p>
        </p:txBody>
      </p:sp>
      <p:sp>
        <p:nvSpPr>
          <p:cNvPr id="24" name="Text 22"/>
          <p:cNvSpPr txBox="1"/>
          <p:nvPr/>
        </p:nvSpPr>
        <p:spPr>
          <a:xfrm>
            <a:off x="7132320" y="4146804"/>
            <a:ext cx="1417320" cy="548640"/>
          </a:xfrm>
          <a:prstGeom prst="rect">
            <a:avLst/>
          </a:prstGeom>
          <a:noFill/>
          <a:ln/>
        </p:spPr>
        <p:txBody>
          <a:bodyPr wrap="square" lIns="0" tIns="0" rIns="0" bIns="0" rtlCol="0" anchor="t"/>
          <a:lstStyle/>
          <a:p>
            <a:pPr marL="0" indent="0">
              <a:buNone/>
            </a:pPr>
            <a:r>
              <a:rPr lang="en-US" sz="1700" i="1" dirty="0">
                <a:solidFill>
                  <a:srgbClr val="1C191A"/>
                </a:solidFill>
                <a:latin typeface="Georgia" pitchFamily="34" charset="0"/>
                <a:ea typeface="Georgia" pitchFamily="34" charset="-122"/>
                <a:cs typeface="Georgia" pitchFamily="34" charset="-120"/>
              </a:rPr>
              <a:t>g</a:t>
            </a:r>
            <a:endParaRPr lang="en-US" sz="1700" dirty="0"/>
          </a:p>
        </p:txBody>
      </p:sp>
      <p:sp>
        <p:nvSpPr>
          <p:cNvPr id="25" name="Text 23"/>
          <p:cNvSpPr txBox="1"/>
          <p:nvPr/>
        </p:nvSpPr>
        <p:spPr>
          <a:xfrm>
            <a:off x="8641080" y="4165092"/>
            <a:ext cx="2727655" cy="658368"/>
          </a:xfrm>
          <a:prstGeom prst="rect">
            <a:avLst/>
          </a:prstGeom>
          <a:noFill/>
          <a:ln/>
        </p:spPr>
        <p:txBody>
          <a:bodyPr wrap="square" lIns="0" tIns="0" rIns="0" bIns="0" rtlCol="0" anchor="t"/>
          <a:lstStyle/>
          <a:p>
            <a:pPr marL="0" indent="0">
              <a:buNone/>
            </a:pPr>
            <a:r>
              <a:rPr lang="en-US" sz="1250" dirty="0">
                <a:solidFill>
                  <a:srgbClr val="1C191A"/>
                </a:solidFill>
                <a:latin typeface="Calibri" pitchFamily="34" charset="0"/>
                <a:ea typeface="Calibri" pitchFamily="34" charset="-122"/>
                <a:cs typeface="Calibri" pitchFamily="34" charset="-120"/>
              </a:rPr>
              <a:t>gain from one round of over-taking</a:t>
            </a:r>
            <a:endParaRPr lang="en-US" sz="1250" dirty="0"/>
          </a:p>
        </p:txBody>
      </p:sp>
      <p:sp>
        <p:nvSpPr>
          <p:cNvPr id="26" name="Text 24"/>
          <p:cNvSpPr txBox="1"/>
          <p:nvPr/>
        </p:nvSpPr>
        <p:spPr>
          <a:xfrm>
            <a:off x="7132320" y="4896612"/>
            <a:ext cx="1417320" cy="548640"/>
          </a:xfrm>
          <a:prstGeom prst="rect">
            <a:avLst/>
          </a:prstGeom>
          <a:noFill/>
          <a:ln/>
        </p:spPr>
        <p:txBody>
          <a:bodyPr wrap="square" lIns="0" tIns="0" rIns="0" bIns="0" rtlCol="0" anchor="t"/>
          <a:lstStyle/>
          <a:p>
            <a:pPr marL="0" indent="0">
              <a:buNone/>
            </a:pPr>
            <a:r>
              <a:rPr lang="en-US" sz="1700" b="1" dirty="0">
                <a:solidFill>
                  <a:srgbClr val="062746"/>
                </a:solidFill>
                <a:latin typeface="Georgia" pitchFamily="34" charset="0"/>
                <a:ea typeface="Georgia" pitchFamily="34" charset="-122"/>
                <a:cs typeface="Georgia" pitchFamily="34" charset="-120"/>
              </a:rPr>
              <a:t>e &gt; g</a:t>
            </a:r>
            <a:endParaRPr lang="en-US" sz="1700" dirty="0"/>
          </a:p>
        </p:txBody>
      </p:sp>
      <p:sp>
        <p:nvSpPr>
          <p:cNvPr id="27" name="Text 25"/>
          <p:cNvSpPr txBox="1"/>
          <p:nvPr/>
        </p:nvSpPr>
        <p:spPr>
          <a:xfrm>
            <a:off x="8641080" y="4914900"/>
            <a:ext cx="2727655" cy="658368"/>
          </a:xfrm>
          <a:prstGeom prst="rect">
            <a:avLst/>
          </a:prstGeom>
          <a:noFill/>
          <a:ln/>
        </p:spPr>
        <p:txBody>
          <a:bodyPr wrap="square" lIns="0" tIns="0" rIns="0" bIns="0" rtlCol="0" anchor="t"/>
          <a:lstStyle/>
          <a:p>
            <a:pPr marL="0" indent="0">
              <a:buNone/>
            </a:pPr>
            <a:r>
              <a:rPr lang="en-US" sz="1250" dirty="0">
                <a:solidFill>
                  <a:srgbClr val="1C191A"/>
                </a:solidFill>
                <a:latin typeface="Calibri" pitchFamily="34" charset="0"/>
                <a:ea typeface="Calibri" pitchFamily="34" charset="-122"/>
                <a:cs typeface="Calibri" pitchFamily="34" charset="-120"/>
              </a:rPr>
              <a:t>prediction: over-taking stops (Becker 1968)</a:t>
            </a:r>
            <a:endParaRPr lang="en-US" sz="1250" dirty="0"/>
          </a:p>
        </p:txBody>
      </p:sp>
      <p:sp>
        <p:nvSpPr>
          <p:cNvPr id="28" name="Text 26"/>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marL="0" indent="0" algn="l">
              <a:lnSpc>
                <a:spcPct val="95000"/>
              </a:lnSpc>
              <a:buNone/>
            </a:pPr>
            <a:r>
              <a:rPr lang="en-US" sz="3400" b="1" dirty="0">
                <a:solidFill>
                  <a:srgbClr val="062746"/>
                </a:solidFill>
                <a:latin typeface="Georgia" pitchFamily="34" charset="0"/>
                <a:ea typeface="Georgia" pitchFamily="34" charset="-122"/>
                <a:cs typeface="Georgia" pitchFamily="34" charset="-120"/>
              </a:rPr>
              <a:t>Finding 1: A Catch Needs a Consequence</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Text 2"/>
          <p:cNvSpPr txBox="1"/>
          <p:nvPr/>
        </p:nvSpPr>
        <p:spPr>
          <a:xfrm>
            <a:off x="548640" y="1545336"/>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Setup</a:t>
            </a:r>
            <a:endParaRPr lang="en-US" sz="1700" dirty="0"/>
          </a:p>
        </p:txBody>
      </p:sp>
      <p:sp>
        <p:nvSpPr>
          <p:cNvPr id="5" name="Text 3"/>
          <p:cNvSpPr txBox="1"/>
          <p:nvPr/>
        </p:nvSpPr>
        <p:spPr>
          <a:xfrm>
            <a:off x="548640" y="1929384"/>
            <a:ext cx="4572000" cy="297180"/>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Some agents under-report what they will take.</a:t>
            </a:r>
            <a:endParaRPr lang="en-US" sz="1400" dirty="0"/>
          </a:p>
        </p:txBody>
      </p:sp>
      <p:sp>
        <p:nvSpPr>
          <p:cNvPr id="6" name="Text 4"/>
          <p:cNvSpPr txBox="1"/>
          <p:nvPr/>
        </p:nvSpPr>
        <p:spPr>
          <a:xfrm>
            <a:off x="548640" y="2391156"/>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Audits without memory</a:t>
            </a:r>
            <a:endParaRPr lang="en-US" sz="1700" dirty="0"/>
          </a:p>
        </p:txBody>
      </p:sp>
      <p:sp>
        <p:nvSpPr>
          <p:cNvPr id="7" name="Text 5"/>
          <p:cNvSpPr txBox="1"/>
          <p:nvPr/>
        </p:nvSpPr>
        <p:spPr>
          <a:xfrm>
            <a:off x="548640" y="2775204"/>
            <a:ext cx="4572000" cy="521208"/>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Correcting only the caught round removed 10–46% of the harm.</a:t>
            </a:r>
            <a:endParaRPr lang="en-US" sz="1400" dirty="0"/>
          </a:p>
        </p:txBody>
      </p:sp>
      <p:sp>
        <p:nvSpPr>
          <p:cNvPr id="8" name="Text 6"/>
          <p:cNvSpPr txBox="1"/>
          <p:nvPr/>
        </p:nvSpPr>
        <p:spPr>
          <a:xfrm>
            <a:off x="548640" y="3461004"/>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Audits with memory</a:t>
            </a:r>
            <a:endParaRPr lang="en-US" sz="1700" dirty="0"/>
          </a:p>
        </p:txBody>
      </p:sp>
      <p:sp>
        <p:nvSpPr>
          <p:cNvPr id="9" name="Text 7"/>
          <p:cNvSpPr txBox="1"/>
          <p:nvPr/>
        </p:nvSpPr>
        <p:spPr>
          <a:xfrm>
            <a:off x="548640" y="3845052"/>
            <a:ext cx="4572000" cy="745236"/>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Remembering each caught lie reduced harm in 12 of 12 settings. In Fishery, rounds below half capacity fell from 43–99% to under 3%.</a:t>
            </a:r>
            <a:endParaRPr lang="en-US" sz="1400" dirty="0"/>
          </a:p>
        </p:txBody>
      </p:sp>
      <p:pic>
        <p:nvPicPr>
          <p:cNvPr id="10" name="Image 0" descr="fig3_audits_memory.png"/>
          <p:cNvPicPr>
            <a:picLocks noChangeAspect="1"/>
          </p:cNvPicPr>
          <p:nvPr/>
        </p:nvPicPr>
        <p:blipFill>
          <a:blip r:embed="rId3"/>
          <a:stretch>
            <a:fillRect/>
          </a:stretch>
        </p:blipFill>
        <p:spPr>
          <a:xfrm>
            <a:off x="5532120" y="2086674"/>
            <a:ext cx="6110935" cy="2766948"/>
          </a:xfrm>
          <a:prstGeom prst="rect">
            <a:avLst/>
          </a:prstGeom>
        </p:spPr>
      </p:pic>
      <p:sp>
        <p:nvSpPr>
          <p:cNvPr id="11" name="Text 8"/>
          <p:cNvSpPr txBox="1"/>
          <p:nvPr/>
        </p:nvSpPr>
        <p:spPr>
          <a:xfrm>
            <a:off x="5532120" y="4963350"/>
            <a:ext cx="6110935" cy="502920"/>
          </a:xfrm>
          <a:prstGeom prst="rect">
            <a:avLst/>
          </a:prstGeom>
          <a:noFill/>
          <a:ln/>
        </p:spPr>
        <p:txBody>
          <a:bodyPr wrap="square" lIns="0" tIns="0" rIns="0" bIns="0" rtlCol="0" anchor="t"/>
          <a:lstStyle/>
          <a:p>
            <a:pPr marL="0" indent="0" algn="ctr">
              <a:buNone/>
            </a:pPr>
            <a:r>
              <a:rPr lang="en-US" sz="1100" i="1" dirty="0">
                <a:solidFill>
                  <a:srgbClr val="55524E"/>
                </a:solidFill>
                <a:latin typeface="Calibri" pitchFamily="34" charset="0"/>
                <a:ea typeface="Calibri" pitchFamily="34" charset="-122"/>
                <a:cs typeface="Calibri" pitchFamily="34" charset="-120"/>
              </a:rPr>
              <a:t>Rounds below half capacity with under-reporting agents. Dark: no audits. Light: audits without memory. Green: audits with memory. 2g/4g = 2 or 4 misbehaving agents; 1.0/0.85 = regrowth rate.</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marL="0" indent="0" algn="r">
              <a:lnSpc>
                <a:spcPct val="95000"/>
              </a:lnSpc>
              <a:buNone/>
            </a:pPr>
            <a:r>
              <a:rPr lang="en-US" sz="3400" b="1" dirty="0">
                <a:solidFill>
                  <a:srgbClr val="062746"/>
                </a:solidFill>
                <a:latin typeface="Georgia" pitchFamily="34" charset="0"/>
                <a:ea typeface="Georgia" pitchFamily="34" charset="-122"/>
                <a:cs typeface="Georgia" pitchFamily="34" charset="-120"/>
              </a:rPr>
              <a:t>Finding 2: A Predictable Threshold</a:t>
            </a:r>
            <a:endParaRPr lang="en-US" sz="3400" dirty="0"/>
          </a:p>
        </p:txBody>
      </p:sp>
      <p:sp>
        <p:nvSpPr>
          <p:cNvPr id="3" name="Shape 1"/>
          <p:cNvSpPr/>
          <p:nvPr/>
        </p:nvSpPr>
        <p:spPr>
          <a:xfrm>
            <a:off x="8351215" y="127101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Text 2"/>
          <p:cNvSpPr txBox="1"/>
          <p:nvPr/>
        </p:nvSpPr>
        <p:spPr>
          <a:xfrm>
            <a:off x="7071055" y="1545336"/>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Prediction</a:t>
            </a:r>
            <a:endParaRPr lang="en-US" sz="1700" dirty="0"/>
          </a:p>
        </p:txBody>
      </p:sp>
      <p:sp>
        <p:nvSpPr>
          <p:cNvPr id="5" name="Text 3"/>
          <p:cNvSpPr txBox="1"/>
          <p:nvPr/>
        </p:nvSpPr>
        <p:spPr>
          <a:xfrm>
            <a:off x="7071055" y="1929384"/>
            <a:ext cx="4572000" cy="521208"/>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From games without audits, we predicted the expected fine at which programmed cheaters would stop.</a:t>
            </a:r>
            <a:endParaRPr lang="en-US" sz="1400" dirty="0"/>
          </a:p>
        </p:txBody>
      </p:sp>
      <p:sp>
        <p:nvSpPr>
          <p:cNvPr id="6" name="Text 4"/>
          <p:cNvSpPr txBox="1"/>
          <p:nvPr/>
        </p:nvSpPr>
        <p:spPr>
          <a:xfrm>
            <a:off x="7071055" y="2615184"/>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Result</a:t>
            </a:r>
            <a:endParaRPr lang="en-US" sz="1700" dirty="0"/>
          </a:p>
        </p:txBody>
      </p:sp>
      <p:sp>
        <p:nvSpPr>
          <p:cNvPr id="7" name="Text 5"/>
          <p:cNvSpPr txBox="1"/>
          <p:nvPr/>
        </p:nvSpPr>
        <p:spPr>
          <a:xfrm>
            <a:off x="7071055" y="2999232"/>
            <a:ext cx="4572000" cy="521208"/>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5 of 5 new settings landed within one step of the prediction.</a:t>
            </a:r>
            <a:endParaRPr lang="en-US" sz="1400" dirty="0"/>
          </a:p>
        </p:txBody>
      </p:sp>
      <p:sp>
        <p:nvSpPr>
          <p:cNvPr id="8" name="Text 6"/>
          <p:cNvSpPr txBox="1"/>
          <p:nvPr/>
        </p:nvSpPr>
        <p:spPr>
          <a:xfrm>
            <a:off x="7071055" y="3685032"/>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Caveat</a:t>
            </a:r>
            <a:endParaRPr lang="en-US" sz="1700" dirty="0"/>
          </a:p>
        </p:txBody>
      </p:sp>
      <p:sp>
        <p:nvSpPr>
          <p:cNvPr id="9" name="Text 7"/>
          <p:cNvSpPr txBox="1"/>
          <p:nvPr/>
        </p:nvSpPr>
        <p:spPr>
          <a:xfrm>
            <a:off x="7071055" y="4069080"/>
            <a:ext cx="4572000" cy="521208"/>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These agents optimise by design, so this validates the method before it is used on language models.</a:t>
            </a:r>
            <a:endParaRPr lang="en-US" sz="1400" dirty="0"/>
          </a:p>
        </p:txBody>
      </p:sp>
      <p:pic>
        <p:nvPicPr>
          <p:cNvPr id="10" name="Image 0" descr="fig3_audits_threshold.png"/>
          <p:cNvPicPr>
            <a:picLocks noChangeAspect="1"/>
          </p:cNvPicPr>
          <p:nvPr/>
        </p:nvPicPr>
        <p:blipFill>
          <a:blip r:embed="rId3"/>
          <a:stretch>
            <a:fillRect/>
          </a:stretch>
        </p:blipFill>
        <p:spPr>
          <a:xfrm>
            <a:off x="548640" y="1512279"/>
            <a:ext cx="6110935" cy="4098618"/>
          </a:xfrm>
          <a:prstGeom prst="rect">
            <a:avLst/>
          </a:prstGeom>
        </p:spPr>
      </p:pic>
      <p:sp>
        <p:nvSpPr>
          <p:cNvPr id="11" name="Text 8"/>
          <p:cNvSpPr txBox="1"/>
          <p:nvPr/>
        </p:nvSpPr>
        <p:spPr>
          <a:xfrm>
            <a:off x="548640" y="5720625"/>
            <a:ext cx="6110935" cy="502920"/>
          </a:xfrm>
          <a:prstGeom prst="rect">
            <a:avLst/>
          </a:prstGeom>
          <a:noFill/>
          <a:ln/>
        </p:spPr>
        <p:txBody>
          <a:bodyPr wrap="square" lIns="0" tIns="0" rIns="0" bIns="0" rtlCol="0" anchor="t"/>
          <a:lstStyle/>
          <a:p>
            <a:pPr marL="0" indent="0" algn="ctr">
              <a:buNone/>
            </a:pPr>
            <a:r>
              <a:rPr lang="en-US" sz="1100" i="1" dirty="0">
                <a:solidFill>
                  <a:srgbClr val="55524E"/>
                </a:solidFill>
                <a:latin typeface="Calibri" pitchFamily="34" charset="0"/>
                <a:ea typeface="Calibri" pitchFamily="34" charset="-122"/>
                <a:cs typeface="Calibri" pitchFamily="34" charset="-120"/>
              </a:rPr>
              <a:t>Observed against predicted stopping point. Filled: new settings, predicted first. Open: audit probability or detection varied.</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74320"/>
            <a:ext cx="11094415" cy="822960"/>
          </a:xfrm>
          <a:prstGeom prst="rect">
            <a:avLst/>
          </a:prstGeom>
          <a:noFill/>
          <a:ln/>
        </p:spPr>
        <p:txBody>
          <a:bodyPr wrap="square" lIns="0" tIns="0" rIns="0" bIns="0" rtlCol="0" anchor="b"/>
          <a:lstStyle/>
          <a:p>
            <a:pPr marL="0" indent="0" algn="ctr">
              <a:lnSpc>
                <a:spcPct val="95000"/>
              </a:lnSpc>
              <a:buNone/>
            </a:pPr>
            <a:r>
              <a:rPr lang="en-US" sz="3200" b="1" dirty="0">
                <a:solidFill>
                  <a:srgbClr val="062746"/>
                </a:solidFill>
                <a:latin typeface="Georgia" pitchFamily="34" charset="0"/>
                <a:ea typeface="Georgia" pitchFamily="34" charset="-122"/>
                <a:cs typeface="Georgia" pitchFamily="34" charset="-120"/>
              </a:rPr>
              <a:t>Finding 3: Two Shortcuts That Backfire</a:t>
            </a:r>
            <a:endParaRPr lang="en-US" sz="3200" dirty="0"/>
          </a:p>
        </p:txBody>
      </p:sp>
      <p:pic>
        <p:nvPicPr>
          <p:cNvPr id="3" name="Image 0" descr="fig3_audits_rules.png"/>
          <p:cNvPicPr>
            <a:picLocks noChangeAspect="1"/>
          </p:cNvPicPr>
          <p:nvPr/>
        </p:nvPicPr>
        <p:blipFill>
          <a:blip r:embed="rId3"/>
          <a:stretch>
            <a:fillRect/>
          </a:stretch>
        </p:blipFill>
        <p:spPr>
          <a:xfrm>
            <a:off x="548640" y="1356875"/>
            <a:ext cx="5364328" cy="3504170"/>
          </a:xfrm>
          <a:prstGeom prst="rect">
            <a:avLst/>
          </a:prstGeom>
        </p:spPr>
      </p:pic>
      <p:sp>
        <p:nvSpPr>
          <p:cNvPr id="4" name="Text 1"/>
          <p:cNvSpPr txBox="1"/>
          <p:nvPr/>
        </p:nvSpPr>
        <p:spPr>
          <a:xfrm>
            <a:off x="548640" y="4952485"/>
            <a:ext cx="5364328" cy="502920"/>
          </a:xfrm>
          <a:prstGeom prst="rect">
            <a:avLst/>
          </a:prstGeom>
          <a:noFill/>
          <a:ln/>
        </p:spPr>
        <p:txBody>
          <a:bodyPr wrap="square" lIns="0" tIns="0" rIns="0" bIns="0" rtlCol="0" anchor="t"/>
          <a:lstStyle/>
          <a:p>
            <a:pPr marL="0" indent="0" algn="ctr">
              <a:buNone/>
            </a:pPr>
            <a:r>
              <a:rPr lang="en-US" sz="1100" i="1" dirty="0">
                <a:solidFill>
                  <a:srgbClr val="55524E"/>
                </a:solidFill>
                <a:latin typeface="Calibri" pitchFamily="34" charset="0"/>
                <a:ea typeface="Calibri" pitchFamily="34" charset="-122"/>
                <a:cs typeface="Calibri" pitchFamily="34" charset="-120"/>
              </a:rPr>
              <a:t>Cutting everyone's allowance to absorb cheaters: cheaters gained more than with no audits (142 vs 113).</a:t>
            </a:r>
            <a:endParaRPr lang="en-US" sz="1100" dirty="0"/>
          </a:p>
        </p:txBody>
      </p:sp>
      <p:pic>
        <p:nvPicPr>
          <p:cNvPr id="5" name="Image 1" descr="fig3_audits_targeting.png"/>
          <p:cNvPicPr>
            <a:picLocks noChangeAspect="1"/>
          </p:cNvPicPr>
          <p:nvPr/>
        </p:nvPicPr>
        <p:blipFill>
          <a:blip r:embed="rId4"/>
          <a:stretch>
            <a:fillRect/>
          </a:stretch>
        </p:blipFill>
        <p:spPr>
          <a:xfrm>
            <a:off x="6278728" y="1371723"/>
            <a:ext cx="5364328" cy="3474474"/>
          </a:xfrm>
          <a:prstGeom prst="rect">
            <a:avLst/>
          </a:prstGeom>
        </p:spPr>
      </p:pic>
      <p:sp>
        <p:nvSpPr>
          <p:cNvPr id="6" name="Text 2"/>
          <p:cNvSpPr txBox="1"/>
          <p:nvPr/>
        </p:nvSpPr>
        <p:spPr>
          <a:xfrm>
            <a:off x="6278728" y="4937637"/>
            <a:ext cx="5364328" cy="502920"/>
          </a:xfrm>
          <a:prstGeom prst="rect">
            <a:avLst/>
          </a:prstGeom>
          <a:noFill/>
          <a:ln/>
        </p:spPr>
        <p:txBody>
          <a:bodyPr wrap="square" lIns="0" tIns="0" rIns="0" bIns="0" rtlCol="0" anchor="t"/>
          <a:lstStyle/>
          <a:p>
            <a:pPr marL="0" indent="0" algn="ctr">
              <a:buNone/>
            </a:pPr>
            <a:r>
              <a:rPr lang="en-US" sz="1100" i="1" dirty="0">
                <a:solidFill>
                  <a:srgbClr val="55524E"/>
                </a:solidFill>
                <a:latin typeface="Calibri" pitchFamily="34" charset="0"/>
                <a:ea typeface="Calibri" pitchFamily="34" charset="-122"/>
                <a:cs typeface="Calibri" pitchFamily="34" charset="-120"/>
              </a:rPr>
              <a:t>Always auditing the largest report: 25% of liars caught, against 100% with random audits.</a:t>
            </a:r>
            <a:endParaRPr lang="en-US" sz="1100" dirty="0"/>
          </a:p>
        </p:txBody>
      </p:sp>
      <p:sp>
        <p:nvSpPr>
          <p:cNvPr id="7" name="Text 3"/>
          <p:cNvSpPr txBox="1"/>
          <p:nvPr/>
        </p:nvSpPr>
        <p:spPr>
          <a:xfrm>
            <a:off x="1005840" y="5897880"/>
            <a:ext cx="10180015" cy="411480"/>
          </a:xfrm>
          <a:prstGeom prst="rect">
            <a:avLst/>
          </a:prstGeom>
          <a:noFill/>
          <a:ln/>
        </p:spPr>
        <p:txBody>
          <a:bodyPr wrap="square" lIns="0" tIns="0" rIns="0" bIns="0" rtlCol="0" anchor="ctr"/>
          <a:lstStyle/>
          <a:p>
            <a:pPr marL="0" indent="0" algn="ctr">
              <a:buNone/>
            </a:pPr>
            <a:r>
              <a:rPr lang="en-US" sz="1700" b="1" dirty="0">
                <a:solidFill>
                  <a:srgbClr val="062746"/>
                </a:solidFill>
                <a:latin typeface="Georgia" pitchFamily="34" charset="0"/>
                <a:ea typeface="Georgia" pitchFamily="34" charset="-122"/>
                <a:cs typeface="Georgia" pitchFamily="34" charset="-120"/>
              </a:rPr>
              <a:t>Shortcuts that save audits create blind spots</a:t>
            </a:r>
            <a:endParaRPr lang="en-US" sz="1700" dirty="0"/>
          </a:p>
        </p:txBody>
      </p:sp>
      <p:sp>
        <p:nvSpPr>
          <p:cNvPr id="8" name="Text 4"/>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74320"/>
            <a:ext cx="11094415" cy="822960"/>
          </a:xfrm>
          <a:prstGeom prst="rect">
            <a:avLst/>
          </a:prstGeom>
          <a:noFill/>
          <a:ln/>
        </p:spPr>
        <p:txBody>
          <a:bodyPr wrap="square" lIns="0" tIns="0" rIns="0" bIns="0" rtlCol="0" anchor="b"/>
          <a:lstStyle/>
          <a:p>
            <a:pPr marL="0" indent="0" algn="ctr">
              <a:lnSpc>
                <a:spcPct val="95000"/>
              </a:lnSpc>
              <a:buNone/>
            </a:pPr>
            <a:r>
              <a:rPr lang="en-US" sz="3200" b="1" dirty="0">
                <a:solidFill>
                  <a:srgbClr val="062746"/>
                </a:solidFill>
                <a:latin typeface="Georgia" pitchFamily="34" charset="0"/>
                <a:ea typeface="Georgia" pitchFamily="34" charset="-122"/>
                <a:cs typeface="Georgia" pitchFamily="34" charset="-120"/>
              </a:rPr>
              <a:t>Finding 4: Language Models Stop Where Predicted</a:t>
            </a:r>
            <a:endParaRPr lang="en-US" sz="3200" dirty="0"/>
          </a:p>
        </p:txBody>
      </p:sp>
      <p:pic>
        <p:nvPicPr>
          <p:cNvPr id="3" name="Image 0" descr="fig4_llm_main.png"/>
          <p:cNvPicPr>
            <a:picLocks noChangeAspect="1"/>
          </p:cNvPicPr>
          <p:nvPr/>
        </p:nvPicPr>
        <p:blipFill>
          <a:blip r:embed="rId3"/>
          <a:stretch>
            <a:fillRect/>
          </a:stretch>
        </p:blipFill>
        <p:spPr>
          <a:xfrm>
            <a:off x="1757583" y="1234440"/>
            <a:ext cx="8676530" cy="3977640"/>
          </a:xfrm>
          <a:prstGeom prst="rect">
            <a:avLst/>
          </a:prstGeom>
        </p:spPr>
      </p:pic>
      <p:sp>
        <p:nvSpPr>
          <p:cNvPr id="4" name="Text 1"/>
          <p:cNvSpPr txBox="1"/>
          <p:nvPr/>
        </p:nvSpPr>
        <p:spPr>
          <a:xfrm>
            <a:off x="1463040" y="5303520"/>
            <a:ext cx="9265615" cy="502920"/>
          </a:xfrm>
          <a:prstGeom prst="rect">
            <a:avLst/>
          </a:prstGeom>
          <a:noFill/>
          <a:ln/>
        </p:spPr>
        <p:txBody>
          <a:bodyPr wrap="square" lIns="0" tIns="0" rIns="0" bIns="0" rtlCol="0" anchor="t"/>
          <a:lstStyle/>
          <a:p>
            <a:pPr marL="0" indent="0" algn="ctr">
              <a:buNone/>
            </a:pPr>
            <a:r>
              <a:rPr lang="en-US" sz="1100" i="1" dirty="0">
                <a:solidFill>
                  <a:srgbClr val="55524E"/>
                </a:solidFill>
                <a:latin typeface="Calibri" pitchFamily="34" charset="0"/>
                <a:ea typeface="Calibri" pitchFamily="34" charset="-122"/>
                <a:cs typeface="Calibri" pitchFamily="34" charset="-120"/>
              </a:rPr>
              <a:t>Four open language models each ran four of six fishers (520 games; audit probability 1 in 6). Left: over-taking by fine; triangles mark the predicted (open) and observed (filled) stopping fine. Right: catch left for the two rule-following fishers.</a:t>
            </a:r>
            <a:endParaRPr lang="en-US" sz="1100" dirty="0"/>
          </a:p>
        </p:txBody>
      </p:sp>
      <p:sp>
        <p:nvSpPr>
          <p:cNvPr id="5" name="Text 2"/>
          <p:cNvSpPr txBox="1"/>
          <p:nvPr/>
        </p:nvSpPr>
        <p:spPr>
          <a:xfrm>
            <a:off x="1005840" y="5897880"/>
            <a:ext cx="10180015" cy="411480"/>
          </a:xfrm>
          <a:prstGeom prst="rect">
            <a:avLst/>
          </a:prstGeom>
          <a:noFill/>
          <a:ln/>
        </p:spPr>
        <p:txBody>
          <a:bodyPr wrap="square" lIns="0" tIns="0" rIns="0" bIns="0" rtlCol="0" anchor="ctr"/>
          <a:lstStyle/>
          <a:p>
            <a:pPr marL="0" indent="0" algn="ctr">
              <a:buNone/>
            </a:pPr>
            <a:r>
              <a:rPr lang="en-US" sz="1700" b="1" dirty="0">
                <a:solidFill>
                  <a:srgbClr val="062746"/>
                </a:solidFill>
                <a:latin typeface="Georgia" pitchFamily="34" charset="0"/>
                <a:ea typeface="Georgia" pitchFamily="34" charset="-122"/>
                <a:cs typeface="Georgia" pitchFamily="34" charset="-120"/>
              </a:rPr>
              <a:t>Predicted before testing: 30 t. Observed: 30 t (Nemotron 3 Super), 24 t (gpt-oss-120b)</a:t>
            </a:r>
            <a:endParaRPr lang="en-US" sz="1700" dirty="0"/>
          </a:p>
        </p:txBody>
      </p:sp>
      <p:sp>
        <p:nvSpPr>
          <p:cNvPr id="6" name="Text 3"/>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marL="0" indent="0" algn="l">
              <a:lnSpc>
                <a:spcPct val="95000"/>
              </a:lnSpc>
              <a:buNone/>
            </a:pPr>
            <a:r>
              <a:rPr lang="en-US" sz="3400" b="1" dirty="0">
                <a:solidFill>
                  <a:srgbClr val="062746"/>
                </a:solidFill>
                <a:latin typeface="Georgia" pitchFamily="34" charset="0"/>
                <a:ea typeface="Georgia" pitchFamily="34" charset="-122"/>
                <a:cs typeface="Georgia" pitchFamily="34" charset="-120"/>
              </a:rPr>
              <a:t>Finding 5: One Round's Gain Matters</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Text 2"/>
          <p:cNvSpPr txBox="1"/>
          <p:nvPr/>
        </p:nvSpPr>
        <p:spPr>
          <a:xfrm>
            <a:off x="548640" y="1545336"/>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What predicted the stop</a:t>
            </a:r>
            <a:endParaRPr lang="en-US" sz="1700" dirty="0"/>
          </a:p>
        </p:txBody>
      </p:sp>
      <p:sp>
        <p:nvSpPr>
          <p:cNvPr id="5" name="Text 3"/>
          <p:cNvSpPr txBox="1"/>
          <p:nvPr/>
        </p:nvSpPr>
        <p:spPr>
          <a:xfrm>
            <a:off x="548640" y="1929384"/>
            <a:ext cx="4572000" cy="521208"/>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The gain from one round of over-taking: 4.5–4.7 t.</a:t>
            </a:r>
            <a:endParaRPr lang="en-US" sz="1400" dirty="0"/>
          </a:p>
        </p:txBody>
      </p:sp>
      <p:sp>
        <p:nvSpPr>
          <p:cNvPr id="6" name="Text 4"/>
          <p:cNvSpPr txBox="1"/>
          <p:nvPr/>
        </p:nvSpPr>
        <p:spPr>
          <a:xfrm>
            <a:off x="548640" y="2615184"/>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What did not</a:t>
            </a:r>
            <a:endParaRPr lang="en-US" sz="1700" dirty="0"/>
          </a:p>
        </p:txBody>
      </p:sp>
      <p:sp>
        <p:nvSpPr>
          <p:cNvPr id="7" name="Text 5"/>
          <p:cNvSpPr txBox="1"/>
          <p:nvPr/>
        </p:nvSpPr>
        <p:spPr>
          <a:xfrm>
            <a:off x="548640" y="2999232"/>
            <a:ext cx="4572000" cy="521208"/>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The gain over the whole game, which was near zero or negative.</a:t>
            </a:r>
            <a:endParaRPr lang="en-US" sz="1400" dirty="0"/>
          </a:p>
        </p:txBody>
      </p:sp>
      <p:sp>
        <p:nvSpPr>
          <p:cNvPr id="8" name="Text 6"/>
          <p:cNvSpPr txBox="1"/>
          <p:nvPr/>
        </p:nvSpPr>
        <p:spPr>
          <a:xfrm>
            <a:off x="548640" y="3685032"/>
            <a:ext cx="457200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Against a perfect optimiser</a:t>
            </a:r>
            <a:endParaRPr lang="en-US" sz="1700" dirty="0"/>
          </a:p>
        </p:txBody>
      </p:sp>
      <p:sp>
        <p:nvSpPr>
          <p:cNvPr id="9" name="Text 7"/>
          <p:cNvSpPr txBox="1"/>
          <p:nvPr/>
        </p:nvSpPr>
        <p:spPr>
          <a:xfrm>
            <a:off x="548640" y="4069080"/>
            <a:ext cx="4572000" cy="521208"/>
          </a:xfrm>
          <a:prstGeom prst="rect">
            <a:avLst/>
          </a:prstGeom>
          <a:noFill/>
          <a:ln/>
        </p:spPr>
        <p:txBody>
          <a:bodyPr wrap="square" lIns="0" tIns="0" rIns="0" bIns="0" rtlCol="0" anchor="t"/>
          <a:lstStyle/>
          <a:p>
            <a:pPr marL="0" indent="0" algn="just">
              <a:buNone/>
            </a:pPr>
            <a:r>
              <a:rPr lang="en-US" sz="1400" dirty="0">
                <a:solidFill>
                  <a:srgbClr val="1C191A"/>
                </a:solidFill>
                <a:latin typeface="Calibri" pitchFamily="34" charset="0"/>
                <a:ea typeface="Calibri" pitchFamily="34" charset="-122"/>
                <a:cs typeface="Calibri" pitchFamily="34" charset="-120"/>
              </a:rPr>
              <a:t>It would keep over-taking until 36 t. Both models stopped earlier, and gradually.</a:t>
            </a:r>
            <a:endParaRPr lang="en-US" sz="1400" dirty="0"/>
          </a:p>
        </p:txBody>
      </p:sp>
      <p:pic>
        <p:nvPicPr>
          <p:cNvPr id="10" name="Image 0" descr="fig5_spine.png"/>
          <p:cNvPicPr>
            <a:picLocks noChangeAspect="1"/>
          </p:cNvPicPr>
          <p:nvPr/>
        </p:nvPicPr>
        <p:blipFill>
          <a:blip r:embed="rId3"/>
          <a:stretch>
            <a:fillRect/>
          </a:stretch>
        </p:blipFill>
        <p:spPr>
          <a:xfrm>
            <a:off x="6219407" y="1499616"/>
            <a:ext cx="4736362" cy="4123944"/>
          </a:xfrm>
          <a:prstGeom prst="rect">
            <a:avLst/>
          </a:prstGeom>
        </p:spPr>
      </p:pic>
      <p:sp>
        <p:nvSpPr>
          <p:cNvPr id="11" name="Text 8"/>
          <p:cNvSpPr txBox="1"/>
          <p:nvPr/>
        </p:nvSpPr>
        <p:spPr>
          <a:xfrm>
            <a:off x="5532120" y="5733288"/>
            <a:ext cx="6110935" cy="502920"/>
          </a:xfrm>
          <a:prstGeom prst="rect">
            <a:avLst/>
          </a:prstGeom>
          <a:noFill/>
          <a:ln/>
        </p:spPr>
        <p:txBody>
          <a:bodyPr wrap="square" lIns="0" tIns="0" rIns="0" bIns="0" rtlCol="0" anchor="t"/>
          <a:lstStyle/>
          <a:p>
            <a:pPr marL="0" indent="0" algn="ctr">
              <a:buNone/>
            </a:pPr>
            <a:r>
              <a:rPr lang="en-US" sz="1100" i="1" dirty="0">
                <a:solidFill>
                  <a:srgbClr val="55524E"/>
                </a:solidFill>
                <a:latin typeface="Calibri" pitchFamily="34" charset="0"/>
                <a:ea typeface="Calibri" pitchFamily="34" charset="-122"/>
                <a:cs typeface="Calibri" pitchFamily="34" charset="-120"/>
              </a:rPr>
              <a:t>Predicted against observed stopping fine; points on the dashed line were predicted exactly.</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marL="0" indent="0" algn="l">
              <a:lnSpc>
                <a:spcPct val="95000"/>
              </a:lnSpc>
              <a:buNone/>
            </a:pPr>
            <a:r>
              <a:rPr lang="en-US" sz="3400" b="1" dirty="0">
                <a:solidFill>
                  <a:srgbClr val="062746"/>
                </a:solidFill>
                <a:latin typeface="Georgia" pitchFamily="34" charset="0"/>
                <a:ea typeface="Georgia" pitchFamily="34" charset="-122"/>
                <a:cs typeface="Georgia" pitchFamily="34" charset="-120"/>
              </a:rPr>
              <a:t>Memory Protects the Lake Without a Fine</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Text 2"/>
          <p:cNvSpPr txBox="1"/>
          <p:nvPr/>
        </p:nvSpPr>
        <p:spPr>
          <a:xfrm>
            <a:off x="548640" y="1545336"/>
            <a:ext cx="402336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Same audits, no fine</a:t>
            </a:r>
            <a:endParaRPr lang="en-US" sz="1700" dirty="0"/>
          </a:p>
        </p:txBody>
      </p:sp>
      <p:sp>
        <p:nvSpPr>
          <p:cNvPr id="5" name="Text 3"/>
          <p:cNvSpPr txBox="1"/>
          <p:nvPr/>
        </p:nvSpPr>
        <p:spPr>
          <a:xfrm>
            <a:off x="548640" y="1929384"/>
            <a:ext cx="4023360" cy="745236"/>
          </a:xfrm>
          <a:prstGeom prst="rect">
            <a:avLst/>
          </a:prstGeom>
          <a:noFill/>
          <a:ln/>
        </p:spPr>
        <p:txBody>
          <a:bodyPr wrap="square" lIns="0" tIns="0" rIns="0" bIns="0" rtlCol="0" anchor="t"/>
          <a:lstStyle/>
          <a:p>
            <a:pPr marL="0" indent="0" algn="l">
              <a:buNone/>
            </a:pPr>
            <a:r>
              <a:rPr lang="en-US" sz="1400" dirty="0">
                <a:solidFill>
                  <a:srgbClr val="1C191A"/>
                </a:solidFill>
                <a:latin typeface="Calibri" pitchFamily="34" charset="0"/>
                <a:ea typeface="Calibri" pitchFamily="34" charset="-122"/>
                <a:cs typeface="Calibri" pitchFamily="34" charset="-120"/>
              </a:rPr>
              <a:t>Audit probability 1 in 6 in both conditions. With memory, a caught model's later allowances drop by what it over-took.</a:t>
            </a:r>
            <a:endParaRPr lang="en-US" sz="1400" dirty="0"/>
          </a:p>
        </p:txBody>
      </p:sp>
      <p:sp>
        <p:nvSpPr>
          <p:cNvPr id="6" name="Text 4"/>
          <p:cNvSpPr txBox="1"/>
          <p:nvPr/>
        </p:nvSpPr>
        <p:spPr>
          <a:xfrm>
            <a:off x="548640" y="2839212"/>
            <a:ext cx="402336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Over-taking fell, but didn't stop</a:t>
            </a:r>
            <a:endParaRPr lang="en-US" sz="1700" dirty="0"/>
          </a:p>
        </p:txBody>
      </p:sp>
      <p:sp>
        <p:nvSpPr>
          <p:cNvPr id="7" name="Text 5"/>
          <p:cNvSpPr txBox="1"/>
          <p:nvPr/>
        </p:nvSpPr>
        <p:spPr>
          <a:xfrm>
            <a:off x="548640" y="3223260"/>
            <a:ext cx="4023360" cy="521208"/>
          </a:xfrm>
          <a:prstGeom prst="rect">
            <a:avLst/>
          </a:prstGeom>
          <a:noFill/>
          <a:ln/>
        </p:spPr>
        <p:txBody>
          <a:bodyPr wrap="square" lIns="0" tIns="0" rIns="0" bIns="0" rtlCol="0" anchor="t"/>
          <a:lstStyle/>
          <a:p>
            <a:pPr marL="0" indent="0" algn="l">
              <a:buNone/>
            </a:pPr>
            <a:r>
              <a:rPr lang="en-US" sz="1400" dirty="0">
                <a:solidFill>
                  <a:srgbClr val="1C191A"/>
                </a:solidFill>
                <a:latin typeface="Calibri" pitchFamily="34" charset="0"/>
                <a:ea typeface="Calibri" pitchFamily="34" charset="-122"/>
                <a:cs typeface="Calibri" pitchFamily="34" charset="-120"/>
              </a:rPr>
              <a:t>Both models still over-took in a fifth to a third of their decisions.</a:t>
            </a:r>
            <a:endParaRPr lang="en-US" sz="1400" dirty="0"/>
          </a:p>
        </p:txBody>
      </p:sp>
      <p:sp>
        <p:nvSpPr>
          <p:cNvPr id="8" name="Text 6"/>
          <p:cNvSpPr txBox="1"/>
          <p:nvPr/>
        </p:nvSpPr>
        <p:spPr>
          <a:xfrm>
            <a:off x="548640" y="3909060"/>
            <a:ext cx="4023360" cy="365760"/>
          </a:xfrm>
          <a:prstGeom prst="rect">
            <a:avLst/>
          </a:prstGeom>
          <a:noFill/>
          <a:ln/>
        </p:spPr>
        <p:txBody>
          <a:bodyPr wrap="square" lIns="0" tIns="0" rIns="0" bIns="0" rtlCol="0" anchor="t"/>
          <a:lstStyle/>
          <a:p>
            <a:pPr marL="0" indent="0">
              <a:buNone/>
            </a:pPr>
            <a:r>
              <a:rPr lang="en-US" sz="1700" b="1" dirty="0">
                <a:solidFill>
                  <a:srgbClr val="1C191A"/>
                </a:solidFill>
                <a:latin typeface="Georgia" pitchFamily="34" charset="0"/>
                <a:ea typeface="Georgia" pitchFamily="34" charset="-122"/>
                <a:cs typeface="Georgia" pitchFamily="34" charset="-120"/>
              </a:rPr>
              <a:t>The lake recovered</a:t>
            </a:r>
            <a:endParaRPr lang="en-US" sz="1700" dirty="0"/>
          </a:p>
        </p:txBody>
      </p:sp>
      <p:sp>
        <p:nvSpPr>
          <p:cNvPr id="9" name="Text 7"/>
          <p:cNvSpPr txBox="1"/>
          <p:nvPr/>
        </p:nvSpPr>
        <p:spPr>
          <a:xfrm>
            <a:off x="548640" y="4293108"/>
            <a:ext cx="4023360" cy="745236"/>
          </a:xfrm>
          <a:prstGeom prst="rect">
            <a:avLst/>
          </a:prstGeom>
          <a:noFill/>
          <a:ln/>
        </p:spPr>
        <p:txBody>
          <a:bodyPr wrap="square" lIns="0" tIns="0" rIns="0" bIns="0" rtlCol="0" anchor="t"/>
          <a:lstStyle/>
          <a:p>
            <a:pPr marL="0" indent="0" algn="l">
              <a:buNone/>
            </a:pPr>
            <a:r>
              <a:rPr lang="en-US" sz="1400" dirty="0">
                <a:solidFill>
                  <a:srgbClr val="1C191A"/>
                </a:solidFill>
                <a:latin typeface="Calibri" pitchFamily="34" charset="0"/>
                <a:ea typeface="Calibri" pitchFamily="34" charset="-122"/>
                <a:cs typeface="Calibri" pitchFamily="34" charset="-120"/>
              </a:rPr>
              <a:t>No lake collapsed with memory (without: 5 and 1 of 10). Rule-following fishers caught 29 to 32 t, against 8 to 9 t.</a:t>
            </a:r>
            <a:endParaRPr lang="en-US" sz="1400" dirty="0"/>
          </a:p>
        </p:txBody>
      </p:sp>
      <p:pic>
        <p:nvPicPr>
          <p:cNvPr id="10" name="Image 0" descr="memory_llm.png"/>
          <p:cNvPicPr>
            <a:picLocks noChangeAspect="1"/>
          </p:cNvPicPr>
          <p:nvPr/>
        </p:nvPicPr>
        <p:blipFill>
          <a:blip r:embed="rId3"/>
          <a:stretch>
            <a:fillRect/>
          </a:stretch>
        </p:blipFill>
        <p:spPr>
          <a:xfrm>
            <a:off x="4983480" y="1885590"/>
            <a:ext cx="6659575" cy="3169116"/>
          </a:xfrm>
          <a:prstGeom prst="rect">
            <a:avLst/>
          </a:prstGeom>
        </p:spPr>
      </p:pic>
      <p:sp>
        <p:nvSpPr>
          <p:cNvPr id="11" name="Text 8"/>
          <p:cNvSpPr txBox="1"/>
          <p:nvPr/>
        </p:nvSpPr>
        <p:spPr>
          <a:xfrm>
            <a:off x="4983480" y="5164434"/>
            <a:ext cx="6659575" cy="502920"/>
          </a:xfrm>
          <a:prstGeom prst="rect">
            <a:avLst/>
          </a:prstGeom>
          <a:noFill/>
          <a:ln/>
        </p:spPr>
        <p:txBody>
          <a:bodyPr wrap="square" lIns="0" tIns="0" rIns="0" bIns="0" rtlCol="0" anchor="t"/>
          <a:lstStyle/>
          <a:p>
            <a:pPr marL="0" indent="0" algn="ctr">
              <a:buNone/>
            </a:pPr>
            <a:r>
              <a:rPr lang="en-US" sz="1100" i="1" dirty="0">
                <a:solidFill>
                  <a:srgbClr val="55524E"/>
                </a:solidFill>
                <a:latin typeface="Calibri" pitchFamily="34" charset="0"/>
                <a:ea typeface="Calibri" pitchFamily="34" charset="-122"/>
                <a:cs typeface="Calibri" pitchFamily="34" charset="-120"/>
              </a:rPr>
              <a:t>10 games per model and condition; bars are means over games with 95% intervals. Left: share of a model's decisions above its allowance. Right: share of rounds the lake ended below half capacity (50 of 100 t).</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marL="0" indent="0" algn="l">
              <a:lnSpc>
                <a:spcPct val="95000"/>
              </a:lnSpc>
              <a:buNone/>
            </a:pPr>
            <a:r>
              <a:rPr lang="en-US" sz="3400" b="1" dirty="0">
                <a:solidFill>
                  <a:srgbClr val="062746"/>
                </a:solidFill>
                <a:latin typeface="Georgia" pitchFamily="34" charset="0"/>
                <a:ea typeface="Georgia" pitchFamily="34" charset="-122"/>
                <a:cs typeface="Georgia" pitchFamily="34" charset="-120"/>
              </a:rPr>
              <a:t>Running Now (Results Soon)</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Text 2"/>
          <p:cNvSpPr txBox="1"/>
          <p:nvPr/>
        </p:nvSpPr>
        <p:spPr>
          <a:xfrm>
            <a:off x="548640" y="1545336"/>
            <a:ext cx="5212080" cy="347472"/>
          </a:xfrm>
          <a:prstGeom prst="rect">
            <a:avLst/>
          </a:prstGeom>
          <a:noFill/>
          <a:ln/>
        </p:spPr>
        <p:txBody>
          <a:bodyPr wrap="square" lIns="0" tIns="0" rIns="0" bIns="0" rtlCol="0" anchor="t"/>
          <a:lstStyle/>
          <a:p>
            <a:pPr marL="0" indent="0">
              <a:buNone/>
            </a:pPr>
            <a:r>
              <a:rPr lang="en-US" sz="1600" b="1" dirty="0">
                <a:solidFill>
                  <a:srgbClr val="1C191A"/>
                </a:solidFill>
                <a:latin typeface="Georgia" pitchFamily="34" charset="0"/>
                <a:ea typeface="Georgia" pitchFamily="34" charset="-122"/>
                <a:cs typeface="Georgia" pitchFamily="34" charset="-120"/>
              </a:rPr>
              <a:t>Expected fine, or fine size?</a:t>
            </a:r>
            <a:endParaRPr lang="en-US" sz="1600" dirty="0"/>
          </a:p>
        </p:txBody>
      </p:sp>
      <p:sp>
        <p:nvSpPr>
          <p:cNvPr id="5" name="Text 3"/>
          <p:cNvSpPr txBox="1"/>
          <p:nvPr/>
        </p:nvSpPr>
        <p:spPr>
          <a:xfrm>
            <a:off x="548640" y="1874520"/>
            <a:ext cx="5212080" cy="733806"/>
          </a:xfrm>
          <a:prstGeom prst="rect">
            <a:avLst/>
          </a:prstGeom>
          <a:noFill/>
          <a:ln/>
        </p:spPr>
        <p:txBody>
          <a:bodyPr wrap="square" lIns="0" tIns="0" rIns="0" bIns="0" rtlCol="0" anchor="t"/>
          <a:lstStyle/>
          <a:p>
            <a:pPr marL="0" indent="0">
              <a:buNone/>
            </a:pPr>
            <a:r>
              <a:rPr lang="en-US" sz="1250" dirty="0">
                <a:solidFill>
                  <a:srgbClr val="55524E"/>
                </a:solidFill>
                <a:latin typeface="Calibri" pitchFamily="34" charset="0"/>
                <a:ea typeface="Calibri" pitchFamily="34" charset="-122"/>
                <a:cs typeface="Calibri" pitchFamily="34" charset="-120"/>
              </a:rPr>
              <a:t>Same expected fine, made up differently: audit probability 1 in 3, 1 in 6 or 1 in 12 (gpt-oss, 20 games each).</a:t>
            </a:r>
            <a:endParaRPr lang="en-US" sz="1250" dirty="0"/>
          </a:p>
        </p:txBody>
      </p:sp>
      <p:sp>
        <p:nvSpPr>
          <p:cNvPr id="6" name="Shape 4"/>
          <p:cNvSpPr/>
          <p:nvPr/>
        </p:nvSpPr>
        <p:spPr>
          <a:xfrm>
            <a:off x="6080760" y="1545336"/>
            <a:ext cx="5562295" cy="1026414"/>
          </a:xfrm>
          <a:prstGeom prst="roundRect">
            <a:avLst>
              <a:gd name="adj" fmla="val 5345"/>
            </a:avLst>
          </a:prstGeom>
          <a:solidFill>
            <a:srgbClr val="FFFFFF"/>
          </a:solidFill>
          <a:ln w="12700">
            <a:solidFill>
              <a:srgbClr val="C9C6C1"/>
            </a:solidFill>
            <a:prstDash val="dash"/>
          </a:ln>
        </p:spPr>
        <p:txBody>
          <a:bodyPr/>
          <a:lstStyle/>
          <a:p>
            <a:endParaRPr lang="en-GB"/>
          </a:p>
        </p:txBody>
      </p:sp>
      <p:sp>
        <p:nvSpPr>
          <p:cNvPr id="7" name="Text 5"/>
          <p:cNvSpPr txBox="1"/>
          <p:nvPr/>
        </p:nvSpPr>
        <p:spPr>
          <a:xfrm>
            <a:off x="6217920" y="1618488"/>
            <a:ext cx="5287975" cy="274320"/>
          </a:xfrm>
          <a:prstGeom prst="rect">
            <a:avLst/>
          </a:prstGeom>
          <a:noFill/>
          <a:ln/>
        </p:spPr>
        <p:txBody>
          <a:bodyPr wrap="square" lIns="0" tIns="0" rIns="0" bIns="0" rtlCol="0" anchor="t"/>
          <a:lstStyle/>
          <a:p>
            <a:pPr marL="0" indent="0">
              <a:buNone/>
            </a:pPr>
            <a:r>
              <a:rPr lang="en-US" sz="1100" i="1" dirty="0">
                <a:solidFill>
                  <a:srgbClr val="8F8F8F"/>
                </a:solidFill>
                <a:latin typeface="Calibri" pitchFamily="34" charset="0"/>
                <a:ea typeface="Calibri" pitchFamily="34" charset="-122"/>
                <a:cs typeface="Calibri" pitchFamily="34" charset="-120"/>
              </a:rPr>
              <a:t>Result (to fill in):</a:t>
            </a:r>
            <a:endParaRPr lang="en-US" sz="1100" dirty="0"/>
          </a:p>
        </p:txBody>
      </p:sp>
      <p:sp>
        <p:nvSpPr>
          <p:cNvPr id="8" name="Text 6"/>
          <p:cNvSpPr txBox="1"/>
          <p:nvPr/>
        </p:nvSpPr>
        <p:spPr>
          <a:xfrm>
            <a:off x="548640" y="2736342"/>
            <a:ext cx="5212080" cy="347472"/>
          </a:xfrm>
          <a:prstGeom prst="rect">
            <a:avLst/>
          </a:prstGeom>
          <a:noFill/>
          <a:ln/>
        </p:spPr>
        <p:txBody>
          <a:bodyPr wrap="square" lIns="0" tIns="0" rIns="0" bIns="0" rtlCol="0" anchor="t"/>
          <a:lstStyle/>
          <a:p>
            <a:pPr marL="0" indent="0">
              <a:buNone/>
            </a:pPr>
            <a:r>
              <a:rPr lang="en-US" sz="1600" b="1" dirty="0">
                <a:solidFill>
                  <a:srgbClr val="1C191A"/>
                </a:solidFill>
                <a:latin typeface="Georgia" pitchFamily="34" charset="0"/>
                <a:ea typeface="Georgia" pitchFamily="34" charset="-122"/>
                <a:cs typeface="Georgia" pitchFamily="34" charset="-120"/>
              </a:rPr>
              <a:t>Does the prediction transfer?</a:t>
            </a:r>
            <a:endParaRPr lang="en-US" sz="1600" dirty="0"/>
          </a:p>
        </p:txBody>
      </p:sp>
      <p:sp>
        <p:nvSpPr>
          <p:cNvPr id="9" name="Text 7"/>
          <p:cNvSpPr txBox="1"/>
          <p:nvPr/>
        </p:nvSpPr>
        <p:spPr>
          <a:xfrm>
            <a:off x="548640" y="3065526"/>
            <a:ext cx="5212080" cy="733806"/>
          </a:xfrm>
          <a:prstGeom prst="rect">
            <a:avLst/>
          </a:prstGeom>
          <a:noFill/>
          <a:ln/>
        </p:spPr>
        <p:txBody>
          <a:bodyPr wrap="square" lIns="0" tIns="0" rIns="0" bIns="0" rtlCol="0" anchor="t"/>
          <a:lstStyle/>
          <a:p>
            <a:pPr marL="0" indent="0">
              <a:buNone/>
            </a:pPr>
            <a:r>
              <a:rPr lang="en-US" sz="1250" dirty="0">
                <a:solidFill>
                  <a:srgbClr val="55524E"/>
                </a:solidFill>
                <a:latin typeface="Calibri" pitchFamily="34" charset="0"/>
                <a:ea typeface="Calibri" pitchFamily="34" charset="-122"/>
                <a:cs typeface="Calibri" pitchFamily="34" charset="-120"/>
              </a:rPr>
              <a:t>Frozen prediction (30 t) tested on 10 new games and with reworded rules.</a:t>
            </a:r>
            <a:endParaRPr lang="en-US" sz="1250" dirty="0"/>
          </a:p>
        </p:txBody>
      </p:sp>
      <p:sp>
        <p:nvSpPr>
          <p:cNvPr id="10" name="Shape 8"/>
          <p:cNvSpPr/>
          <p:nvPr/>
        </p:nvSpPr>
        <p:spPr>
          <a:xfrm>
            <a:off x="6080760" y="2736342"/>
            <a:ext cx="5562295" cy="1026414"/>
          </a:xfrm>
          <a:prstGeom prst="roundRect">
            <a:avLst>
              <a:gd name="adj" fmla="val 5345"/>
            </a:avLst>
          </a:prstGeom>
          <a:solidFill>
            <a:srgbClr val="FFFFFF"/>
          </a:solidFill>
          <a:ln w="12700">
            <a:solidFill>
              <a:srgbClr val="C9C6C1"/>
            </a:solidFill>
            <a:prstDash val="dash"/>
          </a:ln>
        </p:spPr>
        <p:txBody>
          <a:bodyPr/>
          <a:lstStyle/>
          <a:p>
            <a:endParaRPr lang="en-GB"/>
          </a:p>
        </p:txBody>
      </p:sp>
      <p:sp>
        <p:nvSpPr>
          <p:cNvPr id="11" name="Text 9"/>
          <p:cNvSpPr txBox="1"/>
          <p:nvPr/>
        </p:nvSpPr>
        <p:spPr>
          <a:xfrm>
            <a:off x="6217920" y="2809494"/>
            <a:ext cx="5287975" cy="274320"/>
          </a:xfrm>
          <a:prstGeom prst="rect">
            <a:avLst/>
          </a:prstGeom>
          <a:noFill/>
          <a:ln/>
        </p:spPr>
        <p:txBody>
          <a:bodyPr wrap="square" lIns="0" tIns="0" rIns="0" bIns="0" rtlCol="0" anchor="t"/>
          <a:lstStyle/>
          <a:p>
            <a:pPr marL="0" indent="0">
              <a:buNone/>
            </a:pPr>
            <a:r>
              <a:rPr lang="en-US" sz="1100" i="1" dirty="0">
                <a:solidFill>
                  <a:srgbClr val="8F8F8F"/>
                </a:solidFill>
                <a:latin typeface="Calibri" pitchFamily="34" charset="0"/>
                <a:ea typeface="Calibri" pitchFamily="34" charset="-122"/>
                <a:cs typeface="Calibri" pitchFamily="34" charset="-120"/>
              </a:rPr>
              <a:t>Result (to fill in):</a:t>
            </a:r>
            <a:endParaRPr lang="en-US" sz="1100" dirty="0"/>
          </a:p>
        </p:txBody>
      </p:sp>
      <p:sp>
        <p:nvSpPr>
          <p:cNvPr id="12" name="Text 10"/>
          <p:cNvSpPr txBox="1"/>
          <p:nvPr/>
        </p:nvSpPr>
        <p:spPr>
          <a:xfrm>
            <a:off x="548640" y="3927348"/>
            <a:ext cx="5212080" cy="347472"/>
          </a:xfrm>
          <a:prstGeom prst="rect">
            <a:avLst/>
          </a:prstGeom>
          <a:noFill/>
          <a:ln/>
        </p:spPr>
        <p:txBody>
          <a:bodyPr wrap="square" lIns="0" tIns="0" rIns="0" bIns="0" rtlCol="0" anchor="t"/>
          <a:lstStyle/>
          <a:p>
            <a:pPr marL="0" indent="0">
              <a:buNone/>
            </a:pPr>
            <a:r>
              <a:rPr lang="en-US" sz="1600" b="1" dirty="0">
                <a:solidFill>
                  <a:srgbClr val="1C191A"/>
                </a:solidFill>
                <a:latin typeface="Georgia" pitchFamily="34" charset="0"/>
                <a:ea typeface="Georgia" pitchFamily="34" charset="-122"/>
                <a:cs typeface="Georgia" pitchFamily="34" charset="-120"/>
              </a:rPr>
              <a:t>What if nobody audits?</a:t>
            </a:r>
            <a:endParaRPr lang="en-US" sz="1600" dirty="0"/>
          </a:p>
        </p:txBody>
      </p:sp>
      <p:sp>
        <p:nvSpPr>
          <p:cNvPr id="13" name="Text 11"/>
          <p:cNvSpPr txBox="1"/>
          <p:nvPr/>
        </p:nvSpPr>
        <p:spPr>
          <a:xfrm>
            <a:off x="548640" y="4256532"/>
            <a:ext cx="5212080" cy="733806"/>
          </a:xfrm>
          <a:prstGeom prst="rect">
            <a:avLst/>
          </a:prstGeom>
          <a:noFill/>
          <a:ln/>
        </p:spPr>
        <p:txBody>
          <a:bodyPr wrap="square" lIns="0" tIns="0" rIns="0" bIns="0" rtlCol="0" anchor="t"/>
          <a:lstStyle/>
          <a:p>
            <a:pPr marL="0" indent="0">
              <a:buNone/>
            </a:pPr>
            <a:r>
              <a:rPr lang="en-US" sz="1250" dirty="0">
                <a:solidFill>
                  <a:srgbClr val="55524E"/>
                </a:solidFill>
                <a:latin typeface="Calibri" pitchFamily="34" charset="0"/>
                <a:ea typeface="Calibri" pitchFamily="34" charset="-122"/>
                <a:cs typeface="Calibri" pitchFamily="34" charset="-120"/>
              </a:rPr>
              <a:t>Rules that never mention audits, against audits with no fine.</a:t>
            </a:r>
            <a:endParaRPr lang="en-US" sz="1250" dirty="0"/>
          </a:p>
        </p:txBody>
      </p:sp>
      <p:sp>
        <p:nvSpPr>
          <p:cNvPr id="14" name="Shape 12"/>
          <p:cNvSpPr/>
          <p:nvPr/>
        </p:nvSpPr>
        <p:spPr>
          <a:xfrm>
            <a:off x="6080760" y="3927348"/>
            <a:ext cx="5562295" cy="1026414"/>
          </a:xfrm>
          <a:prstGeom prst="roundRect">
            <a:avLst>
              <a:gd name="adj" fmla="val 5345"/>
            </a:avLst>
          </a:prstGeom>
          <a:solidFill>
            <a:srgbClr val="FFFFFF"/>
          </a:solidFill>
          <a:ln w="12700">
            <a:solidFill>
              <a:srgbClr val="C9C6C1"/>
            </a:solidFill>
            <a:prstDash val="dash"/>
          </a:ln>
        </p:spPr>
        <p:txBody>
          <a:bodyPr/>
          <a:lstStyle/>
          <a:p>
            <a:endParaRPr lang="en-GB"/>
          </a:p>
        </p:txBody>
      </p:sp>
      <p:sp>
        <p:nvSpPr>
          <p:cNvPr id="15" name="Text 13"/>
          <p:cNvSpPr txBox="1"/>
          <p:nvPr/>
        </p:nvSpPr>
        <p:spPr>
          <a:xfrm>
            <a:off x="6217920" y="4000500"/>
            <a:ext cx="5287975" cy="274320"/>
          </a:xfrm>
          <a:prstGeom prst="rect">
            <a:avLst/>
          </a:prstGeom>
          <a:noFill/>
          <a:ln/>
        </p:spPr>
        <p:txBody>
          <a:bodyPr wrap="square" lIns="0" tIns="0" rIns="0" bIns="0" rtlCol="0" anchor="t"/>
          <a:lstStyle/>
          <a:p>
            <a:pPr marL="0" indent="0">
              <a:buNone/>
            </a:pPr>
            <a:r>
              <a:rPr lang="en-US" sz="1100" i="1" dirty="0">
                <a:solidFill>
                  <a:srgbClr val="8F8F8F"/>
                </a:solidFill>
                <a:latin typeface="Calibri" pitchFamily="34" charset="0"/>
                <a:ea typeface="Calibri" pitchFamily="34" charset="-122"/>
                <a:cs typeface="Calibri" pitchFamily="34" charset="-120"/>
              </a:rPr>
              <a:t>Result (to fill in):</a:t>
            </a:r>
            <a:endParaRPr lang="en-US" sz="1100" dirty="0"/>
          </a:p>
        </p:txBody>
      </p:sp>
      <p:sp>
        <p:nvSpPr>
          <p:cNvPr id="16" name="Text 14"/>
          <p:cNvSpPr txBox="1"/>
          <p:nvPr/>
        </p:nvSpPr>
        <p:spPr>
          <a:xfrm>
            <a:off x="548640" y="5118354"/>
            <a:ext cx="5212080" cy="347472"/>
          </a:xfrm>
          <a:prstGeom prst="rect">
            <a:avLst/>
          </a:prstGeom>
          <a:noFill/>
          <a:ln/>
        </p:spPr>
        <p:txBody>
          <a:bodyPr wrap="square" lIns="0" tIns="0" rIns="0" bIns="0" rtlCol="0" anchor="t"/>
          <a:lstStyle/>
          <a:p>
            <a:pPr marL="0" indent="0">
              <a:buNone/>
            </a:pPr>
            <a:r>
              <a:rPr lang="en-US" sz="1600" b="1" dirty="0">
                <a:solidFill>
                  <a:srgbClr val="1C191A"/>
                </a:solidFill>
                <a:latin typeface="Georgia" pitchFamily="34" charset="0"/>
                <a:ea typeface="Georgia" pitchFamily="34" charset="-122"/>
                <a:cs typeface="Georgia" pitchFamily="34" charset="-120"/>
              </a:rPr>
              <a:t>Does over-taking spread?</a:t>
            </a:r>
            <a:endParaRPr lang="en-US" sz="1600" dirty="0"/>
          </a:p>
        </p:txBody>
      </p:sp>
      <p:sp>
        <p:nvSpPr>
          <p:cNvPr id="17" name="Text 15"/>
          <p:cNvSpPr txBox="1"/>
          <p:nvPr/>
        </p:nvSpPr>
        <p:spPr>
          <a:xfrm>
            <a:off x="548640" y="5447538"/>
            <a:ext cx="5212080" cy="733806"/>
          </a:xfrm>
          <a:prstGeom prst="rect">
            <a:avLst/>
          </a:prstGeom>
          <a:noFill/>
          <a:ln/>
        </p:spPr>
        <p:txBody>
          <a:bodyPr wrap="square" lIns="0" tIns="0" rIns="0" bIns="0" rtlCol="0" anchor="t"/>
          <a:lstStyle/>
          <a:p>
            <a:pPr marL="0" indent="0">
              <a:buNone/>
            </a:pPr>
            <a:r>
              <a:rPr lang="en-US" sz="1250" dirty="0">
                <a:solidFill>
                  <a:srgbClr val="55524E"/>
                </a:solidFill>
                <a:latin typeface="Calibri" pitchFamily="34" charset="0"/>
                <a:ea typeface="Calibri" pitchFamily="34" charset="-122"/>
                <a:cs typeface="Calibri" pitchFamily="34" charset="-120"/>
              </a:rPr>
              <a:t>Forest: one programmed over-taker among five language-model agents; neighbours' cuts hidden or visible.</a:t>
            </a:r>
            <a:endParaRPr lang="en-US" sz="1250" dirty="0"/>
          </a:p>
        </p:txBody>
      </p:sp>
      <p:sp>
        <p:nvSpPr>
          <p:cNvPr id="18" name="Shape 16"/>
          <p:cNvSpPr/>
          <p:nvPr/>
        </p:nvSpPr>
        <p:spPr>
          <a:xfrm>
            <a:off x="6080760" y="5118354"/>
            <a:ext cx="5562295" cy="1026414"/>
          </a:xfrm>
          <a:prstGeom prst="roundRect">
            <a:avLst>
              <a:gd name="adj" fmla="val 5345"/>
            </a:avLst>
          </a:prstGeom>
          <a:solidFill>
            <a:srgbClr val="FFFFFF"/>
          </a:solidFill>
          <a:ln w="12700">
            <a:solidFill>
              <a:srgbClr val="C9C6C1"/>
            </a:solidFill>
            <a:prstDash val="dash"/>
          </a:ln>
        </p:spPr>
        <p:txBody>
          <a:bodyPr/>
          <a:lstStyle/>
          <a:p>
            <a:endParaRPr lang="en-GB"/>
          </a:p>
        </p:txBody>
      </p:sp>
      <p:sp>
        <p:nvSpPr>
          <p:cNvPr id="19" name="Text 17"/>
          <p:cNvSpPr txBox="1"/>
          <p:nvPr/>
        </p:nvSpPr>
        <p:spPr>
          <a:xfrm>
            <a:off x="6217920" y="5191506"/>
            <a:ext cx="5287975" cy="274320"/>
          </a:xfrm>
          <a:prstGeom prst="rect">
            <a:avLst/>
          </a:prstGeom>
          <a:noFill/>
          <a:ln/>
        </p:spPr>
        <p:txBody>
          <a:bodyPr wrap="square" lIns="0" tIns="0" rIns="0" bIns="0" rtlCol="0" anchor="t"/>
          <a:lstStyle/>
          <a:p>
            <a:pPr marL="0" indent="0">
              <a:buNone/>
            </a:pPr>
            <a:r>
              <a:rPr lang="en-US" sz="1100" i="1" dirty="0">
                <a:solidFill>
                  <a:srgbClr val="8F8F8F"/>
                </a:solidFill>
                <a:latin typeface="Calibri" pitchFamily="34" charset="0"/>
                <a:ea typeface="Calibri" pitchFamily="34" charset="-122"/>
                <a:cs typeface="Calibri" pitchFamily="34" charset="-120"/>
              </a:rPr>
              <a:t>Result (to fill in):</a:t>
            </a:r>
            <a:endParaRPr lang="en-US" sz="1100" dirty="0"/>
          </a:p>
        </p:txBody>
      </p:sp>
      <p:sp>
        <p:nvSpPr>
          <p:cNvPr id="20" name="Text 18"/>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marL="0" indent="0" algn="l">
              <a:lnSpc>
                <a:spcPct val="95000"/>
              </a:lnSpc>
              <a:buNone/>
            </a:pPr>
            <a:r>
              <a:rPr lang="en-US" sz="3400" b="1" dirty="0">
                <a:solidFill>
                  <a:srgbClr val="062746"/>
                </a:solidFill>
                <a:latin typeface="Georgia" pitchFamily="34" charset="0"/>
                <a:ea typeface="Georgia" pitchFamily="34" charset="-122"/>
                <a:cs typeface="Georgia" pitchFamily="34" charset="-120"/>
              </a:rPr>
              <a:t>Where This Is Going</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Shape 2"/>
          <p:cNvSpPr/>
          <p:nvPr/>
        </p:nvSpPr>
        <p:spPr>
          <a:xfrm>
            <a:off x="1935442" y="3017520"/>
            <a:ext cx="8320811" cy="0"/>
          </a:xfrm>
          <a:prstGeom prst="line">
            <a:avLst/>
          </a:prstGeom>
          <a:noFill/>
          <a:ln w="25400">
            <a:solidFill>
              <a:srgbClr val="C9C6C1"/>
            </a:solidFill>
            <a:prstDash val="solid"/>
          </a:ln>
        </p:spPr>
        <p:txBody>
          <a:bodyPr/>
          <a:lstStyle/>
          <a:p>
            <a:endParaRPr lang="en-GB"/>
          </a:p>
        </p:txBody>
      </p:sp>
      <p:sp>
        <p:nvSpPr>
          <p:cNvPr id="5" name="Shape 3"/>
          <p:cNvSpPr/>
          <p:nvPr/>
        </p:nvSpPr>
        <p:spPr>
          <a:xfrm>
            <a:off x="1779994" y="2862072"/>
            <a:ext cx="310896" cy="310896"/>
          </a:xfrm>
          <a:prstGeom prst="ellipse">
            <a:avLst/>
          </a:prstGeom>
          <a:solidFill>
            <a:srgbClr val="062746"/>
          </a:solidFill>
          <a:ln w="19050">
            <a:solidFill>
              <a:srgbClr val="062746"/>
            </a:solidFill>
            <a:prstDash val="solid"/>
          </a:ln>
        </p:spPr>
        <p:txBody>
          <a:bodyPr/>
          <a:lstStyle/>
          <a:p>
            <a:endParaRPr lang="en-GB"/>
          </a:p>
        </p:txBody>
      </p:sp>
      <p:sp>
        <p:nvSpPr>
          <p:cNvPr id="6" name="Text 4"/>
          <p:cNvSpPr txBox="1"/>
          <p:nvPr/>
        </p:nvSpPr>
        <p:spPr>
          <a:xfrm>
            <a:off x="640080" y="3310128"/>
            <a:ext cx="2590724" cy="365760"/>
          </a:xfrm>
          <a:prstGeom prst="rect">
            <a:avLst/>
          </a:prstGeom>
          <a:noFill/>
          <a:ln/>
        </p:spPr>
        <p:txBody>
          <a:bodyPr wrap="square" lIns="0" tIns="0" rIns="0" bIns="0" rtlCol="0" anchor="ctr"/>
          <a:lstStyle/>
          <a:p>
            <a:pPr marL="0" indent="0" algn="ctr">
              <a:buNone/>
            </a:pPr>
            <a:r>
              <a:rPr lang="en-US" sz="1500" b="1" dirty="0">
                <a:solidFill>
                  <a:srgbClr val="062746"/>
                </a:solidFill>
                <a:latin typeface="Georgia" pitchFamily="34" charset="0"/>
                <a:ea typeface="Georgia" pitchFamily="34" charset="-122"/>
                <a:cs typeface="Georgia" pitchFamily="34" charset="-120"/>
              </a:rPr>
              <a:t>Sep – 8 Oct</a:t>
            </a:r>
            <a:endParaRPr lang="en-US" sz="1500" dirty="0"/>
          </a:p>
        </p:txBody>
      </p:sp>
      <p:sp>
        <p:nvSpPr>
          <p:cNvPr id="7" name="Text 5"/>
          <p:cNvSpPr txBox="1"/>
          <p:nvPr/>
        </p:nvSpPr>
        <p:spPr>
          <a:xfrm>
            <a:off x="658368" y="3703320"/>
            <a:ext cx="2554148" cy="2194560"/>
          </a:xfrm>
          <a:prstGeom prst="rect">
            <a:avLst/>
          </a:prstGeom>
          <a:noFill/>
          <a:ln/>
        </p:spPr>
        <p:txBody>
          <a:bodyPr wrap="square" lIns="0" tIns="0" rIns="0" bIns="0" rtlCol="0" anchor="t"/>
          <a:lstStyle/>
          <a:p>
            <a:pPr marL="0" indent="0" algn="ctr">
              <a:buNone/>
            </a:pPr>
            <a:r>
              <a:rPr lang="en-US" sz="1300" dirty="0">
                <a:solidFill>
                  <a:srgbClr val="1C191A"/>
                </a:solidFill>
                <a:latin typeface="Calibri" pitchFamily="34" charset="0"/>
                <a:ea typeface="Calibri" pitchFamily="34" charset="-122"/>
                <a:cs typeface="Calibri" pitchFamily="34" charset="-120"/>
              </a:rPr>
              <a:t>Programmed agents in three settings; language models in Fishery</a:t>
            </a:r>
            <a:endParaRPr lang="en-US" sz="1300" dirty="0"/>
          </a:p>
        </p:txBody>
      </p:sp>
      <p:sp>
        <p:nvSpPr>
          <p:cNvPr id="8" name="Shape 6"/>
          <p:cNvSpPr/>
          <p:nvPr/>
        </p:nvSpPr>
        <p:spPr>
          <a:xfrm>
            <a:off x="4553598" y="2862072"/>
            <a:ext cx="310896" cy="310896"/>
          </a:xfrm>
          <a:prstGeom prst="ellipse">
            <a:avLst/>
          </a:prstGeom>
          <a:solidFill>
            <a:srgbClr val="FFFFFF"/>
          </a:solidFill>
          <a:ln w="19050">
            <a:solidFill>
              <a:srgbClr val="062746"/>
            </a:solidFill>
            <a:prstDash val="solid"/>
          </a:ln>
        </p:spPr>
        <p:txBody>
          <a:bodyPr/>
          <a:lstStyle/>
          <a:p>
            <a:endParaRPr lang="en-GB"/>
          </a:p>
        </p:txBody>
      </p:sp>
      <p:sp>
        <p:nvSpPr>
          <p:cNvPr id="9" name="Text 7"/>
          <p:cNvSpPr txBox="1"/>
          <p:nvPr/>
        </p:nvSpPr>
        <p:spPr>
          <a:xfrm>
            <a:off x="3413684" y="3310128"/>
            <a:ext cx="2590724" cy="365760"/>
          </a:xfrm>
          <a:prstGeom prst="rect">
            <a:avLst/>
          </a:prstGeom>
          <a:noFill/>
          <a:ln/>
        </p:spPr>
        <p:txBody>
          <a:bodyPr wrap="square" lIns="0" tIns="0" rIns="0" bIns="0" rtlCol="0" anchor="ctr"/>
          <a:lstStyle/>
          <a:p>
            <a:pPr marL="0" indent="0" algn="ctr">
              <a:buNone/>
            </a:pPr>
            <a:r>
              <a:rPr lang="en-US" sz="1500" b="1" dirty="0">
                <a:solidFill>
                  <a:srgbClr val="062746"/>
                </a:solidFill>
                <a:latin typeface="Georgia" pitchFamily="34" charset="0"/>
                <a:ea typeface="Georgia" pitchFamily="34" charset="-122"/>
                <a:cs typeface="Georgia" pitchFamily="34" charset="-120"/>
              </a:rPr>
              <a:t>12 – 14 Oct</a:t>
            </a:r>
            <a:endParaRPr lang="en-US" sz="1500" dirty="0"/>
          </a:p>
        </p:txBody>
      </p:sp>
      <p:sp>
        <p:nvSpPr>
          <p:cNvPr id="10" name="Text 8"/>
          <p:cNvSpPr txBox="1"/>
          <p:nvPr/>
        </p:nvSpPr>
        <p:spPr>
          <a:xfrm>
            <a:off x="3431972" y="3703320"/>
            <a:ext cx="2554148" cy="2194560"/>
          </a:xfrm>
          <a:prstGeom prst="rect">
            <a:avLst/>
          </a:prstGeom>
          <a:noFill/>
          <a:ln/>
        </p:spPr>
        <p:txBody>
          <a:bodyPr wrap="square" lIns="0" tIns="0" rIns="0" bIns="0" rtlCol="0" anchor="t"/>
          <a:lstStyle/>
          <a:p>
            <a:pPr marL="0" indent="0" algn="ctr">
              <a:buNone/>
            </a:pPr>
            <a:r>
              <a:rPr lang="en-US" sz="1300" dirty="0">
                <a:solidFill>
                  <a:srgbClr val="1C191A"/>
                </a:solidFill>
                <a:latin typeface="Calibri" pitchFamily="34" charset="0"/>
                <a:ea typeface="Calibri" pitchFamily="34" charset="-122"/>
                <a:cs typeface="Calibri" pitchFamily="34" charset="-120"/>
              </a:rPr>
              <a:t>Follow-up tests from two outside reviews</a:t>
            </a:r>
            <a:endParaRPr lang="en-US" sz="1300" dirty="0"/>
          </a:p>
        </p:txBody>
      </p:sp>
      <p:sp>
        <p:nvSpPr>
          <p:cNvPr id="11" name="Shape 9"/>
          <p:cNvSpPr/>
          <p:nvPr/>
        </p:nvSpPr>
        <p:spPr>
          <a:xfrm>
            <a:off x="7327202" y="2862072"/>
            <a:ext cx="310896" cy="310896"/>
          </a:xfrm>
          <a:prstGeom prst="ellipse">
            <a:avLst/>
          </a:prstGeom>
          <a:solidFill>
            <a:srgbClr val="FFFFFF"/>
          </a:solidFill>
          <a:ln w="19050">
            <a:solidFill>
              <a:srgbClr val="062746"/>
            </a:solidFill>
            <a:prstDash val="solid"/>
          </a:ln>
        </p:spPr>
        <p:txBody>
          <a:bodyPr/>
          <a:lstStyle/>
          <a:p>
            <a:endParaRPr lang="en-GB"/>
          </a:p>
        </p:txBody>
      </p:sp>
      <p:sp>
        <p:nvSpPr>
          <p:cNvPr id="12" name="Text 10"/>
          <p:cNvSpPr txBox="1"/>
          <p:nvPr/>
        </p:nvSpPr>
        <p:spPr>
          <a:xfrm>
            <a:off x="6187288" y="3310128"/>
            <a:ext cx="2590724" cy="365760"/>
          </a:xfrm>
          <a:prstGeom prst="rect">
            <a:avLst/>
          </a:prstGeom>
          <a:noFill/>
          <a:ln/>
        </p:spPr>
        <p:txBody>
          <a:bodyPr wrap="square" lIns="0" tIns="0" rIns="0" bIns="0" rtlCol="0" anchor="ctr"/>
          <a:lstStyle/>
          <a:p>
            <a:pPr marL="0" indent="0" algn="ctr">
              <a:buNone/>
            </a:pPr>
            <a:r>
              <a:rPr lang="en-US" sz="1500" b="1" dirty="0">
                <a:solidFill>
                  <a:srgbClr val="062746"/>
                </a:solidFill>
                <a:latin typeface="Georgia" pitchFamily="34" charset="0"/>
                <a:ea typeface="Georgia" pitchFamily="34" charset="-122"/>
                <a:cs typeface="Georgia" pitchFamily="34" charset="-120"/>
              </a:rPr>
              <a:t>20 Nov</a:t>
            </a:r>
            <a:endParaRPr lang="en-US" sz="1500" dirty="0"/>
          </a:p>
        </p:txBody>
      </p:sp>
      <p:sp>
        <p:nvSpPr>
          <p:cNvPr id="13" name="Text 11"/>
          <p:cNvSpPr txBox="1"/>
          <p:nvPr/>
        </p:nvSpPr>
        <p:spPr>
          <a:xfrm>
            <a:off x="6205576" y="3703320"/>
            <a:ext cx="2554148" cy="2194560"/>
          </a:xfrm>
          <a:prstGeom prst="rect">
            <a:avLst/>
          </a:prstGeom>
          <a:noFill/>
          <a:ln/>
        </p:spPr>
        <p:txBody>
          <a:bodyPr wrap="square" lIns="0" tIns="0" rIns="0" bIns="0" rtlCol="0" anchor="t"/>
          <a:lstStyle/>
          <a:p>
            <a:pPr marL="0" indent="0" algn="ctr">
              <a:buNone/>
            </a:pPr>
            <a:r>
              <a:rPr lang="en-US" sz="1300" dirty="0">
                <a:solidFill>
                  <a:srgbClr val="1C191A"/>
                </a:solidFill>
                <a:latin typeface="Calibri" pitchFamily="34" charset="0"/>
                <a:ea typeface="Calibri" pitchFamily="34" charset="-122"/>
                <a:cs typeface="Calibri" pitchFamily="34" charset="-120"/>
              </a:rPr>
              <a:t>AAAI-27 workshop and arXiv</a:t>
            </a:r>
            <a:endParaRPr lang="en-US" sz="1300" dirty="0"/>
          </a:p>
        </p:txBody>
      </p:sp>
      <p:sp>
        <p:nvSpPr>
          <p:cNvPr id="14" name="Shape 12"/>
          <p:cNvSpPr/>
          <p:nvPr/>
        </p:nvSpPr>
        <p:spPr>
          <a:xfrm>
            <a:off x="10100805" y="2862072"/>
            <a:ext cx="310896" cy="310896"/>
          </a:xfrm>
          <a:prstGeom prst="ellipse">
            <a:avLst/>
          </a:prstGeom>
          <a:solidFill>
            <a:srgbClr val="FFFFFF"/>
          </a:solidFill>
          <a:ln w="19050">
            <a:solidFill>
              <a:srgbClr val="062746"/>
            </a:solidFill>
            <a:prstDash val="solid"/>
          </a:ln>
        </p:spPr>
        <p:txBody>
          <a:bodyPr/>
          <a:lstStyle/>
          <a:p>
            <a:endParaRPr lang="en-GB"/>
          </a:p>
        </p:txBody>
      </p:sp>
      <p:sp>
        <p:nvSpPr>
          <p:cNvPr id="15" name="Text 13"/>
          <p:cNvSpPr txBox="1"/>
          <p:nvPr/>
        </p:nvSpPr>
        <p:spPr>
          <a:xfrm>
            <a:off x="8960891" y="3310128"/>
            <a:ext cx="2590724" cy="365760"/>
          </a:xfrm>
          <a:prstGeom prst="rect">
            <a:avLst/>
          </a:prstGeom>
          <a:noFill/>
          <a:ln/>
        </p:spPr>
        <p:txBody>
          <a:bodyPr wrap="square" lIns="0" tIns="0" rIns="0" bIns="0" rtlCol="0" anchor="ctr"/>
          <a:lstStyle/>
          <a:p>
            <a:pPr marL="0" indent="0" algn="ctr">
              <a:buNone/>
            </a:pPr>
            <a:r>
              <a:rPr lang="en-US" sz="1500" b="1" dirty="0">
                <a:solidFill>
                  <a:srgbClr val="062746"/>
                </a:solidFill>
                <a:latin typeface="Georgia" pitchFamily="34" charset="0"/>
                <a:ea typeface="Georgia" pitchFamily="34" charset="-122"/>
                <a:cs typeface="Georgia" pitchFamily="34" charset="-120"/>
              </a:rPr>
              <a:t>Jan 2027</a:t>
            </a:r>
            <a:endParaRPr lang="en-US" sz="1500" dirty="0"/>
          </a:p>
        </p:txBody>
      </p:sp>
      <p:sp>
        <p:nvSpPr>
          <p:cNvPr id="16" name="Text 14"/>
          <p:cNvSpPr txBox="1"/>
          <p:nvPr/>
        </p:nvSpPr>
        <p:spPr>
          <a:xfrm>
            <a:off x="8979179" y="3703320"/>
            <a:ext cx="2554148" cy="2194560"/>
          </a:xfrm>
          <a:prstGeom prst="rect">
            <a:avLst/>
          </a:prstGeom>
          <a:noFill/>
          <a:ln/>
        </p:spPr>
        <p:txBody>
          <a:bodyPr wrap="square" lIns="0" tIns="0" rIns="0" bIns="0" rtlCol="0" anchor="t"/>
          <a:lstStyle/>
          <a:p>
            <a:pPr marL="0" indent="0" algn="ctr">
              <a:buNone/>
            </a:pPr>
            <a:r>
              <a:rPr lang="en-US" sz="1300" dirty="0">
                <a:solidFill>
                  <a:srgbClr val="1C191A"/>
                </a:solidFill>
                <a:latin typeface="Calibri" pitchFamily="34" charset="0"/>
                <a:ea typeface="Calibri" pitchFamily="34" charset="-122"/>
                <a:cs typeface="Calibri" pitchFamily="34" charset="-120"/>
              </a:rPr>
              <a:t>Main conference (IJCAI or ICML)</a:t>
            </a:r>
            <a:endParaRPr lang="en-US" sz="1300" dirty="0"/>
          </a:p>
        </p:txBody>
      </p:sp>
      <p:sp>
        <p:nvSpPr>
          <p:cNvPr id="17" name="Text 15"/>
          <p:cNvSpPr txBox="1"/>
          <p:nvPr/>
        </p:nvSpPr>
        <p:spPr>
          <a:xfrm>
            <a:off x="548640" y="5852160"/>
            <a:ext cx="11094415" cy="457200"/>
          </a:xfrm>
          <a:prstGeom prst="rect">
            <a:avLst/>
          </a:prstGeom>
          <a:noFill/>
          <a:ln/>
        </p:spPr>
        <p:txBody>
          <a:bodyPr wrap="square" lIns="0" tIns="0" rIns="0" bIns="0" rtlCol="0" anchor="ctr"/>
          <a:lstStyle/>
          <a:p>
            <a:pPr marL="0" indent="0" algn="ctr">
              <a:buNone/>
            </a:pPr>
            <a:r>
              <a:rPr lang="en-US" sz="1200" i="1" dirty="0">
                <a:solidFill>
                  <a:srgbClr val="55524E"/>
                </a:solidFill>
                <a:latin typeface="Calibri" pitchFamily="34" charset="0"/>
                <a:ea typeface="Calibri" pitchFamily="34" charset="-122"/>
                <a:cs typeface="Calibri" pitchFamily="34" charset="-120"/>
              </a:rPr>
              <a:t>Every study was pre-registered locally before its code; failed predictions are reported.</a:t>
            </a:r>
            <a:endParaRPr lang="en-US" sz="1200" dirty="0"/>
          </a:p>
        </p:txBody>
      </p:sp>
      <p:sp>
        <p:nvSpPr>
          <p:cNvPr id="18" name="Text 16"/>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613855" y="365760"/>
            <a:ext cx="5029200" cy="1188720"/>
          </a:xfrm>
          <a:prstGeom prst="rect">
            <a:avLst/>
          </a:prstGeom>
          <a:noFill/>
          <a:ln/>
        </p:spPr>
        <p:txBody>
          <a:bodyPr wrap="square" lIns="0" tIns="0" rIns="0" bIns="0" rtlCol="0" anchor="b"/>
          <a:lstStyle/>
          <a:p>
            <a:pPr marL="0" indent="0" algn="r">
              <a:lnSpc>
                <a:spcPct val="95000"/>
              </a:lnSpc>
              <a:buNone/>
            </a:pPr>
            <a:r>
              <a:rPr lang="en-US" sz="3600" b="1" dirty="0">
                <a:solidFill>
                  <a:srgbClr val="062746"/>
                </a:solidFill>
                <a:latin typeface="Georgia" pitchFamily="34" charset="0"/>
                <a:ea typeface="Georgia" pitchFamily="34" charset="-122"/>
                <a:cs typeface="Georgia" pitchFamily="34" charset="-120"/>
              </a:rPr>
              <a:t>Questions for You</a:t>
            </a:r>
            <a:endParaRPr lang="en-US" sz="3600" dirty="0"/>
          </a:p>
        </p:txBody>
      </p:sp>
      <p:sp>
        <p:nvSpPr>
          <p:cNvPr id="3" name="Shape 1"/>
          <p:cNvSpPr/>
          <p:nvPr/>
        </p:nvSpPr>
        <p:spPr>
          <a:xfrm>
            <a:off x="8351215" y="1682496"/>
            <a:ext cx="3291840" cy="91440"/>
          </a:xfrm>
          <a:prstGeom prst="rect">
            <a:avLst/>
          </a:prstGeom>
          <a:solidFill>
            <a:srgbClr val="131B28"/>
          </a:solidFill>
          <a:ln w="12700">
            <a:solidFill>
              <a:srgbClr val="131B28"/>
            </a:solidFill>
            <a:prstDash val="solid"/>
          </a:ln>
        </p:spPr>
        <p:txBody>
          <a:bodyPr/>
          <a:lstStyle/>
          <a:p>
            <a:endParaRPr lang="en-GB"/>
          </a:p>
        </p:txBody>
      </p:sp>
      <p:sp>
        <p:nvSpPr>
          <p:cNvPr id="4" name="Text 2"/>
          <p:cNvSpPr txBox="1"/>
          <p:nvPr/>
        </p:nvSpPr>
        <p:spPr>
          <a:xfrm>
            <a:off x="548640" y="2148840"/>
            <a:ext cx="731520" cy="457200"/>
          </a:xfrm>
          <a:prstGeom prst="rect">
            <a:avLst/>
          </a:prstGeom>
          <a:noFill/>
          <a:ln/>
        </p:spPr>
        <p:txBody>
          <a:bodyPr wrap="square" lIns="0" tIns="0" rIns="0" bIns="0" rtlCol="0" anchor="t"/>
          <a:lstStyle/>
          <a:p>
            <a:pPr marL="0" indent="0">
              <a:buNone/>
            </a:pPr>
            <a:r>
              <a:rPr lang="en-US" sz="2600" dirty="0">
                <a:solidFill>
                  <a:srgbClr val="8F8F8F"/>
                </a:solidFill>
                <a:latin typeface="Calibri Light" pitchFamily="34" charset="0"/>
                <a:ea typeface="Calibri Light" pitchFamily="34" charset="-122"/>
                <a:cs typeface="Calibri Light" pitchFamily="34" charset="-120"/>
              </a:rPr>
              <a:t>01</a:t>
            </a:r>
            <a:endParaRPr lang="en-US" sz="2600" dirty="0"/>
          </a:p>
        </p:txBody>
      </p:sp>
      <p:sp>
        <p:nvSpPr>
          <p:cNvPr id="5" name="Text 3"/>
          <p:cNvSpPr txBox="1"/>
          <p:nvPr/>
        </p:nvSpPr>
        <p:spPr>
          <a:xfrm>
            <a:off x="1417320" y="2167128"/>
            <a:ext cx="10180015" cy="914400"/>
          </a:xfrm>
          <a:prstGeom prst="rect">
            <a:avLst/>
          </a:prstGeom>
          <a:noFill/>
          <a:ln/>
        </p:spPr>
        <p:txBody>
          <a:bodyPr wrap="square" lIns="0" tIns="0" rIns="0" bIns="0" rtlCol="0" anchor="t"/>
          <a:lstStyle/>
          <a:p>
            <a:pPr marL="0" indent="0">
              <a:buNone/>
            </a:pPr>
            <a:r>
              <a:rPr lang="en-US" sz="1800" dirty="0">
                <a:solidFill>
                  <a:srgbClr val="1C191A"/>
                </a:solidFill>
                <a:latin typeface="Georgia" pitchFamily="34" charset="0"/>
                <a:ea typeface="Georgia" pitchFamily="34" charset="-122"/>
                <a:cs typeface="Georgia" pitchFamily="34" charset="-120"/>
              </a:rPr>
              <a:t>Is over-taking an allowance a fair stand-in for AI misbehaviour?</a:t>
            </a:r>
            <a:endParaRPr lang="en-US" sz="1800" dirty="0"/>
          </a:p>
        </p:txBody>
      </p:sp>
      <p:sp>
        <p:nvSpPr>
          <p:cNvPr id="6" name="Text 4"/>
          <p:cNvSpPr txBox="1"/>
          <p:nvPr/>
        </p:nvSpPr>
        <p:spPr>
          <a:xfrm>
            <a:off x="548640" y="3200400"/>
            <a:ext cx="731520" cy="457200"/>
          </a:xfrm>
          <a:prstGeom prst="rect">
            <a:avLst/>
          </a:prstGeom>
          <a:noFill/>
          <a:ln/>
        </p:spPr>
        <p:txBody>
          <a:bodyPr wrap="square" lIns="0" tIns="0" rIns="0" bIns="0" rtlCol="0" anchor="t"/>
          <a:lstStyle/>
          <a:p>
            <a:pPr marL="0" indent="0">
              <a:buNone/>
            </a:pPr>
            <a:r>
              <a:rPr lang="en-US" sz="2600" dirty="0">
                <a:solidFill>
                  <a:srgbClr val="8F8F8F"/>
                </a:solidFill>
                <a:latin typeface="Calibri Light" pitchFamily="34" charset="0"/>
                <a:ea typeface="Calibri Light" pitchFamily="34" charset="-122"/>
                <a:cs typeface="Calibri Light" pitchFamily="34" charset="-120"/>
              </a:rPr>
              <a:t>02</a:t>
            </a:r>
            <a:endParaRPr lang="en-US" sz="2600" dirty="0"/>
          </a:p>
        </p:txBody>
      </p:sp>
      <p:sp>
        <p:nvSpPr>
          <p:cNvPr id="7" name="Text 5"/>
          <p:cNvSpPr txBox="1"/>
          <p:nvPr/>
        </p:nvSpPr>
        <p:spPr>
          <a:xfrm>
            <a:off x="1417320" y="3218688"/>
            <a:ext cx="10180015" cy="914400"/>
          </a:xfrm>
          <a:prstGeom prst="rect">
            <a:avLst/>
          </a:prstGeom>
          <a:noFill/>
          <a:ln/>
        </p:spPr>
        <p:txBody>
          <a:bodyPr wrap="square" lIns="0" tIns="0" rIns="0" bIns="0" rtlCol="0" anchor="t"/>
          <a:lstStyle/>
          <a:p>
            <a:pPr marL="0" indent="0">
              <a:buNone/>
            </a:pPr>
            <a:r>
              <a:rPr lang="en-US" sz="1800" dirty="0">
                <a:solidFill>
                  <a:srgbClr val="1C191A"/>
                </a:solidFill>
                <a:latin typeface="Georgia" pitchFamily="34" charset="0"/>
                <a:ea typeface="Georgia" pitchFamily="34" charset="-122"/>
                <a:cs typeface="Georgia" pitchFamily="34" charset="-120"/>
              </a:rPr>
              <a:t>If a fine works under one wording of the rules, would you trust it under another?</a:t>
            </a:r>
            <a:endParaRPr lang="en-US" sz="1800" dirty="0"/>
          </a:p>
        </p:txBody>
      </p:sp>
      <p:sp>
        <p:nvSpPr>
          <p:cNvPr id="8" name="Text 6"/>
          <p:cNvSpPr txBox="1"/>
          <p:nvPr/>
        </p:nvSpPr>
        <p:spPr>
          <a:xfrm>
            <a:off x="548640" y="4251960"/>
            <a:ext cx="731520" cy="457200"/>
          </a:xfrm>
          <a:prstGeom prst="rect">
            <a:avLst/>
          </a:prstGeom>
          <a:noFill/>
          <a:ln/>
        </p:spPr>
        <p:txBody>
          <a:bodyPr wrap="square" lIns="0" tIns="0" rIns="0" bIns="0" rtlCol="0" anchor="t"/>
          <a:lstStyle/>
          <a:p>
            <a:pPr marL="0" indent="0">
              <a:buNone/>
            </a:pPr>
            <a:r>
              <a:rPr lang="en-US" sz="2600" dirty="0">
                <a:solidFill>
                  <a:srgbClr val="8F8F8F"/>
                </a:solidFill>
                <a:latin typeface="Calibri Light" pitchFamily="34" charset="0"/>
                <a:ea typeface="Calibri Light" pitchFamily="34" charset="-122"/>
                <a:cs typeface="Calibri Light" pitchFamily="34" charset="-120"/>
              </a:rPr>
              <a:t>03</a:t>
            </a:r>
            <a:endParaRPr lang="en-US" sz="2600" dirty="0"/>
          </a:p>
        </p:txBody>
      </p:sp>
      <p:sp>
        <p:nvSpPr>
          <p:cNvPr id="9" name="Text 7"/>
          <p:cNvSpPr txBox="1"/>
          <p:nvPr/>
        </p:nvSpPr>
        <p:spPr>
          <a:xfrm>
            <a:off x="1417320" y="4270248"/>
            <a:ext cx="10180015" cy="914400"/>
          </a:xfrm>
          <a:prstGeom prst="rect">
            <a:avLst/>
          </a:prstGeom>
          <a:noFill/>
          <a:ln/>
        </p:spPr>
        <p:txBody>
          <a:bodyPr wrap="square" lIns="0" tIns="0" rIns="0" bIns="0" rtlCol="0" anchor="t"/>
          <a:lstStyle/>
          <a:p>
            <a:pPr marL="0" indent="0">
              <a:buNone/>
            </a:pPr>
            <a:r>
              <a:rPr lang="en-US" sz="1800" dirty="0">
                <a:solidFill>
                  <a:srgbClr val="1C191A"/>
                </a:solidFill>
                <a:latin typeface="Georgia" pitchFamily="34" charset="0"/>
                <a:ea typeface="Georgia" pitchFamily="34" charset="-122"/>
                <a:cs typeface="Georgia" pitchFamily="34" charset="-120"/>
              </a:rPr>
              <a:t>Which would convince you more: more models, or more settings?</a:t>
            </a:r>
            <a:endParaRPr lang="en-US" sz="1800" dirty="0"/>
          </a:p>
        </p:txBody>
      </p:sp>
      <p:sp>
        <p:nvSpPr>
          <p:cNvPr id="10" name="Text 8"/>
          <p:cNvSpPr txBox="1"/>
          <p:nvPr/>
        </p:nvSpPr>
        <p:spPr>
          <a:xfrm>
            <a:off x="548640" y="5303520"/>
            <a:ext cx="731520" cy="457200"/>
          </a:xfrm>
          <a:prstGeom prst="rect">
            <a:avLst/>
          </a:prstGeom>
          <a:noFill/>
          <a:ln/>
        </p:spPr>
        <p:txBody>
          <a:bodyPr wrap="square" lIns="0" tIns="0" rIns="0" bIns="0" rtlCol="0" anchor="t"/>
          <a:lstStyle/>
          <a:p>
            <a:pPr marL="0" indent="0">
              <a:buNone/>
            </a:pPr>
            <a:r>
              <a:rPr lang="en-US" sz="2600" dirty="0">
                <a:solidFill>
                  <a:srgbClr val="8F8F8F"/>
                </a:solidFill>
                <a:latin typeface="Calibri Light" pitchFamily="34" charset="0"/>
                <a:ea typeface="Calibri Light" pitchFamily="34" charset="-122"/>
                <a:cs typeface="Calibri Light" pitchFamily="34" charset="-120"/>
              </a:rPr>
              <a:t>04</a:t>
            </a:r>
            <a:endParaRPr lang="en-US" sz="2600" dirty="0"/>
          </a:p>
        </p:txBody>
      </p:sp>
      <p:sp>
        <p:nvSpPr>
          <p:cNvPr id="11" name="Text 9"/>
          <p:cNvSpPr txBox="1"/>
          <p:nvPr/>
        </p:nvSpPr>
        <p:spPr>
          <a:xfrm>
            <a:off x="1417320" y="5321808"/>
            <a:ext cx="10180015" cy="914400"/>
          </a:xfrm>
          <a:prstGeom prst="rect">
            <a:avLst/>
          </a:prstGeom>
          <a:noFill/>
          <a:ln/>
        </p:spPr>
        <p:txBody>
          <a:bodyPr wrap="square" lIns="0" tIns="0" rIns="0" bIns="0" rtlCol="0" anchor="t"/>
          <a:lstStyle/>
          <a:p>
            <a:pPr marL="0" indent="0">
              <a:buNone/>
            </a:pPr>
            <a:r>
              <a:rPr lang="en-US" sz="1800" dirty="0">
                <a:solidFill>
                  <a:srgbClr val="1C191A"/>
                </a:solidFill>
                <a:latin typeface="Georgia" pitchFamily="34" charset="0"/>
                <a:ea typeface="Georgia" pitchFamily="34" charset="-122"/>
                <a:cs typeface="Georgia" pitchFamily="34" charset="-120"/>
              </a:rPr>
              <a:t>Where in your work does someone audit only a sample, and what follows a catch?</a:t>
            </a:r>
            <a:endParaRPr lang="en-US" sz="1800" dirty="0"/>
          </a:p>
        </p:txBody>
      </p:sp>
      <p:sp>
        <p:nvSpPr>
          <p:cNvPr id="12" name="Text 10"/>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1C191A"/>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9343A"/>
        </a:solidFill>
        <a:effectLst/>
      </p:bgPr>
    </p:bg>
    <p:spTree>
      <p:nvGrpSpPr>
        <p:cNvPr id="1" name=""/>
        <p:cNvGrpSpPr/>
        <p:nvPr/>
      </p:nvGrpSpPr>
      <p:grpSpPr>
        <a:xfrm>
          <a:off x="0" y="0"/>
          <a:ext cx="0" cy="0"/>
          <a:chOff x="0" y="0"/>
          <a:chExt cx="0" cy="0"/>
        </a:xfrm>
      </p:grpSpPr>
      <p:sp>
        <p:nvSpPr>
          <p:cNvPr id="2" name="Text 0"/>
          <p:cNvSpPr txBox="1"/>
          <p:nvPr/>
        </p:nvSpPr>
        <p:spPr>
          <a:xfrm>
            <a:off x="1828800" y="1828800"/>
            <a:ext cx="8534095" cy="2194560"/>
          </a:xfrm>
          <a:prstGeom prst="rect">
            <a:avLst/>
          </a:prstGeom>
          <a:noFill/>
          <a:ln/>
        </p:spPr>
        <p:txBody>
          <a:bodyPr wrap="square" lIns="0" tIns="0" rIns="0" bIns="0" rtlCol="0" anchor="b"/>
          <a:lstStyle/>
          <a:p>
            <a:pPr marL="0" indent="0" algn="ctr">
              <a:lnSpc>
                <a:spcPct val="90000"/>
              </a:lnSpc>
              <a:buNone/>
            </a:pPr>
            <a:r>
              <a:rPr lang="en-US" sz="7200" dirty="0">
                <a:solidFill>
                  <a:srgbClr val="F0F0F0"/>
                </a:solidFill>
                <a:latin typeface="Calibri" pitchFamily="34" charset="0"/>
                <a:ea typeface="Calibri" pitchFamily="34" charset="-122"/>
                <a:cs typeface="Calibri" pitchFamily="34" charset="-120"/>
              </a:rPr>
              <a:t>Thank You</a:t>
            </a:r>
            <a:endParaRPr lang="en-US" sz="7200" dirty="0"/>
          </a:p>
        </p:txBody>
      </p:sp>
      <p:sp>
        <p:nvSpPr>
          <p:cNvPr id="3" name="Shape 1"/>
          <p:cNvSpPr/>
          <p:nvPr/>
        </p:nvSpPr>
        <p:spPr>
          <a:xfrm>
            <a:off x="4312768" y="4297680"/>
            <a:ext cx="3566160" cy="118872"/>
          </a:xfrm>
          <a:prstGeom prst="rect">
            <a:avLst/>
          </a:prstGeom>
          <a:solidFill>
            <a:srgbClr val="B09E88"/>
          </a:solidFill>
          <a:ln w="12700">
            <a:solidFill>
              <a:srgbClr val="B09E88"/>
            </a:solidFill>
            <a:prstDash val="solid"/>
          </a:ln>
        </p:spPr>
        <p:txBody>
          <a:bodyPr/>
          <a:lstStyle/>
          <a:p>
            <a:endParaRPr lang="en-GB"/>
          </a:p>
        </p:txBody>
      </p:sp>
      <p:sp>
        <p:nvSpPr>
          <p:cNvPr id="4" name="Text 2"/>
          <p:cNvSpPr txBox="1"/>
          <p:nvPr/>
        </p:nvSpPr>
        <p:spPr>
          <a:xfrm rot="5400000">
            <a:off x="9631375" y="2971800"/>
            <a:ext cx="3200400" cy="457200"/>
          </a:xfrm>
          <a:prstGeom prst="rect">
            <a:avLst/>
          </a:prstGeom>
          <a:noFill/>
          <a:ln/>
        </p:spPr>
        <p:txBody>
          <a:bodyPr wrap="square" lIns="0" tIns="0" rIns="0" bIns="0" rtlCol="0" anchor="ctr"/>
          <a:lstStyle/>
          <a:p>
            <a:pPr marL="0" indent="0" algn="ctr">
              <a:buNone/>
            </a:pPr>
            <a:r>
              <a:rPr lang="en-US" sz="1400" dirty="0">
                <a:solidFill>
                  <a:srgbClr val="F0F0F0"/>
                </a:solidFill>
                <a:latin typeface="Calibri" pitchFamily="34" charset="0"/>
                <a:ea typeface="Calibri" pitchFamily="34" charset="-122"/>
                <a:cs typeface="Calibri" pitchFamily="34" charset="-120"/>
              </a:rPr>
              <a:t>13 October 2026</a:t>
            </a:r>
            <a:endParaRPr lang="en-US" sz="1400" dirty="0"/>
          </a:p>
        </p:txBody>
      </p:sp>
      <p:sp>
        <p:nvSpPr>
          <p:cNvPr id="5" name="Text 3"/>
          <p:cNvSpPr txBox="1"/>
          <p:nvPr/>
        </p:nvSpPr>
        <p:spPr>
          <a:xfrm>
            <a:off x="548640" y="5760720"/>
            <a:ext cx="4572000" cy="548640"/>
          </a:xfrm>
          <a:prstGeom prst="rect">
            <a:avLst/>
          </a:prstGeom>
          <a:noFill/>
          <a:ln/>
        </p:spPr>
        <p:txBody>
          <a:bodyPr wrap="square" lIns="0" tIns="0" rIns="0" bIns="0" rtlCol="0" anchor="b"/>
          <a:lstStyle/>
          <a:p>
            <a:pPr marL="0" indent="0">
              <a:buNone/>
            </a:pPr>
            <a:r>
              <a:rPr lang="en-US" sz="1100" dirty="0">
                <a:solidFill>
                  <a:srgbClr val="F0F0F0"/>
                </a:solidFill>
                <a:latin typeface="Calibri" pitchFamily="34" charset="0"/>
                <a:ea typeface="Calibri" pitchFamily="34" charset="-122"/>
                <a:cs typeface="Calibri" pitchFamily="34" charset="-120"/>
              </a:rPr>
              <a:t>Ameer Alhashemi</a:t>
            </a:r>
            <a:endParaRPr lang="en-US" sz="1100" dirty="0"/>
          </a:p>
          <a:p>
            <a:pPr marL="0" indent="0">
              <a:buNone/>
            </a:pPr>
            <a:r>
              <a:rPr lang="en-US" sz="1100" dirty="0">
                <a:solidFill>
                  <a:srgbClr val="F0F0F0"/>
                </a:solidFill>
                <a:latin typeface="Calibri" pitchFamily="34" charset="0"/>
                <a:ea typeface="Calibri" pitchFamily="34" charset="-122"/>
                <a:cs typeface="Calibri" pitchFamily="34" charset="-120"/>
              </a:rPr>
              <a:t>k26108758@kcl.ac.uk</a:t>
            </a:r>
            <a:endParaRPr lang="en-US" sz="1100" dirty="0"/>
          </a:p>
        </p:txBody>
      </p:sp>
      <p:sp>
        <p:nvSpPr>
          <p:cNvPr id="6" name="Text 4"/>
          <p:cNvSpPr txBox="1"/>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F0F0F0"/>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TotalTime>
  <Words>2282</Words>
  <Application>Microsoft Macintosh PowerPoint</Application>
  <PresentationFormat>Widescreen</PresentationFormat>
  <Paragraphs>185</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Calibri Light</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Penalties Sized to the Gain: PhD catch-up</dc:title>
  <dc:subject>PptxGenJS Presentation</dc:subject>
  <dc:creator>Ameer Alhashemi</dc:creator>
  <cp:lastModifiedBy>Ameer Alhashemi</cp:lastModifiedBy>
  <cp:revision>2</cp:revision>
  <dcterms:created xsi:type="dcterms:W3CDTF">2026-10-12T22:35:32Z</dcterms:created>
  <dcterms:modified xsi:type="dcterms:W3CDTF">2026-10-12T23:10:33Z</dcterms:modified>
</cp:coreProperties>
</file>